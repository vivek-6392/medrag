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4"/>
    <p:sldMasterId id="214748366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8229600" cx="14630400"/>
  <p:notesSz cx="8229600" cy="14630400"/>
  <p:embeddedFontLst>
    <p:embeddedFont>
      <p:font typeface="Inter Light"/>
      <p:regular r:id="rId19"/>
      <p:bold r:id="rId20"/>
      <p:italic r:id="rId21"/>
      <p:boldItalic r:id="rId22"/>
    </p:embeddedFont>
    <p:embeddedFont>
      <p:font typeface="Montserrat"/>
      <p:regular r:id="rId23"/>
      <p:bold r:id="rId24"/>
      <p:italic r:id="rId25"/>
      <p:boldItalic r:id="rId26"/>
    </p:embeddedFont>
    <p:embeddedFont>
      <p:font typeface="Inter"/>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8849397-2BFA-4254-B740-3033BBAF3286}">
  <a:tblStyle styleId="{88849397-2BFA-4254-B740-3033BBAF328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InterLight-bold.fntdata"/><Relationship Id="rId22" Type="http://schemas.openxmlformats.org/officeDocument/2006/relationships/font" Target="fonts/InterLight-boldItalic.fntdata"/><Relationship Id="rId21" Type="http://schemas.openxmlformats.org/officeDocument/2006/relationships/font" Target="fonts/InterLight-italic.fntdata"/><Relationship Id="rId24" Type="http://schemas.openxmlformats.org/officeDocument/2006/relationships/font" Target="fonts/Montserrat-bold.fntdata"/><Relationship Id="rId23" Type="http://schemas.openxmlformats.org/officeDocument/2006/relationships/font" Target="fonts/Montserrat-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Montserrat-boldItalic.fntdata"/><Relationship Id="rId25" Type="http://schemas.openxmlformats.org/officeDocument/2006/relationships/font" Target="fonts/Montserrat-italic.fntdata"/><Relationship Id="rId28" Type="http://schemas.openxmlformats.org/officeDocument/2006/relationships/font" Target="fonts/Inter-bold.fntdata"/><Relationship Id="rId27" Type="http://schemas.openxmlformats.org/officeDocument/2006/relationships/font" Target="fonts/Inter-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Inter-italic.fntdata"/><Relationship Id="rId7" Type="http://schemas.openxmlformats.org/officeDocument/2006/relationships/slide" Target="slides/slide1.xml"/><Relationship Id="rId8" Type="http://schemas.openxmlformats.org/officeDocument/2006/relationships/slide" Target="slides/slide2.xml"/><Relationship Id="rId30" Type="http://schemas.openxmlformats.org/officeDocument/2006/relationships/font" Target="fonts/Inter-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InterLight-regular.fntdata"/><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565525" cy="7334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660900" y="0"/>
            <a:ext cx="3567113" cy="733425"/>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73050" y="1828800"/>
            <a:ext cx="8775700" cy="49371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822325" y="7040563"/>
            <a:ext cx="6584950" cy="576103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13896975"/>
            <a:ext cx="3565525" cy="73342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660900" y="13896975"/>
            <a:ext cx="3567113" cy="73342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1:notes"/>
          <p:cNvSpPr txBox="1"/>
          <p:nvPr>
            <p:ph idx="1" type="body"/>
          </p:nvPr>
        </p:nvSpPr>
        <p:spPr>
          <a:xfrm>
            <a:off x="822325" y="7040563"/>
            <a:ext cx="6584950" cy="57610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 name="Google Shape;75;p1:notes"/>
          <p:cNvSpPr/>
          <p:nvPr>
            <p:ph idx="2" type="sldImg"/>
          </p:nvPr>
        </p:nvSpPr>
        <p:spPr>
          <a:xfrm>
            <a:off x="-273050" y="1828800"/>
            <a:ext cx="8775700" cy="49371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2:notes"/>
          <p:cNvSpPr txBox="1"/>
          <p:nvPr>
            <p:ph idx="1" type="body"/>
          </p:nvPr>
        </p:nvSpPr>
        <p:spPr>
          <a:xfrm>
            <a:off x="822325" y="7040563"/>
            <a:ext cx="6584950" cy="57610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 name="Google Shape;85;p2:notes"/>
          <p:cNvSpPr/>
          <p:nvPr>
            <p:ph idx="2" type="sldImg"/>
          </p:nvPr>
        </p:nvSpPr>
        <p:spPr>
          <a:xfrm>
            <a:off x="-273050" y="1828800"/>
            <a:ext cx="8775700" cy="49371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409db1cad4a_16_11:notes"/>
          <p:cNvSpPr/>
          <p:nvPr>
            <p:ph idx="2" type="sldImg"/>
          </p:nvPr>
        </p:nvSpPr>
        <p:spPr>
          <a:xfrm>
            <a:off x="822960" y="1371600"/>
            <a:ext cx="6583680" cy="370332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g409db1cad4a_16_11:notes"/>
          <p:cNvSpPr txBox="1"/>
          <p:nvPr>
            <p:ph idx="1" type="body"/>
          </p:nvPr>
        </p:nvSpPr>
        <p:spPr>
          <a:xfrm>
            <a:off x="822960" y="5280660"/>
            <a:ext cx="6583680" cy="4320540"/>
          </a:xfrm>
          <a:prstGeom prst="rect">
            <a:avLst/>
          </a:prstGeom>
          <a:noFill/>
          <a:ln>
            <a:noFill/>
          </a:ln>
        </p:spPr>
        <p:txBody>
          <a:bodyPr anchorCtr="0" anchor="t" bIns="54850" lIns="109700" spcFirstLastPara="1" rIns="109700" wrap="square" tIns="54850">
            <a:noAutofit/>
          </a:bodyPr>
          <a:lstStyle/>
          <a:p>
            <a:pPr indent="0" lvl="0" marL="0" rtl="0" algn="l">
              <a:spcBef>
                <a:spcPts val="0"/>
              </a:spcBef>
              <a:spcAft>
                <a:spcPts val="0"/>
              </a:spcAft>
              <a:buNone/>
            </a:pPr>
            <a:r>
              <a:t/>
            </a:r>
            <a:endParaRPr sz="1700"/>
          </a:p>
        </p:txBody>
      </p:sp>
      <p:sp>
        <p:nvSpPr>
          <p:cNvPr id="115" name="Google Shape;115;g409db1cad4a_16_11:notes"/>
          <p:cNvSpPr txBox="1"/>
          <p:nvPr>
            <p:ph idx="12" type="sldNum"/>
          </p:nvPr>
        </p:nvSpPr>
        <p:spPr>
          <a:xfrm>
            <a:off x="4661536" y="10422256"/>
            <a:ext cx="3566160" cy="550544"/>
          </a:xfrm>
          <a:prstGeom prst="rect">
            <a:avLst/>
          </a:prstGeom>
          <a:noFill/>
          <a:ln>
            <a:noFill/>
          </a:ln>
        </p:spPr>
        <p:txBody>
          <a:bodyPr anchorCtr="0" anchor="b" bIns="54850" lIns="109700" spcFirstLastPara="1" rIns="109700" wrap="square" tIns="54850">
            <a:noAutofit/>
          </a:bodyPr>
          <a:lstStyle/>
          <a:p>
            <a:pPr indent="0" lvl="0" marL="0" rtl="0" algn="r">
              <a:spcBef>
                <a:spcPts val="0"/>
              </a:spcBef>
              <a:spcAft>
                <a:spcPts val="0"/>
              </a:spcAft>
              <a:buNone/>
            </a:pPr>
            <a:fld id="{00000000-1234-1234-1234-123412341234}" type="slidenum">
              <a:rPr lang="en-US" sz="1700"/>
              <a:t>‹#›</a:t>
            </a:fld>
            <a:endParaRPr sz="17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409db1cad4a_16_26:notes"/>
          <p:cNvSpPr/>
          <p:nvPr>
            <p:ph idx="2" type="sldImg"/>
          </p:nvPr>
        </p:nvSpPr>
        <p:spPr>
          <a:xfrm>
            <a:off x="822960" y="1371600"/>
            <a:ext cx="6583680" cy="370332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g409db1cad4a_16_26:notes"/>
          <p:cNvSpPr txBox="1"/>
          <p:nvPr>
            <p:ph idx="1" type="body"/>
          </p:nvPr>
        </p:nvSpPr>
        <p:spPr>
          <a:xfrm>
            <a:off x="822960" y="5280660"/>
            <a:ext cx="6583680" cy="4320540"/>
          </a:xfrm>
          <a:prstGeom prst="rect">
            <a:avLst/>
          </a:prstGeom>
          <a:noFill/>
          <a:ln>
            <a:noFill/>
          </a:ln>
        </p:spPr>
        <p:txBody>
          <a:bodyPr anchorCtr="0" anchor="t" bIns="54850" lIns="109700" spcFirstLastPara="1" rIns="109700" wrap="square" tIns="54850">
            <a:noAutofit/>
          </a:bodyPr>
          <a:lstStyle/>
          <a:p>
            <a:pPr indent="0" lvl="0" marL="0" rtl="0" algn="l">
              <a:spcBef>
                <a:spcPts val="0"/>
              </a:spcBef>
              <a:spcAft>
                <a:spcPts val="0"/>
              </a:spcAft>
              <a:buNone/>
            </a:pPr>
            <a:r>
              <a:t/>
            </a:r>
            <a:endParaRPr sz="1700"/>
          </a:p>
        </p:txBody>
      </p:sp>
      <p:sp>
        <p:nvSpPr>
          <p:cNvPr id="133" name="Google Shape;133;g409db1cad4a_16_26:notes"/>
          <p:cNvSpPr txBox="1"/>
          <p:nvPr>
            <p:ph idx="12" type="sldNum"/>
          </p:nvPr>
        </p:nvSpPr>
        <p:spPr>
          <a:xfrm>
            <a:off x="4661536" y="10422256"/>
            <a:ext cx="3566160" cy="550544"/>
          </a:xfrm>
          <a:prstGeom prst="rect">
            <a:avLst/>
          </a:prstGeom>
          <a:noFill/>
          <a:ln>
            <a:noFill/>
          </a:ln>
        </p:spPr>
        <p:txBody>
          <a:bodyPr anchorCtr="0" anchor="b" bIns="54850" lIns="109700" spcFirstLastPara="1" rIns="109700" wrap="square" tIns="54850">
            <a:noAutofit/>
          </a:bodyPr>
          <a:lstStyle/>
          <a:p>
            <a:pPr indent="0" lvl="0" marL="0" rtl="0" algn="r">
              <a:spcBef>
                <a:spcPts val="0"/>
              </a:spcBef>
              <a:spcAft>
                <a:spcPts val="0"/>
              </a:spcAft>
              <a:buNone/>
            </a:pPr>
            <a:fld id="{00000000-1234-1234-1234-123412341234}" type="slidenum">
              <a:rPr lang="en-US" sz="1700"/>
              <a:t>‹#›</a:t>
            </a:fld>
            <a:endParaRPr sz="17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409db1cad4a_16_0:notes"/>
          <p:cNvSpPr/>
          <p:nvPr>
            <p:ph idx="2" type="sldImg"/>
          </p:nvPr>
        </p:nvSpPr>
        <p:spPr>
          <a:xfrm>
            <a:off x="822960" y="1371600"/>
            <a:ext cx="6583680" cy="370332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g409db1cad4a_16_0:notes"/>
          <p:cNvSpPr txBox="1"/>
          <p:nvPr>
            <p:ph idx="1" type="body"/>
          </p:nvPr>
        </p:nvSpPr>
        <p:spPr>
          <a:xfrm>
            <a:off x="822960" y="5280660"/>
            <a:ext cx="6583680" cy="4320540"/>
          </a:xfrm>
          <a:prstGeom prst="rect">
            <a:avLst/>
          </a:prstGeom>
          <a:noFill/>
          <a:ln>
            <a:noFill/>
          </a:ln>
        </p:spPr>
        <p:txBody>
          <a:bodyPr anchorCtr="0" anchor="t" bIns="54850" lIns="109700" spcFirstLastPara="1" rIns="109700" wrap="square" tIns="54850">
            <a:noAutofit/>
          </a:bodyPr>
          <a:lstStyle/>
          <a:p>
            <a:pPr indent="0" lvl="0" marL="0" rtl="0" algn="l">
              <a:spcBef>
                <a:spcPts val="0"/>
              </a:spcBef>
              <a:spcAft>
                <a:spcPts val="0"/>
              </a:spcAft>
              <a:buNone/>
            </a:pPr>
            <a:r>
              <a:t/>
            </a:r>
            <a:endParaRPr sz="1700"/>
          </a:p>
        </p:txBody>
      </p:sp>
      <p:sp>
        <p:nvSpPr>
          <p:cNvPr id="159" name="Google Shape;159;g409db1cad4a_16_0:notes"/>
          <p:cNvSpPr txBox="1"/>
          <p:nvPr>
            <p:ph idx="12" type="sldNum"/>
          </p:nvPr>
        </p:nvSpPr>
        <p:spPr>
          <a:xfrm>
            <a:off x="4661536" y="10422256"/>
            <a:ext cx="3566160" cy="550544"/>
          </a:xfrm>
          <a:prstGeom prst="rect">
            <a:avLst/>
          </a:prstGeom>
          <a:noFill/>
          <a:ln>
            <a:noFill/>
          </a:ln>
        </p:spPr>
        <p:txBody>
          <a:bodyPr anchorCtr="0" anchor="b" bIns="54850" lIns="109700" spcFirstLastPara="1" rIns="109700" wrap="square" tIns="54850">
            <a:noAutofit/>
          </a:bodyPr>
          <a:lstStyle/>
          <a:p>
            <a:pPr indent="0" lvl="0" marL="0" rtl="0" algn="r">
              <a:spcBef>
                <a:spcPts val="0"/>
              </a:spcBef>
              <a:spcAft>
                <a:spcPts val="0"/>
              </a:spcAft>
              <a:buNone/>
            </a:pPr>
            <a:fld id="{00000000-1234-1234-1234-123412341234}" type="slidenum">
              <a:rPr lang="en-US" sz="1700"/>
              <a:t>‹#›</a:t>
            </a:fld>
            <a:endParaRPr sz="17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6:notes"/>
          <p:cNvSpPr txBox="1"/>
          <p:nvPr>
            <p:ph idx="1" type="body"/>
          </p:nvPr>
        </p:nvSpPr>
        <p:spPr>
          <a:xfrm>
            <a:off x="822325" y="7040563"/>
            <a:ext cx="6584950" cy="57610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6:notes"/>
          <p:cNvSpPr/>
          <p:nvPr>
            <p:ph idx="2" type="sldImg"/>
          </p:nvPr>
        </p:nvSpPr>
        <p:spPr>
          <a:xfrm>
            <a:off x="-273050" y="1828800"/>
            <a:ext cx="8775700" cy="49371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7:notes"/>
          <p:cNvSpPr txBox="1"/>
          <p:nvPr>
            <p:ph idx="1" type="body"/>
          </p:nvPr>
        </p:nvSpPr>
        <p:spPr>
          <a:xfrm>
            <a:off x="822325" y="7040563"/>
            <a:ext cx="6584950" cy="57610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7:notes"/>
          <p:cNvSpPr/>
          <p:nvPr>
            <p:ph idx="2" type="sldImg"/>
          </p:nvPr>
        </p:nvSpPr>
        <p:spPr>
          <a:xfrm>
            <a:off x="-273050" y="1828800"/>
            <a:ext cx="8775700" cy="49371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409db1cad4a_3_2:notes"/>
          <p:cNvSpPr/>
          <p:nvPr>
            <p:ph idx="2" type="sldImg"/>
          </p:nvPr>
        </p:nvSpPr>
        <p:spPr>
          <a:xfrm>
            <a:off x="822960" y="1371600"/>
            <a:ext cx="6583680" cy="370332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g409db1cad4a_3_2:notes"/>
          <p:cNvSpPr txBox="1"/>
          <p:nvPr>
            <p:ph idx="1" type="body"/>
          </p:nvPr>
        </p:nvSpPr>
        <p:spPr>
          <a:xfrm>
            <a:off x="822960" y="5280660"/>
            <a:ext cx="6583680" cy="4320540"/>
          </a:xfrm>
          <a:prstGeom prst="rect">
            <a:avLst/>
          </a:prstGeom>
          <a:noFill/>
          <a:ln>
            <a:noFill/>
          </a:ln>
        </p:spPr>
        <p:txBody>
          <a:bodyPr anchorCtr="0" anchor="t" bIns="54850" lIns="109700" spcFirstLastPara="1" rIns="109700" wrap="square" tIns="54850">
            <a:noAutofit/>
          </a:bodyPr>
          <a:lstStyle/>
          <a:p>
            <a:pPr indent="0" lvl="0" marL="0" rtl="0" algn="l">
              <a:spcBef>
                <a:spcPts val="0"/>
              </a:spcBef>
              <a:spcAft>
                <a:spcPts val="0"/>
              </a:spcAft>
              <a:buNone/>
            </a:pPr>
            <a:r>
              <a:t/>
            </a:r>
            <a:endParaRPr sz="1700"/>
          </a:p>
        </p:txBody>
      </p:sp>
      <p:sp>
        <p:nvSpPr>
          <p:cNvPr id="227" name="Google Shape;227;g409db1cad4a_3_2:notes"/>
          <p:cNvSpPr txBox="1"/>
          <p:nvPr>
            <p:ph idx="12" type="sldNum"/>
          </p:nvPr>
        </p:nvSpPr>
        <p:spPr>
          <a:xfrm>
            <a:off x="4661536" y="10422256"/>
            <a:ext cx="3566160" cy="550544"/>
          </a:xfrm>
          <a:prstGeom prst="rect">
            <a:avLst/>
          </a:prstGeom>
          <a:noFill/>
          <a:ln>
            <a:noFill/>
          </a:ln>
        </p:spPr>
        <p:txBody>
          <a:bodyPr anchorCtr="0" anchor="b" bIns="54850" lIns="109700" spcFirstLastPara="1" rIns="109700" wrap="square" tIns="54850">
            <a:noAutofit/>
          </a:bodyPr>
          <a:lstStyle/>
          <a:p>
            <a:pPr indent="0" lvl="0" marL="0" rtl="0" algn="r">
              <a:spcBef>
                <a:spcPts val="0"/>
              </a:spcBef>
              <a:spcAft>
                <a:spcPts val="0"/>
              </a:spcAft>
              <a:buNone/>
            </a:pPr>
            <a:fld id="{00000000-1234-1234-1234-123412341234}" type="slidenum">
              <a:rPr lang="en-US" sz="1700"/>
              <a:t>‹#›</a:t>
            </a:fld>
            <a:endParaRPr sz="17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9:notes"/>
          <p:cNvSpPr txBox="1"/>
          <p:nvPr>
            <p:ph idx="1" type="body"/>
          </p:nvPr>
        </p:nvSpPr>
        <p:spPr>
          <a:xfrm>
            <a:off x="822325" y="7040563"/>
            <a:ext cx="6584950" cy="57610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9:notes"/>
          <p:cNvSpPr/>
          <p:nvPr>
            <p:ph idx="2" type="sldImg"/>
          </p:nvPr>
        </p:nvSpPr>
        <p:spPr>
          <a:xfrm>
            <a:off x="-273050" y="1828800"/>
            <a:ext cx="8775700" cy="49371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0:notes"/>
          <p:cNvSpPr txBox="1"/>
          <p:nvPr>
            <p:ph idx="1" type="body"/>
          </p:nvPr>
        </p:nvSpPr>
        <p:spPr>
          <a:xfrm>
            <a:off x="822325" y="7040563"/>
            <a:ext cx="6584950" cy="57610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p10:notes"/>
          <p:cNvSpPr/>
          <p:nvPr>
            <p:ph idx="2" type="sldImg"/>
          </p:nvPr>
        </p:nvSpPr>
        <p:spPr>
          <a:xfrm>
            <a:off x="-273050" y="1828800"/>
            <a:ext cx="8775700" cy="49371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409db1cad4a_11_0:notes"/>
          <p:cNvSpPr/>
          <p:nvPr>
            <p:ph idx="2" type="sldImg"/>
          </p:nvPr>
        </p:nvSpPr>
        <p:spPr>
          <a:xfrm>
            <a:off x="822960" y="1371600"/>
            <a:ext cx="6583680" cy="370332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8" name="Google Shape;368;g409db1cad4a_11_0:notes"/>
          <p:cNvSpPr txBox="1"/>
          <p:nvPr>
            <p:ph idx="1" type="body"/>
          </p:nvPr>
        </p:nvSpPr>
        <p:spPr>
          <a:xfrm>
            <a:off x="822960" y="5280660"/>
            <a:ext cx="6583680" cy="4320540"/>
          </a:xfrm>
          <a:prstGeom prst="rect">
            <a:avLst/>
          </a:prstGeom>
          <a:noFill/>
          <a:ln>
            <a:noFill/>
          </a:ln>
        </p:spPr>
        <p:txBody>
          <a:bodyPr anchorCtr="0" anchor="t" bIns="54850" lIns="109700" spcFirstLastPara="1" rIns="109700" wrap="square" tIns="54850">
            <a:noAutofit/>
          </a:bodyPr>
          <a:lstStyle/>
          <a:p>
            <a:pPr indent="0" lvl="0" marL="0" rtl="0" algn="l">
              <a:spcBef>
                <a:spcPts val="0"/>
              </a:spcBef>
              <a:spcAft>
                <a:spcPts val="0"/>
              </a:spcAft>
              <a:buNone/>
            </a:pPr>
            <a:r>
              <a:t/>
            </a:r>
            <a:endParaRPr sz="1700"/>
          </a:p>
        </p:txBody>
      </p:sp>
      <p:sp>
        <p:nvSpPr>
          <p:cNvPr id="369" name="Google Shape;369;g409db1cad4a_11_0:notes"/>
          <p:cNvSpPr txBox="1"/>
          <p:nvPr>
            <p:ph idx="12" type="sldNum"/>
          </p:nvPr>
        </p:nvSpPr>
        <p:spPr>
          <a:xfrm>
            <a:off x="4661536" y="10422256"/>
            <a:ext cx="3566160" cy="550544"/>
          </a:xfrm>
          <a:prstGeom prst="rect">
            <a:avLst/>
          </a:prstGeom>
          <a:noFill/>
          <a:ln>
            <a:noFill/>
          </a:ln>
        </p:spPr>
        <p:txBody>
          <a:bodyPr anchorCtr="0" anchor="b" bIns="54850" lIns="109700" spcFirstLastPara="1" rIns="109700" wrap="square" tIns="54850">
            <a:noAutofit/>
          </a:bodyPr>
          <a:lstStyle/>
          <a:p>
            <a:pPr indent="0" lvl="0" marL="0" rtl="0" algn="r">
              <a:spcBef>
                <a:spcPts val="0"/>
              </a:spcBef>
              <a:spcAft>
                <a:spcPts val="0"/>
              </a:spcAft>
              <a:buNone/>
            </a:pPr>
            <a:fld id="{00000000-1234-1234-1234-123412341234}" type="slidenum">
              <a:rPr lang="en-US" sz="1700"/>
              <a:t>‹#›</a:t>
            </a:fld>
            <a:endParaRPr sz="17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8ba019d454_1_13:notes"/>
          <p:cNvSpPr/>
          <p:nvPr>
            <p:ph idx="2" type="sldImg"/>
          </p:nvPr>
        </p:nvSpPr>
        <p:spPr>
          <a:xfrm>
            <a:off x="-273050" y="1828800"/>
            <a:ext cx="8775600" cy="49371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38ba019d454_1_13:notes"/>
          <p:cNvSpPr txBox="1"/>
          <p:nvPr>
            <p:ph idx="1" type="body"/>
          </p:nvPr>
        </p:nvSpPr>
        <p:spPr>
          <a:xfrm>
            <a:off x="822325" y="7040563"/>
            <a:ext cx="6585000" cy="5760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2" name="Google Shape;382;g38ba019d454_1_13:notes"/>
          <p:cNvSpPr txBox="1"/>
          <p:nvPr>
            <p:ph idx="12" type="sldNum"/>
          </p:nvPr>
        </p:nvSpPr>
        <p:spPr>
          <a:xfrm>
            <a:off x="4660900" y="13896975"/>
            <a:ext cx="3567000" cy="7335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hyperlink" Target="https://gamma.app/?utm_source=made-with-gamma" TargetMode="Externa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hyperlink" Target="https://gamma.app/?utm_source=made-with-gamma" TargetMode="External"/><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hyperlink" Target="https://gamma.app/?utm_source=made-with-gamma" TargetMode="External"/><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hyperlink" Target="https://gamma.app/?utm_source=made-with-gamma" TargetMode="External"/><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3" name="Shape 13"/>
        <p:cNvGrpSpPr/>
        <p:nvPr/>
      </p:nvGrpSpPr>
      <p:grpSpPr>
        <a:xfrm>
          <a:off x="0" y="0"/>
          <a:ext cx="0" cy="0"/>
          <a:chOff x="0" y="0"/>
          <a:chExt cx="0" cy="0"/>
        </a:xfrm>
      </p:grpSpPr>
      <p:sp>
        <p:nvSpPr>
          <p:cNvPr id="14" name="Google Shape;14;p2"/>
          <p:cNvSpPr txBox="1"/>
          <p:nvPr>
            <p:ph type="title"/>
          </p:nvPr>
        </p:nvSpPr>
        <p:spPr>
          <a:xfrm>
            <a:off x="784400" y="720240"/>
            <a:ext cx="10188600" cy="6545400"/>
          </a:xfrm>
          <a:prstGeom prst="rect">
            <a:avLst/>
          </a:prstGeom>
          <a:noFill/>
          <a:ln>
            <a:noFill/>
          </a:ln>
        </p:spPr>
        <p:txBody>
          <a:bodyPr anchorCtr="0" anchor="ctr" bIns="146275" lIns="146275" spcFirstLastPara="1" rIns="146275" wrap="square" tIns="146275">
            <a:normAutofit/>
          </a:bodyPr>
          <a:lstStyle>
            <a:lvl1pPr lvl="0" algn="l">
              <a:lnSpc>
                <a:spcPct val="100000"/>
              </a:lnSpc>
              <a:spcBef>
                <a:spcPts val="0"/>
              </a:spcBef>
              <a:spcAft>
                <a:spcPts val="0"/>
              </a:spcAft>
              <a:buSzPts val="7700"/>
              <a:buNone/>
              <a:defRPr sz="7700"/>
            </a:lvl1pPr>
            <a:lvl2pPr lvl="1" algn="l">
              <a:lnSpc>
                <a:spcPct val="100000"/>
              </a:lnSpc>
              <a:spcBef>
                <a:spcPts val="0"/>
              </a:spcBef>
              <a:spcAft>
                <a:spcPts val="0"/>
              </a:spcAft>
              <a:buSzPts val="7700"/>
              <a:buNone/>
              <a:defRPr sz="7700"/>
            </a:lvl2pPr>
            <a:lvl3pPr lvl="2" algn="l">
              <a:lnSpc>
                <a:spcPct val="100000"/>
              </a:lnSpc>
              <a:spcBef>
                <a:spcPts val="0"/>
              </a:spcBef>
              <a:spcAft>
                <a:spcPts val="0"/>
              </a:spcAft>
              <a:buSzPts val="7700"/>
              <a:buNone/>
              <a:defRPr sz="7700"/>
            </a:lvl3pPr>
            <a:lvl4pPr lvl="3" algn="l">
              <a:lnSpc>
                <a:spcPct val="100000"/>
              </a:lnSpc>
              <a:spcBef>
                <a:spcPts val="0"/>
              </a:spcBef>
              <a:spcAft>
                <a:spcPts val="0"/>
              </a:spcAft>
              <a:buSzPts val="7700"/>
              <a:buNone/>
              <a:defRPr sz="7700"/>
            </a:lvl4pPr>
            <a:lvl5pPr lvl="4" algn="l">
              <a:lnSpc>
                <a:spcPct val="100000"/>
              </a:lnSpc>
              <a:spcBef>
                <a:spcPts val="0"/>
              </a:spcBef>
              <a:spcAft>
                <a:spcPts val="0"/>
              </a:spcAft>
              <a:buSzPts val="7700"/>
              <a:buNone/>
              <a:defRPr sz="7700"/>
            </a:lvl5pPr>
            <a:lvl6pPr lvl="5" algn="l">
              <a:lnSpc>
                <a:spcPct val="100000"/>
              </a:lnSpc>
              <a:spcBef>
                <a:spcPts val="0"/>
              </a:spcBef>
              <a:spcAft>
                <a:spcPts val="0"/>
              </a:spcAft>
              <a:buSzPts val="7700"/>
              <a:buNone/>
              <a:defRPr sz="7700"/>
            </a:lvl6pPr>
            <a:lvl7pPr lvl="6" algn="l">
              <a:lnSpc>
                <a:spcPct val="100000"/>
              </a:lnSpc>
              <a:spcBef>
                <a:spcPts val="0"/>
              </a:spcBef>
              <a:spcAft>
                <a:spcPts val="0"/>
              </a:spcAft>
              <a:buSzPts val="7700"/>
              <a:buNone/>
              <a:defRPr sz="7700"/>
            </a:lvl7pPr>
            <a:lvl8pPr lvl="7" algn="l">
              <a:lnSpc>
                <a:spcPct val="100000"/>
              </a:lnSpc>
              <a:spcBef>
                <a:spcPts val="0"/>
              </a:spcBef>
              <a:spcAft>
                <a:spcPts val="0"/>
              </a:spcAft>
              <a:buSzPts val="7700"/>
              <a:buNone/>
              <a:defRPr sz="7700"/>
            </a:lvl8pPr>
            <a:lvl9pPr lvl="8" algn="l">
              <a:lnSpc>
                <a:spcPct val="100000"/>
              </a:lnSpc>
              <a:spcBef>
                <a:spcPts val="0"/>
              </a:spcBef>
              <a:spcAft>
                <a:spcPts val="0"/>
              </a:spcAft>
              <a:buSzPts val="7700"/>
              <a:buNone/>
              <a:defRPr sz="7700"/>
            </a:lvl9pPr>
          </a:lstStyle>
          <a:p/>
        </p:txBody>
      </p:sp>
      <p:sp>
        <p:nvSpPr>
          <p:cNvPr id="15" name="Google Shape;15;p2"/>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3"/>
          <p:cNvSpPr txBox="1"/>
          <p:nvPr>
            <p:ph type="ctrTitle"/>
          </p:nvPr>
        </p:nvSpPr>
        <p:spPr>
          <a:xfrm>
            <a:off x="498733" y="1191320"/>
            <a:ext cx="13632900" cy="3284100"/>
          </a:xfrm>
          <a:prstGeom prst="rect">
            <a:avLst/>
          </a:prstGeom>
          <a:noFill/>
          <a:ln>
            <a:noFill/>
          </a:ln>
        </p:spPr>
        <p:txBody>
          <a:bodyPr anchorCtr="0" anchor="b" bIns="146275" lIns="146275" spcFirstLastPara="1" rIns="146275" wrap="square" tIns="146275">
            <a:normAutofit/>
          </a:bodyPr>
          <a:lstStyle>
            <a:lvl1pPr lvl="0" algn="ctr">
              <a:lnSpc>
                <a:spcPct val="100000"/>
              </a:lnSpc>
              <a:spcBef>
                <a:spcPts val="0"/>
              </a:spcBef>
              <a:spcAft>
                <a:spcPts val="0"/>
              </a:spcAft>
              <a:buSzPts val="8300"/>
              <a:buNone/>
              <a:defRPr sz="8300"/>
            </a:lvl1pPr>
            <a:lvl2pPr lvl="1" algn="ctr">
              <a:lnSpc>
                <a:spcPct val="100000"/>
              </a:lnSpc>
              <a:spcBef>
                <a:spcPts val="0"/>
              </a:spcBef>
              <a:spcAft>
                <a:spcPts val="0"/>
              </a:spcAft>
              <a:buSzPts val="8300"/>
              <a:buNone/>
              <a:defRPr sz="8300"/>
            </a:lvl2pPr>
            <a:lvl3pPr lvl="2" algn="ctr">
              <a:lnSpc>
                <a:spcPct val="100000"/>
              </a:lnSpc>
              <a:spcBef>
                <a:spcPts val="0"/>
              </a:spcBef>
              <a:spcAft>
                <a:spcPts val="0"/>
              </a:spcAft>
              <a:buSzPts val="8300"/>
              <a:buNone/>
              <a:defRPr sz="8300"/>
            </a:lvl3pPr>
            <a:lvl4pPr lvl="3" algn="ctr">
              <a:lnSpc>
                <a:spcPct val="100000"/>
              </a:lnSpc>
              <a:spcBef>
                <a:spcPts val="0"/>
              </a:spcBef>
              <a:spcAft>
                <a:spcPts val="0"/>
              </a:spcAft>
              <a:buSzPts val="8300"/>
              <a:buNone/>
              <a:defRPr sz="8300"/>
            </a:lvl4pPr>
            <a:lvl5pPr lvl="4" algn="ctr">
              <a:lnSpc>
                <a:spcPct val="100000"/>
              </a:lnSpc>
              <a:spcBef>
                <a:spcPts val="0"/>
              </a:spcBef>
              <a:spcAft>
                <a:spcPts val="0"/>
              </a:spcAft>
              <a:buSzPts val="8300"/>
              <a:buNone/>
              <a:defRPr sz="8300"/>
            </a:lvl5pPr>
            <a:lvl6pPr lvl="5" algn="ctr">
              <a:lnSpc>
                <a:spcPct val="100000"/>
              </a:lnSpc>
              <a:spcBef>
                <a:spcPts val="0"/>
              </a:spcBef>
              <a:spcAft>
                <a:spcPts val="0"/>
              </a:spcAft>
              <a:buSzPts val="8300"/>
              <a:buNone/>
              <a:defRPr sz="8300"/>
            </a:lvl6pPr>
            <a:lvl7pPr lvl="6" algn="ctr">
              <a:lnSpc>
                <a:spcPct val="100000"/>
              </a:lnSpc>
              <a:spcBef>
                <a:spcPts val="0"/>
              </a:spcBef>
              <a:spcAft>
                <a:spcPts val="0"/>
              </a:spcAft>
              <a:buSzPts val="8300"/>
              <a:buNone/>
              <a:defRPr sz="8300"/>
            </a:lvl7pPr>
            <a:lvl8pPr lvl="7" algn="ctr">
              <a:lnSpc>
                <a:spcPct val="100000"/>
              </a:lnSpc>
              <a:spcBef>
                <a:spcPts val="0"/>
              </a:spcBef>
              <a:spcAft>
                <a:spcPts val="0"/>
              </a:spcAft>
              <a:buSzPts val="8300"/>
              <a:buNone/>
              <a:defRPr sz="8300"/>
            </a:lvl8pPr>
            <a:lvl9pPr lvl="8" algn="ctr">
              <a:lnSpc>
                <a:spcPct val="100000"/>
              </a:lnSpc>
              <a:spcBef>
                <a:spcPts val="0"/>
              </a:spcBef>
              <a:spcAft>
                <a:spcPts val="0"/>
              </a:spcAft>
              <a:buSzPts val="8300"/>
              <a:buNone/>
              <a:defRPr sz="8300"/>
            </a:lvl9pPr>
          </a:lstStyle>
          <a:p/>
        </p:txBody>
      </p:sp>
      <p:sp>
        <p:nvSpPr>
          <p:cNvPr id="18" name="Google Shape;18;p3"/>
          <p:cNvSpPr txBox="1"/>
          <p:nvPr>
            <p:ph idx="1" type="subTitle"/>
          </p:nvPr>
        </p:nvSpPr>
        <p:spPr>
          <a:xfrm>
            <a:off x="498720" y="4534600"/>
            <a:ext cx="13632900" cy="1268100"/>
          </a:xfrm>
          <a:prstGeom prst="rect">
            <a:avLst/>
          </a:prstGeom>
          <a:noFill/>
          <a:ln>
            <a:noFill/>
          </a:ln>
        </p:spPr>
        <p:txBody>
          <a:bodyPr anchorCtr="0" anchor="t" bIns="146275" lIns="146275" spcFirstLastPara="1" rIns="146275" wrap="square" tIns="146275">
            <a:normAutofit/>
          </a:bodyPr>
          <a:lstStyle>
            <a:lvl1pPr lvl="0" algn="ctr">
              <a:lnSpc>
                <a:spcPct val="100000"/>
              </a:lnSpc>
              <a:spcBef>
                <a:spcPts val="0"/>
              </a:spcBef>
              <a:spcAft>
                <a:spcPts val="0"/>
              </a:spcAft>
              <a:buSzPts val="4500"/>
              <a:buNone/>
              <a:defRPr sz="4500"/>
            </a:lvl1pPr>
            <a:lvl2pPr lvl="1" algn="ctr">
              <a:lnSpc>
                <a:spcPct val="100000"/>
              </a:lnSpc>
              <a:spcBef>
                <a:spcPts val="0"/>
              </a:spcBef>
              <a:spcAft>
                <a:spcPts val="0"/>
              </a:spcAft>
              <a:buSzPts val="4500"/>
              <a:buNone/>
              <a:defRPr sz="4500"/>
            </a:lvl2pPr>
            <a:lvl3pPr lvl="2" algn="ctr">
              <a:lnSpc>
                <a:spcPct val="100000"/>
              </a:lnSpc>
              <a:spcBef>
                <a:spcPts val="0"/>
              </a:spcBef>
              <a:spcAft>
                <a:spcPts val="0"/>
              </a:spcAft>
              <a:buSzPts val="4500"/>
              <a:buNone/>
              <a:defRPr sz="4500"/>
            </a:lvl3pPr>
            <a:lvl4pPr lvl="3" algn="ctr">
              <a:lnSpc>
                <a:spcPct val="100000"/>
              </a:lnSpc>
              <a:spcBef>
                <a:spcPts val="0"/>
              </a:spcBef>
              <a:spcAft>
                <a:spcPts val="0"/>
              </a:spcAft>
              <a:buSzPts val="4500"/>
              <a:buNone/>
              <a:defRPr sz="4500"/>
            </a:lvl4pPr>
            <a:lvl5pPr lvl="4" algn="ctr">
              <a:lnSpc>
                <a:spcPct val="100000"/>
              </a:lnSpc>
              <a:spcBef>
                <a:spcPts val="0"/>
              </a:spcBef>
              <a:spcAft>
                <a:spcPts val="0"/>
              </a:spcAft>
              <a:buSzPts val="4500"/>
              <a:buNone/>
              <a:defRPr sz="4500"/>
            </a:lvl5pPr>
            <a:lvl6pPr lvl="5" algn="ctr">
              <a:lnSpc>
                <a:spcPct val="100000"/>
              </a:lnSpc>
              <a:spcBef>
                <a:spcPts val="0"/>
              </a:spcBef>
              <a:spcAft>
                <a:spcPts val="0"/>
              </a:spcAft>
              <a:buSzPts val="4500"/>
              <a:buNone/>
              <a:defRPr sz="4500"/>
            </a:lvl6pPr>
            <a:lvl7pPr lvl="6" algn="ctr">
              <a:lnSpc>
                <a:spcPct val="100000"/>
              </a:lnSpc>
              <a:spcBef>
                <a:spcPts val="0"/>
              </a:spcBef>
              <a:spcAft>
                <a:spcPts val="0"/>
              </a:spcAft>
              <a:buSzPts val="4500"/>
              <a:buNone/>
              <a:defRPr sz="4500"/>
            </a:lvl7pPr>
            <a:lvl8pPr lvl="7" algn="ctr">
              <a:lnSpc>
                <a:spcPct val="100000"/>
              </a:lnSpc>
              <a:spcBef>
                <a:spcPts val="0"/>
              </a:spcBef>
              <a:spcAft>
                <a:spcPts val="0"/>
              </a:spcAft>
              <a:buSzPts val="4500"/>
              <a:buNone/>
              <a:defRPr sz="4500"/>
            </a:lvl8pPr>
            <a:lvl9pPr lvl="8" algn="ctr">
              <a:lnSpc>
                <a:spcPct val="100000"/>
              </a:lnSpc>
              <a:spcBef>
                <a:spcPts val="0"/>
              </a:spcBef>
              <a:spcAft>
                <a:spcPts val="0"/>
              </a:spcAft>
              <a:buSzPts val="4500"/>
              <a:buNone/>
              <a:defRPr sz="4500"/>
            </a:lvl9pPr>
          </a:lstStyle>
          <a:p/>
        </p:txBody>
      </p:sp>
      <p:sp>
        <p:nvSpPr>
          <p:cNvPr id="19" name="Google Shape;19;p3"/>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 name="Shape 20"/>
        <p:cNvGrpSpPr/>
        <p:nvPr/>
      </p:nvGrpSpPr>
      <p:grpSpPr>
        <a:xfrm>
          <a:off x="0" y="0"/>
          <a:ext cx="0" cy="0"/>
          <a:chOff x="0" y="0"/>
          <a:chExt cx="0" cy="0"/>
        </a:xfrm>
      </p:grpSpPr>
      <p:sp>
        <p:nvSpPr>
          <p:cNvPr id="21" name="Google Shape;21;p4"/>
          <p:cNvSpPr txBox="1"/>
          <p:nvPr>
            <p:ph type="title"/>
          </p:nvPr>
        </p:nvSpPr>
        <p:spPr>
          <a:xfrm>
            <a:off x="498720" y="3441360"/>
            <a:ext cx="13632900" cy="1347000"/>
          </a:xfrm>
          <a:prstGeom prst="rect">
            <a:avLst/>
          </a:prstGeom>
          <a:noFill/>
          <a:ln>
            <a:noFill/>
          </a:ln>
        </p:spPr>
        <p:txBody>
          <a:bodyPr anchorCtr="0" anchor="ctr" bIns="146275" lIns="146275" spcFirstLastPara="1" rIns="146275" wrap="square" tIns="146275">
            <a:normAutofit/>
          </a:bodyPr>
          <a:lstStyle>
            <a:lvl1pPr lvl="0" algn="ctr">
              <a:lnSpc>
                <a:spcPct val="100000"/>
              </a:lnSpc>
              <a:spcBef>
                <a:spcPts val="0"/>
              </a:spcBef>
              <a:spcAft>
                <a:spcPts val="0"/>
              </a:spcAft>
              <a:buSzPts val="5800"/>
              <a:buNone/>
              <a:defRPr sz="5800"/>
            </a:lvl1pPr>
            <a:lvl2pPr lvl="1" algn="ctr">
              <a:lnSpc>
                <a:spcPct val="100000"/>
              </a:lnSpc>
              <a:spcBef>
                <a:spcPts val="0"/>
              </a:spcBef>
              <a:spcAft>
                <a:spcPts val="0"/>
              </a:spcAft>
              <a:buSzPts val="5800"/>
              <a:buNone/>
              <a:defRPr sz="5800"/>
            </a:lvl2pPr>
            <a:lvl3pPr lvl="2" algn="ctr">
              <a:lnSpc>
                <a:spcPct val="100000"/>
              </a:lnSpc>
              <a:spcBef>
                <a:spcPts val="0"/>
              </a:spcBef>
              <a:spcAft>
                <a:spcPts val="0"/>
              </a:spcAft>
              <a:buSzPts val="5800"/>
              <a:buNone/>
              <a:defRPr sz="5800"/>
            </a:lvl3pPr>
            <a:lvl4pPr lvl="3" algn="ctr">
              <a:lnSpc>
                <a:spcPct val="100000"/>
              </a:lnSpc>
              <a:spcBef>
                <a:spcPts val="0"/>
              </a:spcBef>
              <a:spcAft>
                <a:spcPts val="0"/>
              </a:spcAft>
              <a:buSzPts val="5800"/>
              <a:buNone/>
              <a:defRPr sz="5800"/>
            </a:lvl4pPr>
            <a:lvl5pPr lvl="4" algn="ctr">
              <a:lnSpc>
                <a:spcPct val="100000"/>
              </a:lnSpc>
              <a:spcBef>
                <a:spcPts val="0"/>
              </a:spcBef>
              <a:spcAft>
                <a:spcPts val="0"/>
              </a:spcAft>
              <a:buSzPts val="5800"/>
              <a:buNone/>
              <a:defRPr sz="5800"/>
            </a:lvl5pPr>
            <a:lvl6pPr lvl="5" algn="ctr">
              <a:lnSpc>
                <a:spcPct val="100000"/>
              </a:lnSpc>
              <a:spcBef>
                <a:spcPts val="0"/>
              </a:spcBef>
              <a:spcAft>
                <a:spcPts val="0"/>
              </a:spcAft>
              <a:buSzPts val="5800"/>
              <a:buNone/>
              <a:defRPr sz="5800"/>
            </a:lvl6pPr>
            <a:lvl7pPr lvl="6" algn="ctr">
              <a:lnSpc>
                <a:spcPct val="100000"/>
              </a:lnSpc>
              <a:spcBef>
                <a:spcPts val="0"/>
              </a:spcBef>
              <a:spcAft>
                <a:spcPts val="0"/>
              </a:spcAft>
              <a:buSzPts val="5800"/>
              <a:buNone/>
              <a:defRPr sz="5800"/>
            </a:lvl7pPr>
            <a:lvl8pPr lvl="7" algn="ctr">
              <a:lnSpc>
                <a:spcPct val="100000"/>
              </a:lnSpc>
              <a:spcBef>
                <a:spcPts val="0"/>
              </a:spcBef>
              <a:spcAft>
                <a:spcPts val="0"/>
              </a:spcAft>
              <a:buSzPts val="5800"/>
              <a:buNone/>
              <a:defRPr sz="5800"/>
            </a:lvl8pPr>
            <a:lvl9pPr lvl="8" algn="ctr">
              <a:lnSpc>
                <a:spcPct val="100000"/>
              </a:lnSpc>
              <a:spcBef>
                <a:spcPts val="0"/>
              </a:spcBef>
              <a:spcAft>
                <a:spcPts val="0"/>
              </a:spcAft>
              <a:buSzPts val="5800"/>
              <a:buNone/>
              <a:defRPr sz="5800"/>
            </a:lvl9pPr>
          </a:lstStyle>
          <a:p/>
        </p:txBody>
      </p:sp>
      <p:sp>
        <p:nvSpPr>
          <p:cNvPr id="22" name="Google Shape;22;p4"/>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5"/>
          <p:cNvSpPr txBox="1"/>
          <p:nvPr>
            <p:ph type="title"/>
          </p:nvPr>
        </p:nvSpPr>
        <p:spPr>
          <a:xfrm>
            <a:off x="498720" y="712040"/>
            <a:ext cx="13632900" cy="9162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p:txBody>
      </p:sp>
      <p:sp>
        <p:nvSpPr>
          <p:cNvPr id="25" name="Google Shape;25;p5"/>
          <p:cNvSpPr txBox="1"/>
          <p:nvPr>
            <p:ph idx="1" type="body"/>
          </p:nvPr>
        </p:nvSpPr>
        <p:spPr>
          <a:xfrm>
            <a:off x="498720" y="1843960"/>
            <a:ext cx="13632900" cy="5466300"/>
          </a:xfrm>
          <a:prstGeom prst="rect">
            <a:avLst/>
          </a:prstGeom>
          <a:noFill/>
          <a:ln>
            <a:noFill/>
          </a:ln>
        </p:spPr>
        <p:txBody>
          <a:bodyPr anchorCtr="0" anchor="t" bIns="146275" lIns="146275" spcFirstLastPara="1" rIns="146275" wrap="square" tIns="146275">
            <a:normAutofit/>
          </a:bodyPr>
          <a:lstStyle>
            <a:lvl1pPr indent="-412750" lvl="0" marL="457200" algn="l">
              <a:lnSpc>
                <a:spcPct val="115000"/>
              </a:lnSpc>
              <a:spcBef>
                <a:spcPts val="0"/>
              </a:spcBef>
              <a:spcAft>
                <a:spcPts val="0"/>
              </a:spcAft>
              <a:buSzPts val="29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26" name="Google Shape;26;p5"/>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sp>
        <p:nvSpPr>
          <p:cNvPr id="28" name="Google Shape;28;p6"/>
          <p:cNvSpPr txBox="1"/>
          <p:nvPr>
            <p:ph type="title"/>
          </p:nvPr>
        </p:nvSpPr>
        <p:spPr>
          <a:xfrm>
            <a:off x="498720" y="712040"/>
            <a:ext cx="13632900" cy="9162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p:txBody>
      </p:sp>
      <p:sp>
        <p:nvSpPr>
          <p:cNvPr id="29" name="Google Shape;29;p6"/>
          <p:cNvSpPr txBox="1"/>
          <p:nvPr>
            <p:ph idx="1" type="body"/>
          </p:nvPr>
        </p:nvSpPr>
        <p:spPr>
          <a:xfrm>
            <a:off x="498720" y="1843960"/>
            <a:ext cx="6399900" cy="5466300"/>
          </a:xfrm>
          <a:prstGeom prst="rect">
            <a:avLst/>
          </a:prstGeom>
          <a:noFill/>
          <a:ln>
            <a:noFill/>
          </a:ln>
        </p:spPr>
        <p:txBody>
          <a:bodyPr anchorCtr="0" anchor="t" bIns="146275" lIns="146275" spcFirstLastPara="1" rIns="146275" wrap="square" tIns="146275">
            <a:normAutofit/>
          </a:bodyPr>
          <a:lstStyle>
            <a:lvl1pPr indent="-368300" lvl="0" marL="457200" algn="l">
              <a:lnSpc>
                <a:spcPct val="115000"/>
              </a:lnSpc>
              <a:spcBef>
                <a:spcPts val="0"/>
              </a:spcBef>
              <a:spcAft>
                <a:spcPts val="0"/>
              </a:spcAft>
              <a:buSzPts val="2200"/>
              <a:buChar char="●"/>
              <a:defRPr sz="2200"/>
            </a:lvl1pPr>
            <a:lvl2pPr indent="-349250" lvl="1" marL="914400" algn="l">
              <a:lnSpc>
                <a:spcPct val="115000"/>
              </a:lnSpc>
              <a:spcBef>
                <a:spcPts val="0"/>
              </a:spcBef>
              <a:spcAft>
                <a:spcPts val="0"/>
              </a:spcAft>
              <a:buSzPts val="1900"/>
              <a:buChar char="○"/>
              <a:defRPr sz="1900"/>
            </a:lvl2pPr>
            <a:lvl3pPr indent="-349250" lvl="2" marL="1371600" algn="l">
              <a:lnSpc>
                <a:spcPct val="115000"/>
              </a:lnSpc>
              <a:spcBef>
                <a:spcPts val="0"/>
              </a:spcBef>
              <a:spcAft>
                <a:spcPts val="0"/>
              </a:spcAft>
              <a:buSzPts val="1900"/>
              <a:buChar char="■"/>
              <a:defRPr sz="1900"/>
            </a:lvl3pPr>
            <a:lvl4pPr indent="-349250" lvl="3" marL="1828800" algn="l">
              <a:lnSpc>
                <a:spcPct val="115000"/>
              </a:lnSpc>
              <a:spcBef>
                <a:spcPts val="0"/>
              </a:spcBef>
              <a:spcAft>
                <a:spcPts val="0"/>
              </a:spcAft>
              <a:buSzPts val="1900"/>
              <a:buChar char="●"/>
              <a:defRPr sz="1900"/>
            </a:lvl4pPr>
            <a:lvl5pPr indent="-349250" lvl="4" marL="2286000" algn="l">
              <a:lnSpc>
                <a:spcPct val="115000"/>
              </a:lnSpc>
              <a:spcBef>
                <a:spcPts val="0"/>
              </a:spcBef>
              <a:spcAft>
                <a:spcPts val="0"/>
              </a:spcAft>
              <a:buSzPts val="1900"/>
              <a:buChar char="○"/>
              <a:defRPr sz="1900"/>
            </a:lvl5pPr>
            <a:lvl6pPr indent="-349250" lvl="5" marL="2743200" algn="l">
              <a:lnSpc>
                <a:spcPct val="115000"/>
              </a:lnSpc>
              <a:spcBef>
                <a:spcPts val="0"/>
              </a:spcBef>
              <a:spcAft>
                <a:spcPts val="0"/>
              </a:spcAft>
              <a:buSzPts val="1900"/>
              <a:buChar char="■"/>
              <a:defRPr sz="1900"/>
            </a:lvl6pPr>
            <a:lvl7pPr indent="-349250" lvl="6" marL="3200400" algn="l">
              <a:lnSpc>
                <a:spcPct val="115000"/>
              </a:lnSpc>
              <a:spcBef>
                <a:spcPts val="0"/>
              </a:spcBef>
              <a:spcAft>
                <a:spcPts val="0"/>
              </a:spcAft>
              <a:buSzPts val="1900"/>
              <a:buChar char="●"/>
              <a:defRPr sz="1900"/>
            </a:lvl7pPr>
            <a:lvl8pPr indent="-349250" lvl="7" marL="3657600" algn="l">
              <a:lnSpc>
                <a:spcPct val="115000"/>
              </a:lnSpc>
              <a:spcBef>
                <a:spcPts val="0"/>
              </a:spcBef>
              <a:spcAft>
                <a:spcPts val="0"/>
              </a:spcAft>
              <a:buSzPts val="1900"/>
              <a:buChar char="○"/>
              <a:defRPr sz="1900"/>
            </a:lvl8pPr>
            <a:lvl9pPr indent="-349250" lvl="8" marL="4114800" algn="l">
              <a:lnSpc>
                <a:spcPct val="115000"/>
              </a:lnSpc>
              <a:spcBef>
                <a:spcPts val="0"/>
              </a:spcBef>
              <a:spcAft>
                <a:spcPts val="0"/>
              </a:spcAft>
              <a:buSzPts val="1900"/>
              <a:buChar char="■"/>
              <a:defRPr sz="1900"/>
            </a:lvl9pPr>
          </a:lstStyle>
          <a:p/>
        </p:txBody>
      </p:sp>
      <p:sp>
        <p:nvSpPr>
          <p:cNvPr id="30" name="Google Shape;30;p6"/>
          <p:cNvSpPr txBox="1"/>
          <p:nvPr>
            <p:ph idx="2" type="body"/>
          </p:nvPr>
        </p:nvSpPr>
        <p:spPr>
          <a:xfrm>
            <a:off x="7731840" y="1843960"/>
            <a:ext cx="6399900" cy="5466300"/>
          </a:xfrm>
          <a:prstGeom prst="rect">
            <a:avLst/>
          </a:prstGeom>
          <a:noFill/>
          <a:ln>
            <a:noFill/>
          </a:ln>
        </p:spPr>
        <p:txBody>
          <a:bodyPr anchorCtr="0" anchor="t" bIns="146275" lIns="146275" spcFirstLastPara="1" rIns="146275" wrap="square" tIns="146275">
            <a:normAutofit/>
          </a:bodyPr>
          <a:lstStyle>
            <a:lvl1pPr indent="-368300" lvl="0" marL="457200" algn="l">
              <a:lnSpc>
                <a:spcPct val="115000"/>
              </a:lnSpc>
              <a:spcBef>
                <a:spcPts val="0"/>
              </a:spcBef>
              <a:spcAft>
                <a:spcPts val="0"/>
              </a:spcAft>
              <a:buSzPts val="2200"/>
              <a:buChar char="●"/>
              <a:defRPr sz="2200"/>
            </a:lvl1pPr>
            <a:lvl2pPr indent="-349250" lvl="1" marL="914400" algn="l">
              <a:lnSpc>
                <a:spcPct val="115000"/>
              </a:lnSpc>
              <a:spcBef>
                <a:spcPts val="0"/>
              </a:spcBef>
              <a:spcAft>
                <a:spcPts val="0"/>
              </a:spcAft>
              <a:buSzPts val="1900"/>
              <a:buChar char="○"/>
              <a:defRPr sz="1900"/>
            </a:lvl2pPr>
            <a:lvl3pPr indent="-349250" lvl="2" marL="1371600" algn="l">
              <a:lnSpc>
                <a:spcPct val="115000"/>
              </a:lnSpc>
              <a:spcBef>
                <a:spcPts val="0"/>
              </a:spcBef>
              <a:spcAft>
                <a:spcPts val="0"/>
              </a:spcAft>
              <a:buSzPts val="1900"/>
              <a:buChar char="■"/>
              <a:defRPr sz="1900"/>
            </a:lvl3pPr>
            <a:lvl4pPr indent="-349250" lvl="3" marL="1828800" algn="l">
              <a:lnSpc>
                <a:spcPct val="115000"/>
              </a:lnSpc>
              <a:spcBef>
                <a:spcPts val="0"/>
              </a:spcBef>
              <a:spcAft>
                <a:spcPts val="0"/>
              </a:spcAft>
              <a:buSzPts val="1900"/>
              <a:buChar char="●"/>
              <a:defRPr sz="1900"/>
            </a:lvl4pPr>
            <a:lvl5pPr indent="-349250" lvl="4" marL="2286000" algn="l">
              <a:lnSpc>
                <a:spcPct val="115000"/>
              </a:lnSpc>
              <a:spcBef>
                <a:spcPts val="0"/>
              </a:spcBef>
              <a:spcAft>
                <a:spcPts val="0"/>
              </a:spcAft>
              <a:buSzPts val="1900"/>
              <a:buChar char="○"/>
              <a:defRPr sz="1900"/>
            </a:lvl5pPr>
            <a:lvl6pPr indent="-349250" lvl="5" marL="2743200" algn="l">
              <a:lnSpc>
                <a:spcPct val="115000"/>
              </a:lnSpc>
              <a:spcBef>
                <a:spcPts val="0"/>
              </a:spcBef>
              <a:spcAft>
                <a:spcPts val="0"/>
              </a:spcAft>
              <a:buSzPts val="1900"/>
              <a:buChar char="■"/>
              <a:defRPr sz="1900"/>
            </a:lvl6pPr>
            <a:lvl7pPr indent="-349250" lvl="6" marL="3200400" algn="l">
              <a:lnSpc>
                <a:spcPct val="115000"/>
              </a:lnSpc>
              <a:spcBef>
                <a:spcPts val="0"/>
              </a:spcBef>
              <a:spcAft>
                <a:spcPts val="0"/>
              </a:spcAft>
              <a:buSzPts val="1900"/>
              <a:buChar char="●"/>
              <a:defRPr sz="1900"/>
            </a:lvl7pPr>
            <a:lvl8pPr indent="-349250" lvl="7" marL="3657600" algn="l">
              <a:lnSpc>
                <a:spcPct val="115000"/>
              </a:lnSpc>
              <a:spcBef>
                <a:spcPts val="0"/>
              </a:spcBef>
              <a:spcAft>
                <a:spcPts val="0"/>
              </a:spcAft>
              <a:buSzPts val="1900"/>
              <a:buChar char="○"/>
              <a:defRPr sz="1900"/>
            </a:lvl8pPr>
            <a:lvl9pPr indent="-349250" lvl="8" marL="4114800" algn="l">
              <a:lnSpc>
                <a:spcPct val="115000"/>
              </a:lnSpc>
              <a:spcBef>
                <a:spcPts val="0"/>
              </a:spcBef>
              <a:spcAft>
                <a:spcPts val="0"/>
              </a:spcAft>
              <a:buSzPts val="1900"/>
              <a:buChar char="■"/>
              <a:defRPr sz="1900"/>
            </a:lvl9pPr>
          </a:lstStyle>
          <a:p/>
        </p:txBody>
      </p:sp>
      <p:sp>
        <p:nvSpPr>
          <p:cNvPr id="31" name="Google Shape;31;p6"/>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7"/>
          <p:cNvSpPr txBox="1"/>
          <p:nvPr>
            <p:ph type="title"/>
          </p:nvPr>
        </p:nvSpPr>
        <p:spPr>
          <a:xfrm>
            <a:off x="498720" y="712040"/>
            <a:ext cx="13632900" cy="9162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p:txBody>
      </p:sp>
      <p:sp>
        <p:nvSpPr>
          <p:cNvPr id="34" name="Google Shape;34;p7"/>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5" name="Shape 35"/>
        <p:cNvGrpSpPr/>
        <p:nvPr/>
      </p:nvGrpSpPr>
      <p:grpSpPr>
        <a:xfrm>
          <a:off x="0" y="0"/>
          <a:ext cx="0" cy="0"/>
          <a:chOff x="0" y="0"/>
          <a:chExt cx="0" cy="0"/>
        </a:xfrm>
      </p:grpSpPr>
      <p:sp>
        <p:nvSpPr>
          <p:cNvPr id="36" name="Google Shape;36;p8"/>
          <p:cNvSpPr txBox="1"/>
          <p:nvPr>
            <p:ph type="title"/>
          </p:nvPr>
        </p:nvSpPr>
        <p:spPr>
          <a:xfrm>
            <a:off x="498720" y="888960"/>
            <a:ext cx="4492800" cy="1209000"/>
          </a:xfrm>
          <a:prstGeom prst="rect">
            <a:avLst/>
          </a:prstGeom>
          <a:noFill/>
          <a:ln>
            <a:noFill/>
          </a:ln>
        </p:spPr>
        <p:txBody>
          <a:bodyPr anchorCtr="0" anchor="b" bIns="146275" lIns="146275" spcFirstLastPara="1" rIns="146275" wrap="square" tIns="146275">
            <a:normAutofit/>
          </a:bodyPr>
          <a:lstStyle>
            <a:lvl1pPr lvl="0" algn="l">
              <a:lnSpc>
                <a:spcPct val="100000"/>
              </a:lnSpc>
              <a:spcBef>
                <a:spcPts val="0"/>
              </a:spcBef>
              <a:spcAft>
                <a:spcPts val="0"/>
              </a:spcAft>
              <a:buSzPts val="3800"/>
              <a:buNone/>
              <a:defRPr sz="3800"/>
            </a:lvl1pPr>
            <a:lvl2pPr lvl="1" algn="l">
              <a:lnSpc>
                <a:spcPct val="100000"/>
              </a:lnSpc>
              <a:spcBef>
                <a:spcPts val="0"/>
              </a:spcBef>
              <a:spcAft>
                <a:spcPts val="0"/>
              </a:spcAft>
              <a:buSzPts val="3800"/>
              <a:buNone/>
              <a:defRPr sz="3800"/>
            </a:lvl2pPr>
            <a:lvl3pPr lvl="2" algn="l">
              <a:lnSpc>
                <a:spcPct val="100000"/>
              </a:lnSpc>
              <a:spcBef>
                <a:spcPts val="0"/>
              </a:spcBef>
              <a:spcAft>
                <a:spcPts val="0"/>
              </a:spcAft>
              <a:buSzPts val="3800"/>
              <a:buNone/>
              <a:defRPr sz="3800"/>
            </a:lvl3pPr>
            <a:lvl4pPr lvl="3" algn="l">
              <a:lnSpc>
                <a:spcPct val="100000"/>
              </a:lnSpc>
              <a:spcBef>
                <a:spcPts val="0"/>
              </a:spcBef>
              <a:spcAft>
                <a:spcPts val="0"/>
              </a:spcAft>
              <a:buSzPts val="3800"/>
              <a:buNone/>
              <a:defRPr sz="3800"/>
            </a:lvl4pPr>
            <a:lvl5pPr lvl="4" algn="l">
              <a:lnSpc>
                <a:spcPct val="100000"/>
              </a:lnSpc>
              <a:spcBef>
                <a:spcPts val="0"/>
              </a:spcBef>
              <a:spcAft>
                <a:spcPts val="0"/>
              </a:spcAft>
              <a:buSzPts val="3800"/>
              <a:buNone/>
              <a:defRPr sz="3800"/>
            </a:lvl5pPr>
            <a:lvl6pPr lvl="5" algn="l">
              <a:lnSpc>
                <a:spcPct val="100000"/>
              </a:lnSpc>
              <a:spcBef>
                <a:spcPts val="0"/>
              </a:spcBef>
              <a:spcAft>
                <a:spcPts val="0"/>
              </a:spcAft>
              <a:buSzPts val="3800"/>
              <a:buNone/>
              <a:defRPr sz="3800"/>
            </a:lvl6pPr>
            <a:lvl7pPr lvl="6" algn="l">
              <a:lnSpc>
                <a:spcPct val="100000"/>
              </a:lnSpc>
              <a:spcBef>
                <a:spcPts val="0"/>
              </a:spcBef>
              <a:spcAft>
                <a:spcPts val="0"/>
              </a:spcAft>
              <a:buSzPts val="3800"/>
              <a:buNone/>
              <a:defRPr sz="3800"/>
            </a:lvl7pPr>
            <a:lvl8pPr lvl="7" algn="l">
              <a:lnSpc>
                <a:spcPct val="100000"/>
              </a:lnSpc>
              <a:spcBef>
                <a:spcPts val="0"/>
              </a:spcBef>
              <a:spcAft>
                <a:spcPts val="0"/>
              </a:spcAft>
              <a:buSzPts val="3800"/>
              <a:buNone/>
              <a:defRPr sz="3800"/>
            </a:lvl8pPr>
            <a:lvl9pPr lvl="8" algn="l">
              <a:lnSpc>
                <a:spcPct val="100000"/>
              </a:lnSpc>
              <a:spcBef>
                <a:spcPts val="0"/>
              </a:spcBef>
              <a:spcAft>
                <a:spcPts val="0"/>
              </a:spcAft>
              <a:buSzPts val="3800"/>
              <a:buNone/>
              <a:defRPr sz="3800"/>
            </a:lvl9pPr>
          </a:lstStyle>
          <a:p/>
        </p:txBody>
      </p:sp>
      <p:sp>
        <p:nvSpPr>
          <p:cNvPr id="37" name="Google Shape;37;p8"/>
          <p:cNvSpPr txBox="1"/>
          <p:nvPr>
            <p:ph idx="1" type="body"/>
          </p:nvPr>
        </p:nvSpPr>
        <p:spPr>
          <a:xfrm>
            <a:off x="498720" y="2223360"/>
            <a:ext cx="4492800" cy="5087100"/>
          </a:xfrm>
          <a:prstGeom prst="rect">
            <a:avLst/>
          </a:prstGeom>
          <a:noFill/>
          <a:ln>
            <a:noFill/>
          </a:ln>
        </p:spPr>
        <p:txBody>
          <a:bodyPr anchorCtr="0" anchor="t" bIns="146275" lIns="146275" spcFirstLastPara="1" rIns="146275" wrap="square" tIns="146275">
            <a:normAutofit/>
          </a:bodyPr>
          <a:lstStyle>
            <a:lvl1pPr indent="-349250" lvl="0" marL="457200" algn="l">
              <a:lnSpc>
                <a:spcPct val="115000"/>
              </a:lnSpc>
              <a:spcBef>
                <a:spcPts val="0"/>
              </a:spcBef>
              <a:spcAft>
                <a:spcPts val="0"/>
              </a:spcAft>
              <a:buSzPts val="1900"/>
              <a:buChar char="●"/>
              <a:defRPr sz="1900"/>
            </a:lvl1pPr>
            <a:lvl2pPr indent="-349250" lvl="1" marL="914400" algn="l">
              <a:lnSpc>
                <a:spcPct val="115000"/>
              </a:lnSpc>
              <a:spcBef>
                <a:spcPts val="0"/>
              </a:spcBef>
              <a:spcAft>
                <a:spcPts val="0"/>
              </a:spcAft>
              <a:buSzPts val="1900"/>
              <a:buChar char="○"/>
              <a:defRPr sz="1900"/>
            </a:lvl2pPr>
            <a:lvl3pPr indent="-349250" lvl="2" marL="1371600" algn="l">
              <a:lnSpc>
                <a:spcPct val="115000"/>
              </a:lnSpc>
              <a:spcBef>
                <a:spcPts val="0"/>
              </a:spcBef>
              <a:spcAft>
                <a:spcPts val="0"/>
              </a:spcAft>
              <a:buSzPts val="1900"/>
              <a:buChar char="■"/>
              <a:defRPr sz="1900"/>
            </a:lvl3pPr>
            <a:lvl4pPr indent="-349250" lvl="3" marL="1828800" algn="l">
              <a:lnSpc>
                <a:spcPct val="115000"/>
              </a:lnSpc>
              <a:spcBef>
                <a:spcPts val="0"/>
              </a:spcBef>
              <a:spcAft>
                <a:spcPts val="0"/>
              </a:spcAft>
              <a:buSzPts val="1900"/>
              <a:buChar char="●"/>
              <a:defRPr sz="1900"/>
            </a:lvl4pPr>
            <a:lvl5pPr indent="-349250" lvl="4" marL="2286000" algn="l">
              <a:lnSpc>
                <a:spcPct val="115000"/>
              </a:lnSpc>
              <a:spcBef>
                <a:spcPts val="0"/>
              </a:spcBef>
              <a:spcAft>
                <a:spcPts val="0"/>
              </a:spcAft>
              <a:buSzPts val="1900"/>
              <a:buChar char="○"/>
              <a:defRPr sz="1900"/>
            </a:lvl5pPr>
            <a:lvl6pPr indent="-349250" lvl="5" marL="2743200" algn="l">
              <a:lnSpc>
                <a:spcPct val="115000"/>
              </a:lnSpc>
              <a:spcBef>
                <a:spcPts val="0"/>
              </a:spcBef>
              <a:spcAft>
                <a:spcPts val="0"/>
              </a:spcAft>
              <a:buSzPts val="1900"/>
              <a:buChar char="■"/>
              <a:defRPr sz="1900"/>
            </a:lvl6pPr>
            <a:lvl7pPr indent="-349250" lvl="6" marL="3200400" algn="l">
              <a:lnSpc>
                <a:spcPct val="115000"/>
              </a:lnSpc>
              <a:spcBef>
                <a:spcPts val="0"/>
              </a:spcBef>
              <a:spcAft>
                <a:spcPts val="0"/>
              </a:spcAft>
              <a:buSzPts val="1900"/>
              <a:buChar char="●"/>
              <a:defRPr sz="1900"/>
            </a:lvl7pPr>
            <a:lvl8pPr indent="-349250" lvl="7" marL="3657600" algn="l">
              <a:lnSpc>
                <a:spcPct val="115000"/>
              </a:lnSpc>
              <a:spcBef>
                <a:spcPts val="0"/>
              </a:spcBef>
              <a:spcAft>
                <a:spcPts val="0"/>
              </a:spcAft>
              <a:buSzPts val="1900"/>
              <a:buChar char="○"/>
              <a:defRPr sz="1900"/>
            </a:lvl8pPr>
            <a:lvl9pPr indent="-349250" lvl="8" marL="4114800" algn="l">
              <a:lnSpc>
                <a:spcPct val="115000"/>
              </a:lnSpc>
              <a:spcBef>
                <a:spcPts val="0"/>
              </a:spcBef>
              <a:spcAft>
                <a:spcPts val="0"/>
              </a:spcAft>
              <a:buSzPts val="1900"/>
              <a:buChar char="■"/>
              <a:defRPr sz="1900"/>
            </a:lvl9pPr>
          </a:lstStyle>
          <a:p/>
        </p:txBody>
      </p:sp>
      <p:sp>
        <p:nvSpPr>
          <p:cNvPr id="38" name="Google Shape;38;p8"/>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7315200" y="-200"/>
            <a:ext cx="7315200" cy="8229600"/>
          </a:xfrm>
          <a:prstGeom prst="rect">
            <a:avLst/>
          </a:pr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9"/>
          <p:cNvSpPr txBox="1"/>
          <p:nvPr>
            <p:ph type="title"/>
          </p:nvPr>
        </p:nvSpPr>
        <p:spPr>
          <a:xfrm>
            <a:off x="424800" y="1973080"/>
            <a:ext cx="6472200" cy="2371800"/>
          </a:xfrm>
          <a:prstGeom prst="rect">
            <a:avLst/>
          </a:prstGeom>
          <a:noFill/>
          <a:ln>
            <a:noFill/>
          </a:ln>
        </p:spPr>
        <p:txBody>
          <a:bodyPr anchorCtr="0" anchor="b" bIns="146275" lIns="146275" spcFirstLastPara="1" rIns="146275" wrap="square" tIns="146275">
            <a:normAutofit/>
          </a:bodyPr>
          <a:lstStyle>
            <a:lvl1pPr lvl="0" algn="ctr">
              <a:lnSpc>
                <a:spcPct val="100000"/>
              </a:lnSpc>
              <a:spcBef>
                <a:spcPts val="0"/>
              </a:spcBef>
              <a:spcAft>
                <a:spcPts val="0"/>
              </a:spcAft>
              <a:buSzPts val="6700"/>
              <a:buNone/>
              <a:defRPr sz="6700"/>
            </a:lvl1pPr>
            <a:lvl2pPr lvl="1" algn="ctr">
              <a:lnSpc>
                <a:spcPct val="100000"/>
              </a:lnSpc>
              <a:spcBef>
                <a:spcPts val="0"/>
              </a:spcBef>
              <a:spcAft>
                <a:spcPts val="0"/>
              </a:spcAft>
              <a:buSzPts val="6700"/>
              <a:buNone/>
              <a:defRPr sz="6700"/>
            </a:lvl2pPr>
            <a:lvl3pPr lvl="2" algn="ctr">
              <a:lnSpc>
                <a:spcPct val="100000"/>
              </a:lnSpc>
              <a:spcBef>
                <a:spcPts val="0"/>
              </a:spcBef>
              <a:spcAft>
                <a:spcPts val="0"/>
              </a:spcAft>
              <a:buSzPts val="6700"/>
              <a:buNone/>
              <a:defRPr sz="6700"/>
            </a:lvl3pPr>
            <a:lvl4pPr lvl="3" algn="ctr">
              <a:lnSpc>
                <a:spcPct val="100000"/>
              </a:lnSpc>
              <a:spcBef>
                <a:spcPts val="0"/>
              </a:spcBef>
              <a:spcAft>
                <a:spcPts val="0"/>
              </a:spcAft>
              <a:buSzPts val="6700"/>
              <a:buNone/>
              <a:defRPr sz="6700"/>
            </a:lvl4pPr>
            <a:lvl5pPr lvl="4" algn="ctr">
              <a:lnSpc>
                <a:spcPct val="100000"/>
              </a:lnSpc>
              <a:spcBef>
                <a:spcPts val="0"/>
              </a:spcBef>
              <a:spcAft>
                <a:spcPts val="0"/>
              </a:spcAft>
              <a:buSzPts val="6700"/>
              <a:buNone/>
              <a:defRPr sz="6700"/>
            </a:lvl5pPr>
            <a:lvl6pPr lvl="5" algn="ctr">
              <a:lnSpc>
                <a:spcPct val="100000"/>
              </a:lnSpc>
              <a:spcBef>
                <a:spcPts val="0"/>
              </a:spcBef>
              <a:spcAft>
                <a:spcPts val="0"/>
              </a:spcAft>
              <a:buSzPts val="6700"/>
              <a:buNone/>
              <a:defRPr sz="6700"/>
            </a:lvl6pPr>
            <a:lvl7pPr lvl="6" algn="ctr">
              <a:lnSpc>
                <a:spcPct val="100000"/>
              </a:lnSpc>
              <a:spcBef>
                <a:spcPts val="0"/>
              </a:spcBef>
              <a:spcAft>
                <a:spcPts val="0"/>
              </a:spcAft>
              <a:buSzPts val="6700"/>
              <a:buNone/>
              <a:defRPr sz="6700"/>
            </a:lvl7pPr>
            <a:lvl8pPr lvl="7" algn="ctr">
              <a:lnSpc>
                <a:spcPct val="100000"/>
              </a:lnSpc>
              <a:spcBef>
                <a:spcPts val="0"/>
              </a:spcBef>
              <a:spcAft>
                <a:spcPts val="0"/>
              </a:spcAft>
              <a:buSzPts val="6700"/>
              <a:buNone/>
              <a:defRPr sz="6700"/>
            </a:lvl8pPr>
            <a:lvl9pPr lvl="8" algn="ctr">
              <a:lnSpc>
                <a:spcPct val="100000"/>
              </a:lnSpc>
              <a:spcBef>
                <a:spcPts val="0"/>
              </a:spcBef>
              <a:spcAft>
                <a:spcPts val="0"/>
              </a:spcAft>
              <a:buSzPts val="6700"/>
              <a:buNone/>
              <a:defRPr sz="6700"/>
            </a:lvl9pPr>
          </a:lstStyle>
          <a:p/>
        </p:txBody>
      </p:sp>
      <p:sp>
        <p:nvSpPr>
          <p:cNvPr id="42" name="Google Shape;42;p9"/>
          <p:cNvSpPr txBox="1"/>
          <p:nvPr>
            <p:ph idx="1" type="subTitle"/>
          </p:nvPr>
        </p:nvSpPr>
        <p:spPr>
          <a:xfrm>
            <a:off x="424800" y="4484920"/>
            <a:ext cx="6472200" cy="1976100"/>
          </a:xfrm>
          <a:prstGeom prst="rect">
            <a:avLst/>
          </a:prstGeom>
          <a:noFill/>
          <a:ln>
            <a:noFill/>
          </a:ln>
        </p:spPr>
        <p:txBody>
          <a:bodyPr anchorCtr="0" anchor="t" bIns="146275" lIns="146275" spcFirstLastPara="1" rIns="146275" wrap="square" tIns="146275">
            <a:normAutofit/>
          </a:bodyPr>
          <a:lstStyle>
            <a:lvl1pPr lvl="0" algn="ctr">
              <a:lnSpc>
                <a:spcPct val="100000"/>
              </a:lnSpc>
              <a:spcBef>
                <a:spcPts val="0"/>
              </a:spcBef>
              <a:spcAft>
                <a:spcPts val="0"/>
              </a:spcAft>
              <a:buSzPts val="3400"/>
              <a:buNone/>
              <a:defRPr sz="3400"/>
            </a:lvl1pPr>
            <a:lvl2pPr lvl="1" algn="ctr">
              <a:lnSpc>
                <a:spcPct val="100000"/>
              </a:lnSpc>
              <a:spcBef>
                <a:spcPts val="0"/>
              </a:spcBef>
              <a:spcAft>
                <a:spcPts val="0"/>
              </a:spcAft>
              <a:buSzPts val="3400"/>
              <a:buNone/>
              <a:defRPr sz="3400"/>
            </a:lvl2pPr>
            <a:lvl3pPr lvl="2" algn="ctr">
              <a:lnSpc>
                <a:spcPct val="100000"/>
              </a:lnSpc>
              <a:spcBef>
                <a:spcPts val="0"/>
              </a:spcBef>
              <a:spcAft>
                <a:spcPts val="0"/>
              </a:spcAft>
              <a:buSzPts val="3400"/>
              <a:buNone/>
              <a:defRPr sz="3400"/>
            </a:lvl3pPr>
            <a:lvl4pPr lvl="3" algn="ctr">
              <a:lnSpc>
                <a:spcPct val="100000"/>
              </a:lnSpc>
              <a:spcBef>
                <a:spcPts val="0"/>
              </a:spcBef>
              <a:spcAft>
                <a:spcPts val="0"/>
              </a:spcAft>
              <a:buSzPts val="3400"/>
              <a:buNone/>
              <a:defRPr sz="3400"/>
            </a:lvl4pPr>
            <a:lvl5pPr lvl="4" algn="ctr">
              <a:lnSpc>
                <a:spcPct val="100000"/>
              </a:lnSpc>
              <a:spcBef>
                <a:spcPts val="0"/>
              </a:spcBef>
              <a:spcAft>
                <a:spcPts val="0"/>
              </a:spcAft>
              <a:buSzPts val="3400"/>
              <a:buNone/>
              <a:defRPr sz="3400"/>
            </a:lvl5pPr>
            <a:lvl6pPr lvl="5" algn="ctr">
              <a:lnSpc>
                <a:spcPct val="100000"/>
              </a:lnSpc>
              <a:spcBef>
                <a:spcPts val="0"/>
              </a:spcBef>
              <a:spcAft>
                <a:spcPts val="0"/>
              </a:spcAft>
              <a:buSzPts val="3400"/>
              <a:buNone/>
              <a:defRPr sz="3400"/>
            </a:lvl6pPr>
            <a:lvl7pPr lvl="6" algn="ctr">
              <a:lnSpc>
                <a:spcPct val="100000"/>
              </a:lnSpc>
              <a:spcBef>
                <a:spcPts val="0"/>
              </a:spcBef>
              <a:spcAft>
                <a:spcPts val="0"/>
              </a:spcAft>
              <a:buSzPts val="3400"/>
              <a:buNone/>
              <a:defRPr sz="3400"/>
            </a:lvl7pPr>
            <a:lvl8pPr lvl="7" algn="ctr">
              <a:lnSpc>
                <a:spcPct val="100000"/>
              </a:lnSpc>
              <a:spcBef>
                <a:spcPts val="0"/>
              </a:spcBef>
              <a:spcAft>
                <a:spcPts val="0"/>
              </a:spcAft>
              <a:buSzPts val="3400"/>
              <a:buNone/>
              <a:defRPr sz="3400"/>
            </a:lvl8pPr>
            <a:lvl9pPr lvl="8" algn="ctr">
              <a:lnSpc>
                <a:spcPct val="100000"/>
              </a:lnSpc>
              <a:spcBef>
                <a:spcPts val="0"/>
              </a:spcBef>
              <a:spcAft>
                <a:spcPts val="0"/>
              </a:spcAft>
              <a:buSzPts val="3400"/>
              <a:buNone/>
              <a:defRPr sz="3400"/>
            </a:lvl9pPr>
          </a:lstStyle>
          <a:p/>
        </p:txBody>
      </p:sp>
      <p:sp>
        <p:nvSpPr>
          <p:cNvPr id="43" name="Google Shape;43;p9"/>
          <p:cNvSpPr txBox="1"/>
          <p:nvPr>
            <p:ph idx="2" type="body"/>
          </p:nvPr>
        </p:nvSpPr>
        <p:spPr>
          <a:xfrm>
            <a:off x="7903200" y="1158520"/>
            <a:ext cx="6139200" cy="5912100"/>
          </a:xfrm>
          <a:prstGeom prst="rect">
            <a:avLst/>
          </a:prstGeom>
          <a:noFill/>
          <a:ln>
            <a:noFill/>
          </a:ln>
        </p:spPr>
        <p:txBody>
          <a:bodyPr anchorCtr="0" anchor="ctr" bIns="146275" lIns="146275" spcFirstLastPara="1" rIns="146275" wrap="square" tIns="146275">
            <a:normAutofit/>
          </a:bodyPr>
          <a:lstStyle>
            <a:lvl1pPr indent="-412750" lvl="0" marL="457200" algn="l">
              <a:lnSpc>
                <a:spcPct val="115000"/>
              </a:lnSpc>
              <a:spcBef>
                <a:spcPts val="0"/>
              </a:spcBef>
              <a:spcAft>
                <a:spcPts val="0"/>
              </a:spcAft>
              <a:buSzPts val="29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44" name="Google Shape;44;p9"/>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498720" y="6768920"/>
            <a:ext cx="9598200" cy="968100"/>
          </a:xfrm>
          <a:prstGeom prst="rect">
            <a:avLst/>
          </a:prstGeom>
          <a:noFill/>
          <a:ln>
            <a:noFill/>
          </a:ln>
        </p:spPr>
        <p:txBody>
          <a:bodyPr anchorCtr="0" anchor="ctr" bIns="146275" lIns="146275" spcFirstLastPara="1" rIns="146275" wrap="square" tIns="146275">
            <a:normAutofit/>
          </a:bodyPr>
          <a:lstStyle>
            <a:lvl1pPr indent="-228600" lvl="0" marL="457200" algn="l">
              <a:lnSpc>
                <a:spcPct val="100000"/>
              </a:lnSpc>
              <a:spcBef>
                <a:spcPts val="0"/>
              </a:spcBef>
              <a:spcAft>
                <a:spcPts val="0"/>
              </a:spcAft>
              <a:buSzPts val="2900"/>
              <a:buNone/>
              <a:defRPr/>
            </a:lvl1pPr>
          </a:lstStyle>
          <a:p/>
        </p:txBody>
      </p:sp>
      <p:sp>
        <p:nvSpPr>
          <p:cNvPr id="47" name="Google Shape;47;p10"/>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txBox="1"/>
          <p:nvPr>
            <p:ph hasCustomPrompt="1" type="title"/>
          </p:nvPr>
        </p:nvSpPr>
        <p:spPr>
          <a:xfrm>
            <a:off x="498720" y="1769800"/>
            <a:ext cx="13632900" cy="3141600"/>
          </a:xfrm>
          <a:prstGeom prst="rect">
            <a:avLst/>
          </a:prstGeom>
          <a:noFill/>
          <a:ln>
            <a:noFill/>
          </a:ln>
        </p:spPr>
        <p:txBody>
          <a:bodyPr anchorCtr="0" anchor="b" bIns="146275" lIns="146275" spcFirstLastPara="1" rIns="146275" wrap="square" tIns="146275">
            <a:normAutofit/>
          </a:bodyPr>
          <a:lstStyle>
            <a:lvl1pPr lvl="0" algn="ctr">
              <a:lnSpc>
                <a:spcPct val="100000"/>
              </a:lnSpc>
              <a:spcBef>
                <a:spcPts val="0"/>
              </a:spcBef>
              <a:spcAft>
                <a:spcPts val="0"/>
              </a:spcAft>
              <a:buSzPts val="19200"/>
              <a:buNone/>
              <a:defRPr sz="19200"/>
            </a:lvl1pPr>
            <a:lvl2pPr lvl="1" algn="ctr">
              <a:lnSpc>
                <a:spcPct val="100000"/>
              </a:lnSpc>
              <a:spcBef>
                <a:spcPts val="0"/>
              </a:spcBef>
              <a:spcAft>
                <a:spcPts val="0"/>
              </a:spcAft>
              <a:buSzPts val="19200"/>
              <a:buNone/>
              <a:defRPr sz="19200"/>
            </a:lvl2pPr>
            <a:lvl3pPr lvl="2" algn="ctr">
              <a:lnSpc>
                <a:spcPct val="100000"/>
              </a:lnSpc>
              <a:spcBef>
                <a:spcPts val="0"/>
              </a:spcBef>
              <a:spcAft>
                <a:spcPts val="0"/>
              </a:spcAft>
              <a:buSzPts val="19200"/>
              <a:buNone/>
              <a:defRPr sz="19200"/>
            </a:lvl3pPr>
            <a:lvl4pPr lvl="3" algn="ctr">
              <a:lnSpc>
                <a:spcPct val="100000"/>
              </a:lnSpc>
              <a:spcBef>
                <a:spcPts val="0"/>
              </a:spcBef>
              <a:spcAft>
                <a:spcPts val="0"/>
              </a:spcAft>
              <a:buSzPts val="19200"/>
              <a:buNone/>
              <a:defRPr sz="19200"/>
            </a:lvl4pPr>
            <a:lvl5pPr lvl="4" algn="ctr">
              <a:lnSpc>
                <a:spcPct val="100000"/>
              </a:lnSpc>
              <a:spcBef>
                <a:spcPts val="0"/>
              </a:spcBef>
              <a:spcAft>
                <a:spcPts val="0"/>
              </a:spcAft>
              <a:buSzPts val="19200"/>
              <a:buNone/>
              <a:defRPr sz="19200"/>
            </a:lvl5pPr>
            <a:lvl6pPr lvl="5" algn="ctr">
              <a:lnSpc>
                <a:spcPct val="100000"/>
              </a:lnSpc>
              <a:spcBef>
                <a:spcPts val="0"/>
              </a:spcBef>
              <a:spcAft>
                <a:spcPts val="0"/>
              </a:spcAft>
              <a:buSzPts val="19200"/>
              <a:buNone/>
              <a:defRPr sz="19200"/>
            </a:lvl6pPr>
            <a:lvl7pPr lvl="6" algn="ctr">
              <a:lnSpc>
                <a:spcPct val="100000"/>
              </a:lnSpc>
              <a:spcBef>
                <a:spcPts val="0"/>
              </a:spcBef>
              <a:spcAft>
                <a:spcPts val="0"/>
              </a:spcAft>
              <a:buSzPts val="19200"/>
              <a:buNone/>
              <a:defRPr sz="19200"/>
            </a:lvl7pPr>
            <a:lvl8pPr lvl="7" algn="ctr">
              <a:lnSpc>
                <a:spcPct val="100000"/>
              </a:lnSpc>
              <a:spcBef>
                <a:spcPts val="0"/>
              </a:spcBef>
              <a:spcAft>
                <a:spcPts val="0"/>
              </a:spcAft>
              <a:buSzPts val="19200"/>
              <a:buNone/>
              <a:defRPr sz="19200"/>
            </a:lvl8pPr>
            <a:lvl9pPr lvl="8" algn="ctr">
              <a:lnSpc>
                <a:spcPct val="100000"/>
              </a:lnSpc>
              <a:spcBef>
                <a:spcPts val="0"/>
              </a:spcBef>
              <a:spcAft>
                <a:spcPts val="0"/>
              </a:spcAft>
              <a:buSzPts val="19200"/>
              <a:buNone/>
              <a:defRPr sz="19200"/>
            </a:lvl9pPr>
          </a:lstStyle>
          <a:p>
            <a:r>
              <a:t>xx%</a:t>
            </a:r>
          </a:p>
        </p:txBody>
      </p:sp>
      <p:sp>
        <p:nvSpPr>
          <p:cNvPr id="50" name="Google Shape;50;p11"/>
          <p:cNvSpPr txBox="1"/>
          <p:nvPr>
            <p:ph idx="1" type="body"/>
          </p:nvPr>
        </p:nvSpPr>
        <p:spPr>
          <a:xfrm>
            <a:off x="498720" y="5043560"/>
            <a:ext cx="13632900" cy="2081400"/>
          </a:xfrm>
          <a:prstGeom prst="rect">
            <a:avLst/>
          </a:prstGeom>
          <a:noFill/>
          <a:ln>
            <a:noFill/>
          </a:ln>
        </p:spPr>
        <p:txBody>
          <a:bodyPr anchorCtr="0" anchor="t" bIns="146275" lIns="146275" spcFirstLastPara="1" rIns="146275" wrap="square" tIns="146275">
            <a:normAutofit/>
          </a:bodyPr>
          <a:lstStyle>
            <a:lvl1pPr indent="-412750" lvl="0" marL="457200" algn="ctr">
              <a:lnSpc>
                <a:spcPct val="115000"/>
              </a:lnSpc>
              <a:spcBef>
                <a:spcPts val="0"/>
              </a:spcBef>
              <a:spcAft>
                <a:spcPts val="0"/>
              </a:spcAft>
              <a:buSzPts val="2900"/>
              <a:buChar char="●"/>
              <a:defRPr/>
            </a:lvl1pPr>
            <a:lvl2pPr indent="-368300" lvl="1" marL="914400" algn="ctr">
              <a:lnSpc>
                <a:spcPct val="115000"/>
              </a:lnSpc>
              <a:spcBef>
                <a:spcPts val="0"/>
              </a:spcBef>
              <a:spcAft>
                <a:spcPts val="0"/>
              </a:spcAft>
              <a:buSzPts val="2200"/>
              <a:buChar char="○"/>
              <a:defRPr/>
            </a:lvl2pPr>
            <a:lvl3pPr indent="-368300" lvl="2" marL="1371600" algn="ctr">
              <a:lnSpc>
                <a:spcPct val="115000"/>
              </a:lnSpc>
              <a:spcBef>
                <a:spcPts val="0"/>
              </a:spcBef>
              <a:spcAft>
                <a:spcPts val="0"/>
              </a:spcAft>
              <a:buSzPts val="2200"/>
              <a:buChar char="■"/>
              <a:defRPr/>
            </a:lvl3pPr>
            <a:lvl4pPr indent="-368300" lvl="3" marL="1828800" algn="ctr">
              <a:lnSpc>
                <a:spcPct val="115000"/>
              </a:lnSpc>
              <a:spcBef>
                <a:spcPts val="0"/>
              </a:spcBef>
              <a:spcAft>
                <a:spcPts val="0"/>
              </a:spcAft>
              <a:buSzPts val="2200"/>
              <a:buChar char="●"/>
              <a:defRPr/>
            </a:lvl4pPr>
            <a:lvl5pPr indent="-368300" lvl="4" marL="2286000" algn="ctr">
              <a:lnSpc>
                <a:spcPct val="115000"/>
              </a:lnSpc>
              <a:spcBef>
                <a:spcPts val="0"/>
              </a:spcBef>
              <a:spcAft>
                <a:spcPts val="0"/>
              </a:spcAft>
              <a:buSzPts val="2200"/>
              <a:buChar char="○"/>
              <a:defRPr/>
            </a:lvl5pPr>
            <a:lvl6pPr indent="-368300" lvl="5" marL="2743200" algn="ctr">
              <a:lnSpc>
                <a:spcPct val="115000"/>
              </a:lnSpc>
              <a:spcBef>
                <a:spcPts val="0"/>
              </a:spcBef>
              <a:spcAft>
                <a:spcPts val="0"/>
              </a:spcAft>
              <a:buSzPts val="2200"/>
              <a:buChar char="■"/>
              <a:defRPr/>
            </a:lvl6pPr>
            <a:lvl7pPr indent="-368300" lvl="6" marL="3200400" algn="ctr">
              <a:lnSpc>
                <a:spcPct val="115000"/>
              </a:lnSpc>
              <a:spcBef>
                <a:spcPts val="0"/>
              </a:spcBef>
              <a:spcAft>
                <a:spcPts val="0"/>
              </a:spcAft>
              <a:buSzPts val="2200"/>
              <a:buChar char="●"/>
              <a:defRPr/>
            </a:lvl7pPr>
            <a:lvl8pPr indent="-368300" lvl="7" marL="3657600" algn="ctr">
              <a:lnSpc>
                <a:spcPct val="115000"/>
              </a:lnSpc>
              <a:spcBef>
                <a:spcPts val="0"/>
              </a:spcBef>
              <a:spcAft>
                <a:spcPts val="0"/>
              </a:spcAft>
              <a:buSzPts val="2200"/>
              <a:buChar char="○"/>
              <a:defRPr/>
            </a:lvl8pPr>
            <a:lvl9pPr indent="-368300" lvl="8" marL="4114800" algn="ctr">
              <a:lnSpc>
                <a:spcPct val="115000"/>
              </a:lnSpc>
              <a:spcBef>
                <a:spcPts val="0"/>
              </a:spcBef>
              <a:spcAft>
                <a:spcPts val="0"/>
              </a:spcAft>
              <a:buSzPts val="2200"/>
              <a:buChar char="■"/>
              <a:defRPr/>
            </a:lvl9pPr>
          </a:lstStyle>
          <a:p/>
        </p:txBody>
      </p:sp>
      <p:sp>
        <p:nvSpPr>
          <p:cNvPr id="51" name="Google Shape;51;p11"/>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54" name="Shape 54"/>
        <p:cNvGrpSpPr/>
        <p:nvPr/>
      </p:nvGrpSpPr>
      <p:grpSpPr>
        <a:xfrm>
          <a:off x="0" y="0"/>
          <a:ext cx="0" cy="0"/>
          <a:chOff x="0" y="0"/>
          <a:chExt cx="0" cy="0"/>
        </a:xfrm>
      </p:grpSpPr>
      <p:pic>
        <p:nvPicPr>
          <p:cNvPr descr="preencoded.png" id="55" name="Google Shape;55;p13"/>
          <p:cNvPicPr preferRelativeResize="0"/>
          <p:nvPr/>
        </p:nvPicPr>
        <p:blipFill rotWithShape="1">
          <a:blip r:embed="rId2">
            <a:alphaModFix/>
          </a:blip>
          <a:srcRect b="0" l="0" r="0" t="0"/>
          <a:stretch/>
        </p:blipFill>
        <p:spPr>
          <a:xfrm>
            <a:off x="0" y="0"/>
            <a:ext cx="14630397" cy="8229601"/>
          </a:xfrm>
          <a:prstGeom prst="rect">
            <a:avLst/>
          </a:prstGeom>
          <a:noFill/>
          <a:ln>
            <a:noFill/>
          </a:ln>
        </p:spPr>
      </p:pic>
      <p:sp>
        <p:nvSpPr>
          <p:cNvPr id="56" name="Google Shape;56;p13"/>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7" name="Google Shape;57;p13">
            <a:hlinkClick r:id="rId3"/>
          </p:cNvPr>
          <p:cNvPicPr preferRelativeResize="0"/>
          <p:nvPr/>
        </p:nvPicPr>
        <p:blipFill rotWithShape="1">
          <a:blip r:embed="rId4">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58" name="Shape 58"/>
        <p:cNvGrpSpPr/>
        <p:nvPr/>
      </p:nvGrpSpPr>
      <p:grpSpPr>
        <a:xfrm>
          <a:off x="0" y="0"/>
          <a:ext cx="0" cy="0"/>
          <a:chOff x="0" y="0"/>
          <a:chExt cx="0" cy="0"/>
        </a:xfrm>
      </p:grpSpPr>
      <p:pic>
        <p:nvPicPr>
          <p:cNvPr descr="preencoded.png" id="59" name="Google Shape;59;p14"/>
          <p:cNvPicPr preferRelativeResize="0"/>
          <p:nvPr/>
        </p:nvPicPr>
        <p:blipFill rotWithShape="1">
          <a:blip r:embed="rId2">
            <a:alphaModFix/>
          </a:blip>
          <a:srcRect b="0" l="0" r="0" t="0"/>
          <a:stretch/>
        </p:blipFill>
        <p:spPr>
          <a:xfrm>
            <a:off x="0" y="0"/>
            <a:ext cx="14630397" cy="8229601"/>
          </a:xfrm>
          <a:prstGeom prst="rect">
            <a:avLst/>
          </a:prstGeom>
          <a:noFill/>
          <a:ln>
            <a:noFill/>
          </a:ln>
        </p:spPr>
      </p:pic>
      <p:sp>
        <p:nvSpPr>
          <p:cNvPr id="60" name="Google Shape;60;p14"/>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1" name="Google Shape;61;p14">
            <a:hlinkClick r:id="rId3"/>
          </p:cNvPr>
          <p:cNvPicPr preferRelativeResize="0"/>
          <p:nvPr/>
        </p:nvPicPr>
        <p:blipFill rotWithShape="1">
          <a:blip r:embed="rId4">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62" name="Shape 62"/>
        <p:cNvGrpSpPr/>
        <p:nvPr/>
      </p:nvGrpSpPr>
      <p:grpSpPr>
        <a:xfrm>
          <a:off x="0" y="0"/>
          <a:ext cx="0" cy="0"/>
          <a:chOff x="0" y="0"/>
          <a:chExt cx="0" cy="0"/>
        </a:xfrm>
      </p:grpSpPr>
      <p:pic>
        <p:nvPicPr>
          <p:cNvPr descr="preencoded.png" id="63" name="Google Shape;63;p15"/>
          <p:cNvPicPr preferRelativeResize="0"/>
          <p:nvPr/>
        </p:nvPicPr>
        <p:blipFill rotWithShape="1">
          <a:blip r:embed="rId2">
            <a:alphaModFix/>
          </a:blip>
          <a:srcRect b="0" l="0" r="0" t="0"/>
          <a:stretch/>
        </p:blipFill>
        <p:spPr>
          <a:xfrm>
            <a:off x="0" y="0"/>
            <a:ext cx="14630397" cy="8229601"/>
          </a:xfrm>
          <a:prstGeom prst="rect">
            <a:avLst/>
          </a:prstGeom>
          <a:noFill/>
          <a:ln>
            <a:noFill/>
          </a:ln>
        </p:spPr>
      </p:pic>
      <p:sp>
        <p:nvSpPr>
          <p:cNvPr id="64" name="Google Shape;64;p15"/>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5" name="Google Shape;65;p15">
            <a:hlinkClick r:id="rId3"/>
          </p:cNvPr>
          <p:cNvPicPr preferRelativeResize="0"/>
          <p:nvPr/>
        </p:nvPicPr>
        <p:blipFill rotWithShape="1">
          <a:blip r:embed="rId4">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66" name="Shape 66"/>
        <p:cNvGrpSpPr/>
        <p:nvPr/>
      </p:nvGrpSpPr>
      <p:grpSpPr>
        <a:xfrm>
          <a:off x="0" y="0"/>
          <a:ext cx="0" cy="0"/>
          <a:chOff x="0" y="0"/>
          <a:chExt cx="0" cy="0"/>
        </a:xfrm>
      </p:grpSpPr>
      <p:pic>
        <p:nvPicPr>
          <p:cNvPr descr="preencoded.png" id="67" name="Google Shape;67;p16"/>
          <p:cNvPicPr preferRelativeResize="0"/>
          <p:nvPr/>
        </p:nvPicPr>
        <p:blipFill rotWithShape="1">
          <a:blip r:embed="rId2">
            <a:alphaModFix/>
          </a:blip>
          <a:srcRect b="0" l="0" r="0" t="0"/>
          <a:stretch/>
        </p:blipFill>
        <p:spPr>
          <a:xfrm>
            <a:off x="0" y="0"/>
            <a:ext cx="14630397" cy="8229601"/>
          </a:xfrm>
          <a:prstGeom prst="rect">
            <a:avLst/>
          </a:prstGeom>
          <a:noFill/>
          <a:ln>
            <a:noFill/>
          </a:ln>
        </p:spPr>
      </p:pic>
      <p:sp>
        <p:nvSpPr>
          <p:cNvPr id="68" name="Google Shape;68;p16"/>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9" name="Google Shape;69;p16">
            <a:hlinkClick r:id="rId3"/>
          </p:cNvPr>
          <p:cNvPicPr preferRelativeResize="0"/>
          <p:nvPr/>
        </p:nvPicPr>
        <p:blipFill rotWithShape="1">
          <a:blip r:embed="rId4">
            <a:alphaModFix/>
          </a:blip>
          <a:srcRect b="0" l="0" r="0" t="0"/>
          <a:stretch/>
        </p:blipFill>
        <p:spPr>
          <a:xfrm>
            <a:off x="12839215" y="7749540"/>
            <a:ext cx="1722604" cy="41148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70" name="Shape 70"/>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72" name="Shape 7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98720" y="712040"/>
            <a:ext cx="13632900" cy="916200"/>
          </a:xfrm>
          <a:prstGeom prst="rect">
            <a:avLst/>
          </a:prstGeom>
          <a:noFill/>
          <a:ln>
            <a:noFill/>
          </a:ln>
        </p:spPr>
        <p:txBody>
          <a:bodyPr anchorCtr="0" anchor="t" bIns="146275" lIns="146275" spcFirstLastPara="1" rIns="146275" wrap="square" tIns="146275">
            <a:normAutofit/>
          </a:bodyPr>
          <a:lstStyle>
            <a:lvl1pPr lvl="0" marR="0" rtl="0" algn="l">
              <a:lnSpc>
                <a:spcPct val="100000"/>
              </a:lnSpc>
              <a:spcBef>
                <a:spcPts val="0"/>
              </a:spcBef>
              <a:spcAft>
                <a:spcPts val="0"/>
              </a:spcAft>
              <a:buClr>
                <a:schemeClr val="dk1"/>
              </a:buClr>
              <a:buSzPts val="4500"/>
              <a:buFont typeface="Arial"/>
              <a:buNone/>
              <a:defRPr b="0" i="0" sz="45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4500"/>
              <a:buFont typeface="Arial"/>
              <a:buNone/>
              <a:defRPr b="0" i="0" sz="45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4500"/>
              <a:buFont typeface="Arial"/>
              <a:buNone/>
              <a:defRPr b="0" i="0" sz="45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4500"/>
              <a:buFont typeface="Arial"/>
              <a:buNone/>
              <a:defRPr b="0" i="0" sz="45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4500"/>
              <a:buFont typeface="Arial"/>
              <a:buNone/>
              <a:defRPr b="0" i="0" sz="45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4500"/>
              <a:buFont typeface="Arial"/>
              <a:buNone/>
              <a:defRPr b="0" i="0" sz="45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4500"/>
              <a:buFont typeface="Arial"/>
              <a:buNone/>
              <a:defRPr b="0" i="0" sz="45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4500"/>
              <a:buFont typeface="Arial"/>
              <a:buNone/>
              <a:defRPr b="0" i="0" sz="45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4500"/>
              <a:buFont typeface="Arial"/>
              <a:buNone/>
              <a:defRPr b="0" i="0" sz="4500" u="none" cap="none" strike="noStrike">
                <a:solidFill>
                  <a:schemeClr val="dk1"/>
                </a:solidFill>
                <a:latin typeface="Arial"/>
                <a:ea typeface="Arial"/>
                <a:cs typeface="Arial"/>
                <a:sym typeface="Arial"/>
              </a:defRPr>
            </a:lvl9pPr>
          </a:lstStyle>
          <a:p/>
        </p:txBody>
      </p:sp>
      <p:sp>
        <p:nvSpPr>
          <p:cNvPr id="11" name="Google Shape;11;p1"/>
          <p:cNvSpPr txBox="1"/>
          <p:nvPr>
            <p:ph idx="1" type="body"/>
          </p:nvPr>
        </p:nvSpPr>
        <p:spPr>
          <a:xfrm>
            <a:off x="498720" y="1843960"/>
            <a:ext cx="13632900" cy="5466300"/>
          </a:xfrm>
          <a:prstGeom prst="rect">
            <a:avLst/>
          </a:prstGeom>
          <a:noFill/>
          <a:ln>
            <a:noFill/>
          </a:ln>
        </p:spPr>
        <p:txBody>
          <a:bodyPr anchorCtr="0" anchor="t" bIns="146275" lIns="146275" spcFirstLastPara="1" rIns="146275" wrap="square" tIns="146275">
            <a:normAutofit/>
          </a:bodyPr>
          <a:lstStyle>
            <a:lvl1pPr indent="-412750" lvl="0" marL="457200" marR="0" rtl="0" algn="l">
              <a:lnSpc>
                <a:spcPct val="115000"/>
              </a:lnSpc>
              <a:spcBef>
                <a:spcPts val="0"/>
              </a:spcBef>
              <a:spcAft>
                <a:spcPts val="0"/>
              </a:spcAft>
              <a:buClr>
                <a:schemeClr val="dk2"/>
              </a:buClr>
              <a:buSzPts val="2900"/>
              <a:buFont typeface="Arial"/>
              <a:buChar char="●"/>
              <a:defRPr b="0" i="0" sz="2900" u="none" cap="none" strike="noStrike">
                <a:solidFill>
                  <a:schemeClr val="dk2"/>
                </a:solidFill>
                <a:latin typeface="Arial"/>
                <a:ea typeface="Arial"/>
                <a:cs typeface="Arial"/>
                <a:sym typeface="Arial"/>
              </a:defRPr>
            </a:lvl1pPr>
            <a:lvl2pPr indent="-368300" lvl="1" marL="914400" marR="0" rtl="0" algn="l">
              <a:lnSpc>
                <a:spcPct val="115000"/>
              </a:lnSpc>
              <a:spcBef>
                <a:spcPts val="0"/>
              </a:spcBef>
              <a:spcAft>
                <a:spcPts val="0"/>
              </a:spcAft>
              <a:buClr>
                <a:schemeClr val="dk2"/>
              </a:buClr>
              <a:buSzPts val="2200"/>
              <a:buFont typeface="Arial"/>
              <a:buChar char="○"/>
              <a:defRPr b="0" i="0" sz="2200" u="none" cap="none" strike="noStrike">
                <a:solidFill>
                  <a:schemeClr val="dk2"/>
                </a:solidFill>
                <a:latin typeface="Arial"/>
                <a:ea typeface="Arial"/>
                <a:cs typeface="Arial"/>
                <a:sym typeface="Arial"/>
              </a:defRPr>
            </a:lvl2pPr>
            <a:lvl3pPr indent="-368300" lvl="2" marL="1371600" marR="0" rtl="0" algn="l">
              <a:lnSpc>
                <a:spcPct val="115000"/>
              </a:lnSpc>
              <a:spcBef>
                <a:spcPts val="0"/>
              </a:spcBef>
              <a:spcAft>
                <a:spcPts val="0"/>
              </a:spcAft>
              <a:buClr>
                <a:schemeClr val="dk2"/>
              </a:buClr>
              <a:buSzPts val="2200"/>
              <a:buFont typeface="Arial"/>
              <a:buChar char="■"/>
              <a:defRPr b="0" i="0" sz="2200" u="none" cap="none" strike="noStrike">
                <a:solidFill>
                  <a:schemeClr val="dk2"/>
                </a:solidFill>
                <a:latin typeface="Arial"/>
                <a:ea typeface="Arial"/>
                <a:cs typeface="Arial"/>
                <a:sym typeface="Arial"/>
              </a:defRPr>
            </a:lvl3pPr>
            <a:lvl4pPr indent="-368300" lvl="3" marL="1828800" marR="0" rtl="0" algn="l">
              <a:lnSpc>
                <a:spcPct val="115000"/>
              </a:lnSpc>
              <a:spcBef>
                <a:spcPts val="0"/>
              </a:spcBef>
              <a:spcAft>
                <a:spcPts val="0"/>
              </a:spcAft>
              <a:buClr>
                <a:schemeClr val="dk2"/>
              </a:buClr>
              <a:buSzPts val="2200"/>
              <a:buFont typeface="Arial"/>
              <a:buChar char="●"/>
              <a:defRPr b="0" i="0" sz="2200" u="none" cap="none" strike="noStrike">
                <a:solidFill>
                  <a:schemeClr val="dk2"/>
                </a:solidFill>
                <a:latin typeface="Arial"/>
                <a:ea typeface="Arial"/>
                <a:cs typeface="Arial"/>
                <a:sym typeface="Arial"/>
              </a:defRPr>
            </a:lvl4pPr>
            <a:lvl5pPr indent="-368300" lvl="4" marL="2286000" marR="0" rtl="0" algn="l">
              <a:lnSpc>
                <a:spcPct val="115000"/>
              </a:lnSpc>
              <a:spcBef>
                <a:spcPts val="0"/>
              </a:spcBef>
              <a:spcAft>
                <a:spcPts val="0"/>
              </a:spcAft>
              <a:buClr>
                <a:schemeClr val="dk2"/>
              </a:buClr>
              <a:buSzPts val="2200"/>
              <a:buFont typeface="Arial"/>
              <a:buChar char="○"/>
              <a:defRPr b="0" i="0" sz="2200" u="none" cap="none" strike="noStrike">
                <a:solidFill>
                  <a:schemeClr val="dk2"/>
                </a:solidFill>
                <a:latin typeface="Arial"/>
                <a:ea typeface="Arial"/>
                <a:cs typeface="Arial"/>
                <a:sym typeface="Arial"/>
              </a:defRPr>
            </a:lvl5pPr>
            <a:lvl6pPr indent="-368300" lvl="5" marL="2743200" marR="0" rtl="0" algn="l">
              <a:lnSpc>
                <a:spcPct val="115000"/>
              </a:lnSpc>
              <a:spcBef>
                <a:spcPts val="0"/>
              </a:spcBef>
              <a:spcAft>
                <a:spcPts val="0"/>
              </a:spcAft>
              <a:buClr>
                <a:schemeClr val="dk2"/>
              </a:buClr>
              <a:buSzPts val="2200"/>
              <a:buFont typeface="Arial"/>
              <a:buChar char="■"/>
              <a:defRPr b="0" i="0" sz="2200" u="none" cap="none" strike="noStrike">
                <a:solidFill>
                  <a:schemeClr val="dk2"/>
                </a:solidFill>
                <a:latin typeface="Arial"/>
                <a:ea typeface="Arial"/>
                <a:cs typeface="Arial"/>
                <a:sym typeface="Arial"/>
              </a:defRPr>
            </a:lvl6pPr>
            <a:lvl7pPr indent="-368300" lvl="6" marL="3200400" marR="0" rtl="0" algn="l">
              <a:lnSpc>
                <a:spcPct val="115000"/>
              </a:lnSpc>
              <a:spcBef>
                <a:spcPts val="0"/>
              </a:spcBef>
              <a:spcAft>
                <a:spcPts val="0"/>
              </a:spcAft>
              <a:buClr>
                <a:schemeClr val="dk2"/>
              </a:buClr>
              <a:buSzPts val="2200"/>
              <a:buFont typeface="Arial"/>
              <a:buChar char="●"/>
              <a:defRPr b="0" i="0" sz="2200" u="none" cap="none" strike="noStrike">
                <a:solidFill>
                  <a:schemeClr val="dk2"/>
                </a:solidFill>
                <a:latin typeface="Arial"/>
                <a:ea typeface="Arial"/>
                <a:cs typeface="Arial"/>
                <a:sym typeface="Arial"/>
              </a:defRPr>
            </a:lvl7pPr>
            <a:lvl8pPr indent="-368300" lvl="7" marL="3657600" marR="0" rtl="0" algn="l">
              <a:lnSpc>
                <a:spcPct val="115000"/>
              </a:lnSpc>
              <a:spcBef>
                <a:spcPts val="0"/>
              </a:spcBef>
              <a:spcAft>
                <a:spcPts val="0"/>
              </a:spcAft>
              <a:buClr>
                <a:schemeClr val="dk2"/>
              </a:buClr>
              <a:buSzPts val="2200"/>
              <a:buFont typeface="Arial"/>
              <a:buChar char="○"/>
              <a:defRPr b="0" i="0" sz="2200" u="none" cap="none" strike="noStrike">
                <a:solidFill>
                  <a:schemeClr val="dk2"/>
                </a:solidFill>
                <a:latin typeface="Arial"/>
                <a:ea typeface="Arial"/>
                <a:cs typeface="Arial"/>
                <a:sym typeface="Arial"/>
              </a:defRPr>
            </a:lvl8pPr>
            <a:lvl9pPr indent="-368300" lvl="8" marL="4114800" marR="0" rtl="0" algn="l">
              <a:lnSpc>
                <a:spcPct val="115000"/>
              </a:lnSpc>
              <a:spcBef>
                <a:spcPts val="0"/>
              </a:spcBef>
              <a:spcAft>
                <a:spcPts val="0"/>
              </a:spcAft>
              <a:buClr>
                <a:schemeClr val="dk2"/>
              </a:buClr>
              <a:buSzPts val="2200"/>
              <a:buFont typeface="Arial"/>
              <a:buChar char="■"/>
              <a:defRPr b="0" i="0" sz="2200" u="none" cap="none" strike="noStrike">
                <a:solidFill>
                  <a:schemeClr val="dk2"/>
                </a:solidFill>
                <a:latin typeface="Arial"/>
                <a:ea typeface="Arial"/>
                <a:cs typeface="Arial"/>
                <a:sym typeface="Arial"/>
              </a:defRPr>
            </a:lvl9pPr>
          </a:lstStyle>
          <a:p/>
        </p:txBody>
      </p:sp>
      <p:sp>
        <p:nvSpPr>
          <p:cNvPr id="12" name="Google Shape;12;p1"/>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rtl="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4"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20"/>
          <p:cNvSpPr txBox="1"/>
          <p:nvPr/>
        </p:nvSpPr>
        <p:spPr>
          <a:xfrm>
            <a:off x="1114225" y="822954"/>
            <a:ext cx="12556200" cy="985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2900" u="none" cap="none" strike="noStrike">
                <a:solidFill>
                  <a:srgbClr val="141414"/>
                </a:solidFill>
                <a:latin typeface="Montserrat"/>
                <a:ea typeface="Montserrat"/>
                <a:cs typeface="Montserrat"/>
                <a:sym typeface="Montserrat"/>
              </a:rPr>
              <a:t>Adaptive Evidence-Aware Retrieval and Verification Framework for Reliable Medical Question Answering</a:t>
            </a:r>
            <a:endParaRPr/>
          </a:p>
        </p:txBody>
      </p:sp>
      <p:sp>
        <p:nvSpPr>
          <p:cNvPr id="78" name="Google Shape;78;p20"/>
          <p:cNvSpPr txBox="1"/>
          <p:nvPr/>
        </p:nvSpPr>
        <p:spPr>
          <a:xfrm>
            <a:off x="3657600" y="3931920"/>
            <a:ext cx="73152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700" u="none" cap="none" strike="noStrike">
                <a:solidFill>
                  <a:srgbClr val="141414"/>
                </a:solidFill>
                <a:latin typeface="Inter"/>
                <a:ea typeface="Inter"/>
                <a:cs typeface="Inter"/>
                <a:sym typeface="Inter"/>
              </a:rPr>
              <a:t>Guided </a:t>
            </a:r>
            <a:r>
              <a:rPr b="1" lang="en-US" sz="1700">
                <a:solidFill>
                  <a:srgbClr val="141414"/>
                </a:solidFill>
                <a:latin typeface="Inter"/>
                <a:ea typeface="Inter"/>
                <a:cs typeface="Inter"/>
                <a:sym typeface="Inter"/>
              </a:rPr>
              <a:t>By</a:t>
            </a:r>
            <a:r>
              <a:rPr b="1" i="0" lang="en-US" sz="1700" u="none" cap="none" strike="noStrike">
                <a:solidFill>
                  <a:srgbClr val="141414"/>
                </a:solidFill>
                <a:latin typeface="Inter"/>
                <a:ea typeface="Inter"/>
                <a:cs typeface="Inter"/>
                <a:sym typeface="Inter"/>
              </a:rPr>
              <a:t>: Dr. </a:t>
            </a:r>
            <a:r>
              <a:rPr b="1" lang="en-US" sz="1700">
                <a:solidFill>
                  <a:srgbClr val="141414"/>
                </a:solidFill>
                <a:latin typeface="Inter"/>
                <a:ea typeface="Inter"/>
                <a:cs typeface="Inter"/>
                <a:sym typeface="Inter"/>
              </a:rPr>
              <a:t>Pooja Jain</a:t>
            </a:r>
            <a:endParaRPr/>
          </a:p>
        </p:txBody>
      </p:sp>
      <p:sp>
        <p:nvSpPr>
          <p:cNvPr id="79" name="Google Shape;79;p20"/>
          <p:cNvSpPr txBox="1"/>
          <p:nvPr/>
        </p:nvSpPr>
        <p:spPr>
          <a:xfrm>
            <a:off x="14218920" y="7818120"/>
            <a:ext cx="256032" cy="2560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b="0" i="0" lang="en-US" sz="1000" u="none" cap="none" strike="noStrike">
                <a:solidFill>
                  <a:srgbClr val="141414"/>
                </a:solidFill>
                <a:latin typeface="Inter"/>
                <a:ea typeface="Inter"/>
                <a:cs typeface="Inter"/>
                <a:sym typeface="Inter"/>
              </a:rPr>
              <a:t>1</a:t>
            </a:r>
            <a:endParaRPr/>
          </a:p>
        </p:txBody>
      </p:sp>
      <p:sp>
        <p:nvSpPr>
          <p:cNvPr id="80" name="Google Shape;80;p20"/>
          <p:cNvSpPr/>
          <p:nvPr/>
        </p:nvSpPr>
        <p:spPr>
          <a:xfrm>
            <a:off x="3432463" y="2263871"/>
            <a:ext cx="7556400" cy="1324500"/>
          </a:xfrm>
          <a:prstGeom prst="rect">
            <a:avLst/>
          </a:prstGeom>
          <a:noFill/>
          <a:ln>
            <a:noFill/>
          </a:ln>
        </p:spPr>
        <p:txBody>
          <a:bodyPr anchorCtr="0" anchor="t" bIns="0" lIns="0" spcFirstLastPara="1" rIns="0" wrap="square" tIns="0">
            <a:noAutofit/>
          </a:bodyPr>
          <a:lstStyle/>
          <a:p>
            <a:pPr indent="0" lvl="0" marL="0" marR="0" rtl="0" algn="ctr">
              <a:lnSpc>
                <a:spcPct val="162857"/>
              </a:lnSpc>
              <a:spcBef>
                <a:spcPts val="0"/>
              </a:spcBef>
              <a:spcAft>
                <a:spcPts val="0"/>
              </a:spcAft>
              <a:buClr>
                <a:srgbClr val="3D3E44"/>
              </a:buClr>
              <a:buSzPts val="1750"/>
              <a:buFont typeface="Inter Light"/>
              <a:buNone/>
            </a:pPr>
            <a:r>
              <a:rPr b="1" i="0" lang="en-US" sz="1750" u="none" cap="none" strike="noStrike">
                <a:solidFill>
                  <a:srgbClr val="000000"/>
                </a:solidFill>
                <a:latin typeface="Inter"/>
                <a:ea typeface="Inter"/>
                <a:cs typeface="Inter"/>
                <a:sym typeface="Inter"/>
              </a:rPr>
              <a:t>Vivek Yadav</a:t>
            </a:r>
            <a:r>
              <a:rPr b="0" i="0" lang="en-US" sz="1750" u="none" cap="none" strike="noStrike">
                <a:solidFill>
                  <a:srgbClr val="000000"/>
                </a:solidFill>
                <a:latin typeface="Inter Light"/>
                <a:ea typeface="Inter Light"/>
                <a:cs typeface="Inter Light"/>
                <a:sym typeface="Inter Light"/>
              </a:rPr>
              <a:t> </a:t>
            </a:r>
            <a:r>
              <a:rPr lang="en-US" sz="1750">
                <a:solidFill>
                  <a:srgbClr val="000000"/>
                </a:solidFill>
                <a:latin typeface="Inter Light"/>
                <a:ea typeface="Inter Light"/>
                <a:cs typeface="Inter Light"/>
                <a:sym typeface="Inter Light"/>
              </a:rPr>
              <a:t>(</a:t>
            </a:r>
            <a:r>
              <a:rPr b="0" i="0" lang="en-US" sz="1750" u="none" cap="none" strike="noStrike">
                <a:solidFill>
                  <a:srgbClr val="000000"/>
                </a:solidFill>
                <a:latin typeface="Inter Light"/>
                <a:ea typeface="Inter Light"/>
                <a:cs typeface="Inter Light"/>
                <a:sym typeface="Inter Light"/>
              </a:rPr>
              <a:t>BT23CSA035</a:t>
            </a:r>
            <a:r>
              <a:rPr lang="en-US" sz="1750">
                <a:solidFill>
                  <a:srgbClr val="000000"/>
                </a:solidFill>
                <a:latin typeface="Inter Light"/>
                <a:ea typeface="Inter Light"/>
                <a:cs typeface="Inter Light"/>
                <a:sym typeface="Inter Light"/>
              </a:rPr>
              <a:t>)</a:t>
            </a:r>
            <a:endParaRPr sz="1750">
              <a:solidFill>
                <a:srgbClr val="000000"/>
              </a:solidFill>
              <a:latin typeface="Inter Light"/>
              <a:ea typeface="Inter Light"/>
              <a:cs typeface="Inter Light"/>
              <a:sym typeface="Inter Light"/>
            </a:endParaRPr>
          </a:p>
          <a:p>
            <a:pPr indent="0" lvl="0" marL="0" marR="0" rtl="0" algn="ctr">
              <a:lnSpc>
                <a:spcPct val="162857"/>
              </a:lnSpc>
              <a:spcBef>
                <a:spcPts val="0"/>
              </a:spcBef>
              <a:spcAft>
                <a:spcPts val="0"/>
              </a:spcAft>
              <a:buClr>
                <a:srgbClr val="3D3E44"/>
              </a:buClr>
              <a:buSzPts val="1750"/>
              <a:buFont typeface="Inter Light"/>
              <a:buNone/>
            </a:pPr>
            <a:r>
              <a:rPr b="0" i="0" lang="en-US" sz="1750" u="none" cap="none" strike="noStrike">
                <a:solidFill>
                  <a:srgbClr val="000000"/>
                </a:solidFill>
                <a:latin typeface="Inter Light"/>
                <a:ea typeface="Inter Light"/>
                <a:cs typeface="Inter Light"/>
                <a:sym typeface="Inter Light"/>
              </a:rPr>
              <a:t> </a:t>
            </a:r>
            <a:r>
              <a:rPr b="1" i="0" lang="en-US" sz="1750" u="none" cap="none" strike="noStrike">
                <a:solidFill>
                  <a:srgbClr val="000000"/>
                </a:solidFill>
                <a:latin typeface="Inter"/>
                <a:ea typeface="Inter"/>
                <a:cs typeface="Inter"/>
                <a:sym typeface="Inter"/>
              </a:rPr>
              <a:t> Jayant Dhaka</a:t>
            </a:r>
            <a:r>
              <a:rPr b="0" i="0" lang="en-US" sz="1750" u="none" cap="none" strike="noStrike">
                <a:solidFill>
                  <a:srgbClr val="000000"/>
                </a:solidFill>
                <a:latin typeface="Inter Light"/>
                <a:ea typeface="Inter Light"/>
                <a:cs typeface="Inter Light"/>
                <a:sym typeface="Inter Light"/>
              </a:rPr>
              <a:t> </a:t>
            </a:r>
            <a:r>
              <a:rPr lang="en-US" sz="1750">
                <a:solidFill>
                  <a:srgbClr val="000000"/>
                </a:solidFill>
                <a:latin typeface="Inter Light"/>
                <a:ea typeface="Inter Light"/>
                <a:cs typeface="Inter Light"/>
                <a:sym typeface="Inter Light"/>
              </a:rPr>
              <a:t>(</a:t>
            </a:r>
            <a:r>
              <a:rPr b="0" i="0" lang="en-US" sz="1750" u="none" cap="none" strike="noStrike">
                <a:solidFill>
                  <a:srgbClr val="000000"/>
                </a:solidFill>
                <a:latin typeface="Inter Light"/>
                <a:ea typeface="Inter Light"/>
                <a:cs typeface="Inter Light"/>
                <a:sym typeface="Inter Light"/>
              </a:rPr>
              <a:t>BT23CSA045</a:t>
            </a:r>
            <a:r>
              <a:rPr lang="en-US" sz="1750">
                <a:solidFill>
                  <a:srgbClr val="000000"/>
                </a:solidFill>
                <a:latin typeface="Inter Light"/>
                <a:ea typeface="Inter Light"/>
                <a:cs typeface="Inter Light"/>
                <a:sym typeface="Inter Light"/>
              </a:rPr>
              <a:t>)</a:t>
            </a:r>
            <a:r>
              <a:rPr b="0" i="0" lang="en-US" sz="1750" u="none" cap="none" strike="noStrike">
                <a:solidFill>
                  <a:srgbClr val="000000"/>
                </a:solidFill>
                <a:latin typeface="Inter Light"/>
                <a:ea typeface="Inter Light"/>
                <a:cs typeface="Inter Light"/>
                <a:sym typeface="Inter Light"/>
              </a:rPr>
              <a:t>  </a:t>
            </a:r>
            <a:endParaRPr>
              <a:solidFill>
                <a:srgbClr val="000000"/>
              </a:solidFill>
            </a:endParaRPr>
          </a:p>
          <a:p>
            <a:pPr indent="0" lvl="0" marL="0" marR="0" rtl="0" algn="ctr">
              <a:lnSpc>
                <a:spcPct val="162857"/>
              </a:lnSpc>
              <a:spcBef>
                <a:spcPts val="0"/>
              </a:spcBef>
              <a:spcAft>
                <a:spcPts val="0"/>
              </a:spcAft>
              <a:buClr>
                <a:srgbClr val="3D3E44"/>
              </a:buClr>
              <a:buSzPts val="1750"/>
              <a:buFont typeface="Inter Light"/>
              <a:buNone/>
            </a:pPr>
            <a:r>
              <a:rPr b="1" i="0" lang="en-US" sz="1750" u="none" cap="none" strike="noStrike">
                <a:solidFill>
                  <a:srgbClr val="000000"/>
                </a:solidFill>
                <a:latin typeface="Inter"/>
                <a:ea typeface="Inter"/>
                <a:cs typeface="Inter"/>
                <a:sym typeface="Inter"/>
              </a:rPr>
              <a:t>Ojaswa Awasthi</a:t>
            </a:r>
            <a:r>
              <a:rPr b="0" i="0" lang="en-US" sz="1750" u="none" cap="none" strike="noStrike">
                <a:solidFill>
                  <a:srgbClr val="000000"/>
                </a:solidFill>
                <a:latin typeface="Inter Light"/>
                <a:ea typeface="Inter Light"/>
                <a:cs typeface="Inter Light"/>
                <a:sym typeface="Inter Light"/>
              </a:rPr>
              <a:t> </a:t>
            </a:r>
            <a:r>
              <a:rPr lang="en-US" sz="1750">
                <a:solidFill>
                  <a:srgbClr val="000000"/>
                </a:solidFill>
                <a:latin typeface="Inter Light"/>
                <a:ea typeface="Inter Light"/>
                <a:cs typeface="Inter Light"/>
                <a:sym typeface="Inter Light"/>
              </a:rPr>
              <a:t>(</a:t>
            </a:r>
            <a:r>
              <a:rPr b="0" i="0" lang="en-US" sz="1750" u="none" cap="none" strike="noStrike">
                <a:solidFill>
                  <a:srgbClr val="000000"/>
                </a:solidFill>
                <a:latin typeface="Inter Light"/>
                <a:ea typeface="Inter Light"/>
                <a:cs typeface="Inter Light"/>
                <a:sym typeface="Inter Light"/>
              </a:rPr>
              <a:t>BT23CSA060</a:t>
            </a:r>
            <a:r>
              <a:rPr lang="en-US" sz="1750">
                <a:solidFill>
                  <a:srgbClr val="000000"/>
                </a:solidFill>
                <a:latin typeface="Inter Light"/>
                <a:ea typeface="Inter Light"/>
                <a:cs typeface="Inter Light"/>
                <a:sym typeface="Inter Light"/>
              </a:rPr>
              <a:t>)</a:t>
            </a:r>
            <a:endParaRPr b="0" i="0" sz="1750" u="none" cap="none" strike="noStrike">
              <a:solidFill>
                <a:srgbClr val="000000"/>
              </a:solidFill>
              <a:latin typeface="Calibri"/>
              <a:ea typeface="Calibri"/>
              <a:cs typeface="Calibri"/>
              <a:sym typeface="Calibri"/>
            </a:endParaRPr>
          </a:p>
        </p:txBody>
      </p:sp>
      <p:sp>
        <p:nvSpPr>
          <p:cNvPr id="81" name="Google Shape;81;p20"/>
          <p:cNvSpPr/>
          <p:nvPr/>
        </p:nvSpPr>
        <p:spPr>
          <a:xfrm>
            <a:off x="3536989" y="7109010"/>
            <a:ext cx="7556400" cy="363000"/>
          </a:xfrm>
          <a:prstGeom prst="rect">
            <a:avLst/>
          </a:prstGeom>
          <a:noFill/>
          <a:ln>
            <a:noFill/>
          </a:ln>
        </p:spPr>
        <p:txBody>
          <a:bodyPr anchorCtr="0" anchor="t" bIns="0" lIns="0" spcFirstLastPara="1" rIns="0" wrap="square" tIns="0">
            <a:noAutofit/>
          </a:bodyPr>
          <a:lstStyle/>
          <a:p>
            <a:pPr indent="0" lvl="0" marL="0" marR="0" rtl="0" algn="ctr">
              <a:lnSpc>
                <a:spcPct val="162857"/>
              </a:lnSpc>
              <a:spcBef>
                <a:spcPts val="0"/>
              </a:spcBef>
              <a:spcAft>
                <a:spcPts val="0"/>
              </a:spcAft>
              <a:buClr>
                <a:srgbClr val="3D3E44"/>
              </a:buClr>
              <a:buSzPts val="1750"/>
              <a:buFont typeface="Inter Light"/>
              <a:buNone/>
            </a:pPr>
            <a:r>
              <a:rPr b="0" i="0" lang="en-US" sz="1750" u="none" cap="none" strike="noStrike">
                <a:solidFill>
                  <a:srgbClr val="000000"/>
                </a:solidFill>
                <a:latin typeface="Inter Light"/>
                <a:ea typeface="Inter Light"/>
                <a:cs typeface="Inter Light"/>
                <a:sym typeface="Inter Light"/>
              </a:rPr>
              <a:t>Indian Institute of Information Technology, Nagpur</a:t>
            </a:r>
            <a:endParaRPr b="0" i="0" sz="1750" u="none" cap="none" strike="noStrike">
              <a:solidFill>
                <a:srgbClr val="000000"/>
              </a:solidFill>
              <a:latin typeface="Calibri"/>
              <a:ea typeface="Calibri"/>
              <a:cs typeface="Calibri"/>
              <a:sym typeface="Calibri"/>
            </a:endParaRPr>
          </a:p>
        </p:txBody>
      </p:sp>
      <p:pic>
        <p:nvPicPr>
          <p:cNvPr id="82" name="Google Shape;82;p20" title="logo-VnXGAucH.png"/>
          <p:cNvPicPr preferRelativeResize="0"/>
          <p:nvPr/>
        </p:nvPicPr>
        <p:blipFill>
          <a:blip r:embed="rId3">
            <a:alphaModFix/>
          </a:blip>
          <a:stretch>
            <a:fillRect/>
          </a:stretch>
        </p:blipFill>
        <p:spPr>
          <a:xfrm>
            <a:off x="6453896" y="4869925"/>
            <a:ext cx="1876854" cy="18768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21"/>
          <p:cNvSpPr/>
          <p:nvPr/>
        </p:nvSpPr>
        <p:spPr>
          <a:xfrm>
            <a:off x="0" y="0"/>
            <a:ext cx="14630400" cy="1810512"/>
          </a:xfrm>
          <a:prstGeom prst="rect">
            <a:avLst/>
          </a:prstGeom>
          <a:solidFill>
            <a:srgbClr val="6E9DE1"/>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8" name="Google Shape;88;p21"/>
          <p:cNvSpPr txBox="1"/>
          <p:nvPr/>
        </p:nvSpPr>
        <p:spPr>
          <a:xfrm>
            <a:off x="146304" y="228600"/>
            <a:ext cx="13944600" cy="132588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0" i="0" lang="en-US" sz="3400" u="none" cap="none" strike="noStrike">
                <a:solidFill>
                  <a:srgbClr val="FFFFFF"/>
                </a:solidFill>
                <a:latin typeface="Inter"/>
                <a:ea typeface="Inter"/>
                <a:cs typeface="Inter"/>
                <a:sym typeface="Inter"/>
              </a:rPr>
              <a:t>Timeline</a:t>
            </a:r>
            <a:endParaRPr/>
          </a:p>
        </p:txBody>
      </p:sp>
      <p:sp>
        <p:nvSpPr>
          <p:cNvPr id="89" name="Google Shape;89;p21"/>
          <p:cNvSpPr txBox="1"/>
          <p:nvPr/>
        </p:nvSpPr>
        <p:spPr>
          <a:xfrm>
            <a:off x="14100048" y="7726679"/>
            <a:ext cx="301800" cy="2463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lang="en-US" sz="1000">
                <a:solidFill>
                  <a:srgbClr val="141414"/>
                </a:solidFill>
                <a:latin typeface="Inter"/>
                <a:ea typeface="Inter"/>
                <a:cs typeface="Inter"/>
                <a:sym typeface="Inter"/>
              </a:rPr>
              <a:t>2</a:t>
            </a:r>
            <a:endParaRPr/>
          </a:p>
        </p:txBody>
      </p:sp>
      <p:sp>
        <p:nvSpPr>
          <p:cNvPr id="90" name="Google Shape;90;p21"/>
          <p:cNvSpPr/>
          <p:nvPr/>
        </p:nvSpPr>
        <p:spPr>
          <a:xfrm>
            <a:off x="685800" y="4315968"/>
            <a:ext cx="13487400" cy="219456"/>
          </a:xfrm>
          <a:prstGeom prst="rect">
            <a:avLst/>
          </a:prstGeom>
          <a:solidFill>
            <a:srgbClr val="23915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1" name="Google Shape;91;p21"/>
          <p:cNvSpPr/>
          <p:nvPr/>
        </p:nvSpPr>
        <p:spPr>
          <a:xfrm>
            <a:off x="914400" y="4261104"/>
            <a:ext cx="292608" cy="292608"/>
          </a:xfrm>
          <a:prstGeom prst="ellipse">
            <a:avLst/>
          </a:prstGeom>
          <a:solidFill>
            <a:srgbClr val="14141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 name="Google Shape;92;p21"/>
          <p:cNvSpPr txBox="1"/>
          <p:nvPr/>
        </p:nvSpPr>
        <p:spPr>
          <a:xfrm>
            <a:off x="749808" y="3675887"/>
            <a:ext cx="1371600" cy="292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lang="en-US" sz="1300">
                <a:solidFill>
                  <a:srgbClr val="141414"/>
                </a:solidFill>
                <a:latin typeface="Inter"/>
                <a:ea typeface="Inter"/>
                <a:cs typeface="Inter"/>
                <a:sym typeface="Inter"/>
              </a:rPr>
              <a:t>25</a:t>
            </a:r>
            <a:r>
              <a:rPr b="1" i="0" lang="en-US" sz="1300" u="none" cap="none" strike="noStrike">
                <a:solidFill>
                  <a:srgbClr val="141414"/>
                </a:solidFill>
                <a:latin typeface="Inter"/>
                <a:ea typeface="Inter"/>
                <a:cs typeface="Inter"/>
                <a:sym typeface="Inter"/>
              </a:rPr>
              <a:t>th </a:t>
            </a:r>
            <a:r>
              <a:rPr b="1" lang="en-US" sz="1300">
                <a:solidFill>
                  <a:srgbClr val="141414"/>
                </a:solidFill>
                <a:latin typeface="Inter"/>
                <a:ea typeface="Inter"/>
                <a:cs typeface="Inter"/>
                <a:sym typeface="Inter"/>
              </a:rPr>
              <a:t>Aug</a:t>
            </a:r>
            <a:endParaRPr/>
          </a:p>
        </p:txBody>
      </p:sp>
      <p:sp>
        <p:nvSpPr>
          <p:cNvPr id="93" name="Google Shape;93;p21"/>
          <p:cNvSpPr txBox="1"/>
          <p:nvPr/>
        </p:nvSpPr>
        <p:spPr>
          <a:xfrm>
            <a:off x="749808" y="2103120"/>
            <a:ext cx="278892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550" u="none" cap="none" strike="noStrike">
                <a:solidFill>
                  <a:srgbClr val="141414"/>
                </a:solidFill>
                <a:latin typeface="Inter"/>
                <a:ea typeface="Inter"/>
                <a:cs typeface="Inter"/>
                <a:sym typeface="Inter"/>
              </a:rPr>
              <a:t>Literature Review</a:t>
            </a:r>
            <a:endParaRPr/>
          </a:p>
        </p:txBody>
      </p:sp>
      <p:sp>
        <p:nvSpPr>
          <p:cNvPr id="94" name="Google Shape;94;p21"/>
          <p:cNvSpPr txBox="1"/>
          <p:nvPr/>
        </p:nvSpPr>
        <p:spPr>
          <a:xfrm>
            <a:off x="749808" y="2468879"/>
            <a:ext cx="2926080" cy="12984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130" u="none" cap="none" strike="noStrike">
                <a:solidFill>
                  <a:srgbClr val="141414"/>
                </a:solidFill>
                <a:latin typeface="Inter"/>
                <a:ea typeface="Inter"/>
                <a:cs typeface="Inter"/>
                <a:sym typeface="Inter"/>
              </a:rPr>
              <a:t>• Self-MedRAG baseline</a:t>
            </a:r>
            <a:endParaRPr/>
          </a:p>
          <a:p>
            <a:pPr indent="0" lvl="0" marL="0" marR="0" rtl="0" algn="l">
              <a:lnSpc>
                <a:spcPct val="100000"/>
              </a:lnSpc>
              <a:spcBef>
                <a:spcPts val="400"/>
              </a:spcBef>
              <a:spcAft>
                <a:spcPts val="0"/>
              </a:spcAft>
              <a:buNone/>
            </a:pPr>
            <a:r>
              <a:rPr b="0" i="0" lang="en-US" sz="1130" u="none" cap="none" strike="noStrike">
                <a:solidFill>
                  <a:srgbClr val="141414"/>
                </a:solidFill>
                <a:latin typeface="Inter"/>
                <a:ea typeface="Inter"/>
                <a:cs typeface="Inter"/>
                <a:sym typeface="Inter"/>
              </a:rPr>
              <a:t>• 2025–2026 medical-RAG papers</a:t>
            </a:r>
            <a:endParaRPr/>
          </a:p>
          <a:p>
            <a:pPr indent="0" lvl="0" marL="0" marR="0" rtl="0" algn="l">
              <a:lnSpc>
                <a:spcPct val="100000"/>
              </a:lnSpc>
              <a:spcBef>
                <a:spcPts val="400"/>
              </a:spcBef>
              <a:spcAft>
                <a:spcPts val="0"/>
              </a:spcAft>
              <a:buNone/>
            </a:pPr>
            <a:r>
              <a:rPr b="0" i="0" lang="en-US" sz="1130" u="none" cap="none" strike="noStrike">
                <a:solidFill>
                  <a:srgbClr val="141414"/>
                </a:solidFill>
                <a:latin typeface="Inter"/>
                <a:ea typeface="Inter"/>
                <a:cs typeface="Inter"/>
                <a:sym typeface="Inter"/>
              </a:rPr>
              <a:t>• RAG evaluation &amp; verification</a:t>
            </a:r>
            <a:endParaRPr/>
          </a:p>
        </p:txBody>
      </p:sp>
      <p:sp>
        <p:nvSpPr>
          <p:cNvPr id="95" name="Google Shape;95;p21"/>
          <p:cNvSpPr/>
          <p:nvPr/>
        </p:nvSpPr>
        <p:spPr>
          <a:xfrm>
            <a:off x="3749039" y="4261104"/>
            <a:ext cx="292608" cy="292608"/>
          </a:xfrm>
          <a:prstGeom prst="ellipse">
            <a:avLst/>
          </a:prstGeom>
          <a:solidFill>
            <a:srgbClr val="14141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6" name="Google Shape;96;p21"/>
          <p:cNvSpPr txBox="1"/>
          <p:nvPr/>
        </p:nvSpPr>
        <p:spPr>
          <a:xfrm>
            <a:off x="3584447" y="3675887"/>
            <a:ext cx="1371600" cy="292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lang="en-US" sz="1300">
                <a:solidFill>
                  <a:srgbClr val="141414"/>
                </a:solidFill>
                <a:latin typeface="Inter"/>
                <a:ea typeface="Inter"/>
                <a:cs typeface="Inter"/>
                <a:sym typeface="Inter"/>
              </a:rPr>
              <a:t>5</a:t>
            </a:r>
            <a:r>
              <a:rPr b="1" i="0" lang="en-US" sz="1300" u="none" cap="none" strike="noStrike">
                <a:solidFill>
                  <a:srgbClr val="141414"/>
                </a:solidFill>
                <a:latin typeface="Inter"/>
                <a:ea typeface="Inter"/>
                <a:cs typeface="Inter"/>
                <a:sym typeface="Inter"/>
              </a:rPr>
              <a:t>th sep</a:t>
            </a:r>
            <a:endParaRPr/>
          </a:p>
        </p:txBody>
      </p:sp>
      <p:sp>
        <p:nvSpPr>
          <p:cNvPr id="97" name="Google Shape;97;p21"/>
          <p:cNvSpPr txBox="1"/>
          <p:nvPr/>
        </p:nvSpPr>
        <p:spPr>
          <a:xfrm>
            <a:off x="3584447" y="4773168"/>
            <a:ext cx="278892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550" u="none" cap="none" strike="noStrike">
                <a:solidFill>
                  <a:srgbClr val="141414"/>
                </a:solidFill>
                <a:latin typeface="Inter"/>
                <a:ea typeface="Inter"/>
                <a:cs typeface="Inter"/>
                <a:sym typeface="Inter"/>
              </a:rPr>
              <a:t>Problem Identification</a:t>
            </a:r>
            <a:endParaRPr/>
          </a:p>
        </p:txBody>
      </p:sp>
      <p:sp>
        <p:nvSpPr>
          <p:cNvPr id="98" name="Google Shape;98;p21"/>
          <p:cNvSpPr txBox="1"/>
          <p:nvPr/>
        </p:nvSpPr>
        <p:spPr>
          <a:xfrm>
            <a:off x="3584447" y="5138928"/>
            <a:ext cx="2926080" cy="12984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130" u="none" cap="none" strike="noStrike">
                <a:solidFill>
                  <a:srgbClr val="141414"/>
                </a:solidFill>
                <a:latin typeface="Inter"/>
                <a:ea typeface="Inter"/>
                <a:cs typeface="Inter"/>
                <a:sym typeface="Inter"/>
              </a:rPr>
              <a:t>• Reproduce baseline</a:t>
            </a:r>
            <a:endParaRPr/>
          </a:p>
          <a:p>
            <a:pPr indent="0" lvl="0" marL="0" marR="0" rtl="0" algn="l">
              <a:lnSpc>
                <a:spcPct val="100000"/>
              </a:lnSpc>
              <a:spcBef>
                <a:spcPts val="400"/>
              </a:spcBef>
              <a:spcAft>
                <a:spcPts val="0"/>
              </a:spcAft>
              <a:buNone/>
            </a:pPr>
            <a:r>
              <a:rPr b="0" i="0" lang="en-US" sz="1130" u="none" cap="none" strike="noStrike">
                <a:solidFill>
                  <a:srgbClr val="141414"/>
                </a:solidFill>
                <a:latin typeface="Inter"/>
                <a:ea typeface="Inter"/>
                <a:cs typeface="Inter"/>
                <a:sym typeface="Inter"/>
              </a:rPr>
              <a:t>• Build failure taxonomy</a:t>
            </a:r>
            <a:endParaRPr/>
          </a:p>
          <a:p>
            <a:pPr indent="0" lvl="0" marL="0" marR="0" rtl="0" algn="l">
              <a:lnSpc>
                <a:spcPct val="100000"/>
              </a:lnSpc>
              <a:spcBef>
                <a:spcPts val="400"/>
              </a:spcBef>
              <a:spcAft>
                <a:spcPts val="0"/>
              </a:spcAft>
              <a:buNone/>
            </a:pPr>
            <a:r>
              <a:rPr b="0" i="0" lang="en-US" sz="1130" u="none" cap="none" strike="noStrike">
                <a:solidFill>
                  <a:srgbClr val="141414"/>
                </a:solidFill>
                <a:latin typeface="Inter"/>
                <a:ea typeface="Inter"/>
                <a:cs typeface="Inter"/>
                <a:sym typeface="Inter"/>
              </a:rPr>
              <a:t>• Find evidence gaps</a:t>
            </a:r>
            <a:endParaRPr/>
          </a:p>
        </p:txBody>
      </p:sp>
      <p:sp>
        <p:nvSpPr>
          <p:cNvPr id="99" name="Google Shape;99;p21"/>
          <p:cNvSpPr/>
          <p:nvPr/>
        </p:nvSpPr>
        <p:spPr>
          <a:xfrm>
            <a:off x="6537960" y="4261104"/>
            <a:ext cx="292608" cy="292608"/>
          </a:xfrm>
          <a:prstGeom prst="ellipse">
            <a:avLst/>
          </a:prstGeom>
          <a:solidFill>
            <a:srgbClr val="14141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0" name="Google Shape;100;p21"/>
          <p:cNvSpPr txBox="1"/>
          <p:nvPr/>
        </p:nvSpPr>
        <p:spPr>
          <a:xfrm>
            <a:off x="6373368" y="3675887"/>
            <a:ext cx="1371600" cy="292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300" u="none" cap="none" strike="noStrike">
                <a:solidFill>
                  <a:srgbClr val="141414"/>
                </a:solidFill>
                <a:latin typeface="Inter"/>
                <a:ea typeface="Inter"/>
                <a:cs typeface="Inter"/>
                <a:sym typeface="Inter"/>
              </a:rPr>
              <a:t>15th </a:t>
            </a:r>
            <a:r>
              <a:rPr b="1" lang="en-US" sz="1300">
                <a:solidFill>
                  <a:srgbClr val="141414"/>
                </a:solidFill>
                <a:latin typeface="Inter"/>
                <a:ea typeface="Inter"/>
                <a:cs typeface="Inter"/>
                <a:sym typeface="Inter"/>
              </a:rPr>
              <a:t>sep</a:t>
            </a:r>
            <a:endParaRPr/>
          </a:p>
        </p:txBody>
      </p:sp>
      <p:sp>
        <p:nvSpPr>
          <p:cNvPr id="101" name="Google Shape;101;p21"/>
          <p:cNvSpPr txBox="1"/>
          <p:nvPr/>
        </p:nvSpPr>
        <p:spPr>
          <a:xfrm>
            <a:off x="6373368" y="2103120"/>
            <a:ext cx="278892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550" u="none" cap="none" strike="noStrike">
                <a:solidFill>
                  <a:srgbClr val="141414"/>
                </a:solidFill>
                <a:latin typeface="Inter"/>
                <a:ea typeface="Inter"/>
                <a:cs typeface="Inter"/>
                <a:sym typeface="Inter"/>
              </a:rPr>
              <a:t>Architecture Design</a:t>
            </a:r>
            <a:endParaRPr/>
          </a:p>
        </p:txBody>
      </p:sp>
      <p:sp>
        <p:nvSpPr>
          <p:cNvPr id="102" name="Google Shape;102;p21"/>
          <p:cNvSpPr txBox="1"/>
          <p:nvPr/>
        </p:nvSpPr>
        <p:spPr>
          <a:xfrm>
            <a:off x="6373368" y="2468879"/>
            <a:ext cx="2926080" cy="12984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130" u="none" cap="none" strike="noStrike">
                <a:solidFill>
                  <a:srgbClr val="141414"/>
                </a:solidFill>
                <a:latin typeface="Inter"/>
                <a:ea typeface="Inter"/>
                <a:cs typeface="Inter"/>
                <a:sym typeface="Inter"/>
              </a:rPr>
              <a:t>• Claim-level evidence state</a:t>
            </a:r>
            <a:endParaRPr/>
          </a:p>
          <a:p>
            <a:pPr indent="0" lvl="0" marL="0" marR="0" rtl="0" algn="l">
              <a:lnSpc>
                <a:spcPct val="100000"/>
              </a:lnSpc>
              <a:spcBef>
                <a:spcPts val="400"/>
              </a:spcBef>
              <a:spcAft>
                <a:spcPts val="0"/>
              </a:spcAft>
              <a:buNone/>
            </a:pPr>
            <a:r>
              <a:rPr b="0" i="0" lang="en-US" sz="1130" u="none" cap="none" strike="noStrike">
                <a:solidFill>
                  <a:srgbClr val="141414"/>
                </a:solidFill>
                <a:latin typeface="Inter"/>
                <a:ea typeface="Inter"/>
                <a:cs typeface="Inter"/>
                <a:sym typeface="Inter"/>
              </a:rPr>
              <a:t>• Adaptive retrieval</a:t>
            </a:r>
            <a:endParaRPr/>
          </a:p>
          <a:p>
            <a:pPr indent="0" lvl="0" marL="0" marR="0" rtl="0" algn="l">
              <a:lnSpc>
                <a:spcPct val="100000"/>
              </a:lnSpc>
              <a:spcBef>
                <a:spcPts val="400"/>
              </a:spcBef>
              <a:spcAft>
                <a:spcPts val="0"/>
              </a:spcAft>
              <a:buNone/>
            </a:pPr>
            <a:r>
              <a:rPr b="0" i="0" lang="en-US" sz="1130" u="none" cap="none" strike="noStrike">
                <a:solidFill>
                  <a:srgbClr val="141414"/>
                </a:solidFill>
                <a:latin typeface="Inter"/>
                <a:ea typeface="Inter"/>
                <a:cs typeface="Inter"/>
                <a:sym typeface="Inter"/>
              </a:rPr>
              <a:t>• SEARCH / STOP / ABSTAIN</a:t>
            </a:r>
            <a:endParaRPr/>
          </a:p>
        </p:txBody>
      </p:sp>
      <p:sp>
        <p:nvSpPr>
          <p:cNvPr id="103" name="Google Shape;103;p21"/>
          <p:cNvSpPr/>
          <p:nvPr/>
        </p:nvSpPr>
        <p:spPr>
          <a:xfrm>
            <a:off x="9372600" y="4261104"/>
            <a:ext cx="292608" cy="292608"/>
          </a:xfrm>
          <a:prstGeom prst="ellipse">
            <a:avLst/>
          </a:prstGeom>
          <a:solidFill>
            <a:srgbClr val="14141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4" name="Google Shape;104;p21"/>
          <p:cNvSpPr txBox="1"/>
          <p:nvPr/>
        </p:nvSpPr>
        <p:spPr>
          <a:xfrm>
            <a:off x="9208008" y="3675887"/>
            <a:ext cx="1371600" cy="292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300" u="none" cap="none" strike="noStrike">
                <a:solidFill>
                  <a:srgbClr val="141414"/>
                </a:solidFill>
                <a:latin typeface="Inter"/>
                <a:ea typeface="Inter"/>
                <a:cs typeface="Inter"/>
                <a:sym typeface="Inter"/>
              </a:rPr>
              <a:t>1st </a:t>
            </a:r>
            <a:r>
              <a:rPr b="1" lang="en-US" sz="1300">
                <a:solidFill>
                  <a:srgbClr val="141414"/>
                </a:solidFill>
                <a:latin typeface="Inter"/>
                <a:ea typeface="Inter"/>
                <a:cs typeface="Inter"/>
                <a:sym typeface="Inter"/>
              </a:rPr>
              <a:t>oct</a:t>
            </a:r>
            <a:endParaRPr/>
          </a:p>
        </p:txBody>
      </p:sp>
      <p:sp>
        <p:nvSpPr>
          <p:cNvPr id="105" name="Google Shape;105;p21"/>
          <p:cNvSpPr txBox="1"/>
          <p:nvPr/>
        </p:nvSpPr>
        <p:spPr>
          <a:xfrm>
            <a:off x="9208008" y="4773168"/>
            <a:ext cx="278892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550" u="none" cap="none" strike="noStrike">
                <a:solidFill>
                  <a:srgbClr val="141414"/>
                </a:solidFill>
                <a:latin typeface="Inter"/>
                <a:ea typeface="Inter"/>
                <a:cs typeface="Inter"/>
                <a:sym typeface="Inter"/>
              </a:rPr>
              <a:t>Implementation</a:t>
            </a:r>
            <a:endParaRPr/>
          </a:p>
        </p:txBody>
      </p:sp>
      <p:sp>
        <p:nvSpPr>
          <p:cNvPr id="106" name="Google Shape;106;p21"/>
          <p:cNvSpPr txBox="1"/>
          <p:nvPr/>
        </p:nvSpPr>
        <p:spPr>
          <a:xfrm>
            <a:off x="9208008" y="5138928"/>
            <a:ext cx="2926080" cy="12984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130" u="none" cap="none" strike="noStrike">
                <a:solidFill>
                  <a:srgbClr val="141414"/>
                </a:solidFill>
                <a:latin typeface="Inter"/>
                <a:ea typeface="Inter"/>
                <a:cs typeface="Inter"/>
                <a:sym typeface="Inter"/>
              </a:rPr>
              <a:t>• Retriever + verifier</a:t>
            </a:r>
            <a:endParaRPr/>
          </a:p>
          <a:p>
            <a:pPr indent="0" lvl="0" marL="0" marR="0" rtl="0" algn="l">
              <a:lnSpc>
                <a:spcPct val="100000"/>
              </a:lnSpc>
              <a:spcBef>
                <a:spcPts val="400"/>
              </a:spcBef>
              <a:spcAft>
                <a:spcPts val="0"/>
              </a:spcAft>
              <a:buNone/>
            </a:pPr>
            <a:r>
              <a:rPr b="0" i="0" lang="en-US" sz="1130" u="none" cap="none" strike="noStrike">
                <a:solidFill>
                  <a:srgbClr val="141414"/>
                </a:solidFill>
                <a:latin typeface="Inter"/>
                <a:ea typeface="Inter"/>
                <a:cs typeface="Inter"/>
                <a:sym typeface="Inter"/>
              </a:rPr>
              <a:t>• Evidence-state controller</a:t>
            </a:r>
            <a:endParaRPr/>
          </a:p>
          <a:p>
            <a:pPr indent="0" lvl="0" marL="0" marR="0" rtl="0" algn="l">
              <a:lnSpc>
                <a:spcPct val="100000"/>
              </a:lnSpc>
              <a:spcBef>
                <a:spcPts val="400"/>
              </a:spcBef>
              <a:spcAft>
                <a:spcPts val="0"/>
              </a:spcAft>
              <a:buNone/>
            </a:pPr>
            <a:r>
              <a:rPr b="0" i="0" lang="en-US" sz="1130" u="none" cap="none" strike="noStrike">
                <a:solidFill>
                  <a:srgbClr val="141414"/>
                </a:solidFill>
                <a:latin typeface="Inter"/>
                <a:ea typeface="Inter"/>
                <a:cs typeface="Inter"/>
                <a:sym typeface="Inter"/>
              </a:rPr>
              <a:t>• Controlled ablations</a:t>
            </a:r>
            <a:endParaRPr/>
          </a:p>
        </p:txBody>
      </p:sp>
      <p:sp>
        <p:nvSpPr>
          <p:cNvPr id="107" name="Google Shape;107;p21"/>
          <p:cNvSpPr/>
          <p:nvPr/>
        </p:nvSpPr>
        <p:spPr>
          <a:xfrm>
            <a:off x="12115800" y="4261104"/>
            <a:ext cx="292608" cy="292608"/>
          </a:xfrm>
          <a:prstGeom prst="ellipse">
            <a:avLst/>
          </a:prstGeom>
          <a:solidFill>
            <a:srgbClr val="14141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8" name="Google Shape;108;p21"/>
          <p:cNvSpPr txBox="1"/>
          <p:nvPr/>
        </p:nvSpPr>
        <p:spPr>
          <a:xfrm>
            <a:off x="11951208" y="3675887"/>
            <a:ext cx="1371600" cy="292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300" u="none" cap="none" strike="noStrike">
                <a:solidFill>
                  <a:srgbClr val="141414"/>
                </a:solidFill>
                <a:latin typeface="Inter"/>
                <a:ea typeface="Inter"/>
                <a:cs typeface="Inter"/>
                <a:sym typeface="Inter"/>
              </a:rPr>
              <a:t>1</a:t>
            </a:r>
            <a:r>
              <a:rPr b="1" lang="en-US" sz="1300">
                <a:solidFill>
                  <a:srgbClr val="141414"/>
                </a:solidFill>
                <a:latin typeface="Inter"/>
                <a:ea typeface="Inter"/>
                <a:cs typeface="Inter"/>
                <a:sym typeface="Inter"/>
              </a:rPr>
              <a:t>5th</a:t>
            </a:r>
            <a:r>
              <a:rPr b="1" i="0" lang="en-US" sz="1300" u="none" cap="none" strike="noStrike">
                <a:solidFill>
                  <a:srgbClr val="141414"/>
                </a:solidFill>
                <a:latin typeface="Inter"/>
                <a:ea typeface="Inter"/>
                <a:cs typeface="Inter"/>
                <a:sym typeface="Inter"/>
              </a:rPr>
              <a:t> </a:t>
            </a:r>
            <a:r>
              <a:rPr b="1" lang="en-US" sz="1300">
                <a:solidFill>
                  <a:srgbClr val="141414"/>
                </a:solidFill>
                <a:latin typeface="Inter"/>
                <a:ea typeface="Inter"/>
                <a:cs typeface="Inter"/>
                <a:sym typeface="Inter"/>
              </a:rPr>
              <a:t>Nov</a:t>
            </a:r>
            <a:endParaRPr/>
          </a:p>
        </p:txBody>
      </p:sp>
      <p:sp>
        <p:nvSpPr>
          <p:cNvPr id="109" name="Google Shape;109;p21"/>
          <p:cNvSpPr txBox="1"/>
          <p:nvPr/>
        </p:nvSpPr>
        <p:spPr>
          <a:xfrm>
            <a:off x="11951208" y="2103120"/>
            <a:ext cx="278892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550" u="none" cap="none" strike="noStrike">
                <a:solidFill>
                  <a:srgbClr val="141414"/>
                </a:solidFill>
                <a:latin typeface="Inter"/>
                <a:ea typeface="Inter"/>
                <a:cs typeface="Inter"/>
                <a:sym typeface="Inter"/>
              </a:rPr>
              <a:t>Evaluation &amp; Documentation</a:t>
            </a:r>
            <a:endParaRPr/>
          </a:p>
        </p:txBody>
      </p:sp>
      <p:sp>
        <p:nvSpPr>
          <p:cNvPr id="110" name="Google Shape;110;p21"/>
          <p:cNvSpPr txBox="1"/>
          <p:nvPr/>
        </p:nvSpPr>
        <p:spPr>
          <a:xfrm>
            <a:off x="11996933" y="2706629"/>
            <a:ext cx="2926200" cy="716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130" u="none" cap="none" strike="noStrike">
                <a:solidFill>
                  <a:srgbClr val="141414"/>
                </a:solidFill>
                <a:latin typeface="Inter"/>
                <a:ea typeface="Inter"/>
                <a:cs typeface="Inter"/>
                <a:sym typeface="Inter"/>
              </a:rPr>
              <a:t>• Accuracy + faithfulness</a:t>
            </a:r>
            <a:endParaRPr/>
          </a:p>
          <a:p>
            <a:pPr indent="0" lvl="0" marL="0" marR="0" rtl="0" algn="l">
              <a:lnSpc>
                <a:spcPct val="100000"/>
              </a:lnSpc>
              <a:spcBef>
                <a:spcPts val="400"/>
              </a:spcBef>
              <a:spcAft>
                <a:spcPts val="0"/>
              </a:spcAft>
              <a:buNone/>
            </a:pPr>
            <a:r>
              <a:rPr b="0" i="0" lang="en-US" sz="1130" u="none" cap="none" strike="noStrike">
                <a:solidFill>
                  <a:srgbClr val="141414"/>
                </a:solidFill>
                <a:latin typeface="Inter"/>
                <a:ea typeface="Inter"/>
                <a:cs typeface="Inter"/>
                <a:sym typeface="Inter"/>
              </a:rPr>
              <a:t>• Efficiency + safety</a:t>
            </a:r>
            <a:endParaRPr/>
          </a:p>
          <a:p>
            <a:pPr indent="0" lvl="0" marL="0" marR="0" rtl="0" algn="l">
              <a:lnSpc>
                <a:spcPct val="100000"/>
              </a:lnSpc>
              <a:spcBef>
                <a:spcPts val="400"/>
              </a:spcBef>
              <a:spcAft>
                <a:spcPts val="0"/>
              </a:spcAft>
              <a:buNone/>
            </a:pPr>
            <a:r>
              <a:rPr b="0" i="0" lang="en-US" sz="1130" u="none" cap="none" strike="noStrike">
                <a:solidFill>
                  <a:srgbClr val="141414"/>
                </a:solidFill>
                <a:latin typeface="Inter"/>
                <a:ea typeface="Inter"/>
                <a:cs typeface="Inter"/>
                <a:sym typeface="Inter"/>
              </a:rPr>
              <a:t>• Paper / report</a:t>
            </a:r>
            <a:endParaRPr/>
          </a:p>
        </p:txBody>
      </p:sp>
      <p:sp>
        <p:nvSpPr>
          <p:cNvPr id="111" name="Google Shape;111;p21"/>
          <p:cNvSpPr txBox="1"/>
          <p:nvPr/>
        </p:nvSpPr>
        <p:spPr>
          <a:xfrm>
            <a:off x="594360" y="6903720"/>
            <a:ext cx="13167360" cy="2743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400" u="none" cap="none" strike="noStrike">
                <a:solidFill>
                  <a:srgbClr val="2B3D5B"/>
                </a:solidFill>
                <a:latin typeface="Inter"/>
                <a:ea typeface="Inter"/>
                <a:cs typeface="Inter"/>
                <a:sym typeface="Inter"/>
              </a:rPr>
              <a:t>Planned sequence: study → reproduce → diagnose → design → implement → evaluate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6" name="Shape 116"/>
        <p:cNvGrpSpPr/>
        <p:nvPr/>
      </p:nvGrpSpPr>
      <p:grpSpPr>
        <a:xfrm>
          <a:off x="0" y="0"/>
          <a:ext cx="0" cy="0"/>
          <a:chOff x="0" y="0"/>
          <a:chExt cx="0" cy="0"/>
        </a:xfrm>
      </p:grpSpPr>
      <p:sp>
        <p:nvSpPr>
          <p:cNvPr id="117" name="Google Shape;117;p22"/>
          <p:cNvSpPr/>
          <p:nvPr/>
        </p:nvSpPr>
        <p:spPr>
          <a:xfrm>
            <a:off x="0" y="0"/>
            <a:ext cx="14630034" cy="1481328"/>
          </a:xfrm>
          <a:prstGeom prst="rect">
            <a:avLst/>
          </a:prstGeom>
          <a:solidFill>
            <a:srgbClr val="6D9EEB"/>
          </a:solidFill>
          <a:ln>
            <a:noFill/>
          </a:ln>
        </p:spPr>
        <p:txBody>
          <a:bodyPr anchorCtr="0" anchor="ctr" bIns="109700" lIns="109700" spcFirstLastPara="1" rIns="109700" wrap="square" tIns="109700">
            <a:noAutofit/>
          </a:bodyPr>
          <a:lstStyle/>
          <a:p>
            <a:pPr indent="0" lvl="0" marL="0" rtl="0" algn="l">
              <a:spcBef>
                <a:spcPts val="0"/>
              </a:spcBef>
              <a:spcAft>
                <a:spcPts val="0"/>
              </a:spcAft>
              <a:buNone/>
            </a:pPr>
            <a:r>
              <a:t/>
            </a:r>
            <a:endParaRPr/>
          </a:p>
        </p:txBody>
      </p:sp>
      <p:sp>
        <p:nvSpPr>
          <p:cNvPr id="118" name="Google Shape;118;p22"/>
          <p:cNvSpPr/>
          <p:nvPr/>
        </p:nvSpPr>
        <p:spPr>
          <a:xfrm>
            <a:off x="438912" y="1700784"/>
            <a:ext cx="13716000" cy="1042416"/>
          </a:xfrm>
          <a:prstGeom prst="roundRect">
            <a:avLst>
              <a:gd fmla="val 6316" name="adj"/>
            </a:avLst>
          </a:prstGeom>
          <a:solidFill>
            <a:srgbClr val="FFFFFF"/>
          </a:solidFill>
          <a:ln cap="flat" cmpd="sng" w="12700">
            <a:solidFill>
              <a:srgbClr val="BFBFBF"/>
            </a:solidFill>
            <a:prstDash val="solid"/>
            <a:round/>
            <a:headEnd len="sm" w="sm" type="none"/>
            <a:tailEnd len="sm" w="sm" type="none"/>
          </a:ln>
          <a:effectLst>
            <a:outerShdw blurRad="38100" rotWithShape="0" algn="bl" dir="5400000" dist="12700">
              <a:srgbClr val="808080">
                <a:alpha val="20000"/>
              </a:srgbClr>
            </a:outerShdw>
          </a:effectLst>
        </p:spPr>
        <p:txBody>
          <a:bodyPr anchorCtr="0" anchor="ctr" bIns="109700" lIns="109700" spcFirstLastPara="1" rIns="109700" wrap="square" tIns="109700">
            <a:noAutofit/>
          </a:bodyPr>
          <a:lstStyle/>
          <a:p>
            <a:pPr indent="0" lvl="0" marL="0" rtl="0" algn="l">
              <a:spcBef>
                <a:spcPts val="0"/>
              </a:spcBef>
              <a:spcAft>
                <a:spcPts val="0"/>
              </a:spcAft>
              <a:buNone/>
            </a:pPr>
            <a:r>
              <a:t/>
            </a:r>
            <a:endParaRPr/>
          </a:p>
        </p:txBody>
      </p:sp>
      <p:sp>
        <p:nvSpPr>
          <p:cNvPr id="119" name="Google Shape;119;p22"/>
          <p:cNvSpPr txBox="1"/>
          <p:nvPr/>
        </p:nvSpPr>
        <p:spPr>
          <a:xfrm>
            <a:off x="658368" y="1700784"/>
            <a:ext cx="13277088" cy="1042416"/>
          </a:xfrm>
          <a:prstGeom prst="rect">
            <a:avLst/>
          </a:prstGeom>
          <a:noFill/>
          <a:ln>
            <a:noFill/>
          </a:ln>
        </p:spPr>
        <p:txBody>
          <a:bodyPr anchorCtr="0" anchor="ctr" bIns="750" lIns="750" spcFirstLastPara="1" rIns="750" wrap="square" tIns="750">
            <a:noAutofit/>
          </a:bodyPr>
          <a:lstStyle/>
          <a:p>
            <a:pPr indent="0" lvl="0" marL="0" marR="0" rtl="0" algn="l">
              <a:spcBef>
                <a:spcPts val="0"/>
              </a:spcBef>
              <a:spcAft>
                <a:spcPts val="0"/>
              </a:spcAft>
              <a:buClr>
                <a:srgbClr val="262626"/>
              </a:buClr>
              <a:buSzPts val="1300"/>
              <a:buFont typeface="Calibri"/>
              <a:buNone/>
            </a:pPr>
            <a:r>
              <a:rPr b="0" i="0" lang="en-US" sz="1300" u="none" cap="none" strike="noStrike">
                <a:solidFill>
                  <a:srgbClr val="262626"/>
                </a:solidFill>
                <a:latin typeface="Calibri"/>
                <a:ea typeface="Calibri"/>
                <a:cs typeface="Calibri"/>
                <a:sym typeface="Calibri"/>
              </a:rPr>
              <a:t>Large Language Models (LLMs) have shown strong potential for medical question answering by synthesizing complex biomedical knowledge. However, medical QA is a high-stakes setting: hallucinated, outdated, or unsupported statements can directly affect clinical decisions. Retrieval-Augmented Generation (RAG) attempts to reduce this risk by grounding the model in external medical evidence.</a:t>
            </a:r>
            <a:endParaRPr b="0" i="0" sz="1300" u="none" cap="none" strike="noStrike">
              <a:solidFill>
                <a:schemeClr val="dk1"/>
              </a:solidFill>
              <a:latin typeface="Calibri"/>
              <a:ea typeface="Calibri"/>
              <a:cs typeface="Calibri"/>
              <a:sym typeface="Calibri"/>
            </a:endParaRPr>
          </a:p>
        </p:txBody>
      </p:sp>
      <p:sp>
        <p:nvSpPr>
          <p:cNvPr id="120" name="Google Shape;120;p22"/>
          <p:cNvSpPr/>
          <p:nvPr/>
        </p:nvSpPr>
        <p:spPr>
          <a:xfrm>
            <a:off x="438912" y="3017520"/>
            <a:ext cx="4367174" cy="2029968"/>
          </a:xfrm>
          <a:prstGeom prst="roundRect">
            <a:avLst>
              <a:gd fmla="val 3784" name="adj"/>
            </a:avLst>
          </a:prstGeom>
          <a:solidFill>
            <a:srgbClr val="FCE9DC"/>
          </a:solidFill>
          <a:ln cap="flat" cmpd="sng" w="15875">
            <a:solidFill>
              <a:srgbClr val="C00000"/>
            </a:solidFill>
            <a:prstDash val="solid"/>
            <a:round/>
            <a:headEnd len="sm" w="sm" type="none"/>
            <a:tailEnd len="sm" w="sm" type="none"/>
          </a:ln>
        </p:spPr>
        <p:txBody>
          <a:bodyPr anchorCtr="0" anchor="ctr" bIns="109700" lIns="109700" spcFirstLastPara="1" rIns="109700" wrap="square" tIns="109700">
            <a:noAutofit/>
          </a:bodyPr>
          <a:lstStyle/>
          <a:p>
            <a:pPr indent="0" lvl="0" marL="0" rtl="0" algn="l">
              <a:spcBef>
                <a:spcPts val="0"/>
              </a:spcBef>
              <a:spcAft>
                <a:spcPts val="0"/>
              </a:spcAft>
              <a:buNone/>
            </a:pPr>
            <a:r>
              <a:t/>
            </a:r>
            <a:endParaRPr/>
          </a:p>
        </p:txBody>
      </p:sp>
      <p:sp>
        <p:nvSpPr>
          <p:cNvPr id="121" name="Google Shape;121;p22"/>
          <p:cNvSpPr txBox="1"/>
          <p:nvPr/>
        </p:nvSpPr>
        <p:spPr>
          <a:xfrm>
            <a:off x="658368" y="3149194"/>
            <a:ext cx="3928262" cy="17666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00000"/>
              </a:buClr>
              <a:buSzPts val="1400"/>
              <a:buFont typeface="Calibri"/>
              <a:buNone/>
            </a:pPr>
            <a:r>
              <a:rPr b="1" i="0" lang="en-US" sz="1400" u="none" cap="none" strike="noStrike">
                <a:solidFill>
                  <a:srgbClr val="C00000"/>
                </a:solidFill>
                <a:latin typeface="Calibri"/>
                <a:ea typeface="Calibri"/>
                <a:cs typeface="Calibri"/>
                <a:sym typeface="Calibri"/>
              </a:rPr>
              <a:t>1. Medical LLMs</a:t>
            </a:r>
            <a:endParaRPr b="0" i="0" sz="1400" u="none" cap="none" strike="noStrike">
              <a:solidFill>
                <a:schemeClr val="dk1"/>
              </a:solidFill>
              <a:latin typeface="Calibri"/>
              <a:ea typeface="Calibri"/>
              <a:cs typeface="Calibri"/>
              <a:sym typeface="Calibri"/>
            </a:endParaRPr>
          </a:p>
          <a:p>
            <a:pPr indent="-184150" lvl="0" marL="177800" marR="0" rtl="0" algn="l">
              <a:spcBef>
                <a:spcPts val="1000"/>
              </a:spcBef>
              <a:spcAft>
                <a:spcPts val="0"/>
              </a:spcAft>
              <a:buClr>
                <a:srgbClr val="262626"/>
              </a:buClr>
              <a:buSzPts val="1300"/>
              <a:buFont typeface="Calibri"/>
              <a:buChar char="•"/>
            </a:pPr>
            <a:r>
              <a:rPr b="0" i="0" lang="en-US" sz="1300" u="none" cap="none" strike="noStrike">
                <a:solidFill>
                  <a:srgbClr val="262626"/>
                </a:solidFill>
                <a:latin typeface="Calibri"/>
                <a:ea typeface="Calibri"/>
                <a:cs typeface="Calibri"/>
                <a:sym typeface="Calibri"/>
              </a:rPr>
              <a:t>Can reason over complex clinical and biomedical questions.</a:t>
            </a:r>
            <a:endParaRPr b="0" i="0" sz="1400" u="none" cap="none" strike="noStrike">
              <a:solidFill>
                <a:schemeClr val="dk1"/>
              </a:solidFill>
              <a:latin typeface="Calibri"/>
              <a:ea typeface="Calibri"/>
              <a:cs typeface="Calibri"/>
              <a:sym typeface="Calibri"/>
            </a:endParaRPr>
          </a:p>
          <a:p>
            <a:pPr indent="-184150" lvl="0" marL="177800" marR="0" rtl="0" algn="l">
              <a:spcBef>
                <a:spcPts val="1000"/>
              </a:spcBef>
              <a:spcAft>
                <a:spcPts val="0"/>
              </a:spcAft>
              <a:buClr>
                <a:srgbClr val="262626"/>
              </a:buClr>
              <a:buSzPts val="1300"/>
              <a:buFont typeface="Calibri"/>
              <a:buChar char="•"/>
            </a:pPr>
            <a:r>
              <a:rPr b="0" i="0" lang="en-US" sz="1300" u="none" cap="none" strike="noStrike">
                <a:solidFill>
                  <a:srgbClr val="262626"/>
                </a:solidFill>
                <a:latin typeface="Calibri"/>
                <a:ea typeface="Calibri"/>
                <a:cs typeface="Calibri"/>
                <a:sym typeface="Calibri"/>
              </a:rPr>
              <a:t>Depend on pretrained knowledge that may be incomplete or stale.</a:t>
            </a:r>
            <a:endParaRPr b="0" i="0" sz="1400" u="none" cap="none" strike="noStrike">
              <a:solidFill>
                <a:schemeClr val="dk1"/>
              </a:solidFill>
              <a:latin typeface="Calibri"/>
              <a:ea typeface="Calibri"/>
              <a:cs typeface="Calibri"/>
              <a:sym typeface="Calibri"/>
            </a:endParaRPr>
          </a:p>
          <a:p>
            <a:pPr indent="-184150" lvl="0" marL="177800" marR="0" rtl="0" algn="l">
              <a:spcBef>
                <a:spcPts val="1000"/>
              </a:spcBef>
              <a:spcAft>
                <a:spcPts val="0"/>
              </a:spcAft>
              <a:buClr>
                <a:srgbClr val="262626"/>
              </a:buClr>
              <a:buSzPts val="1300"/>
              <a:buFont typeface="Calibri"/>
              <a:buChar char="•"/>
            </a:pPr>
            <a:r>
              <a:rPr b="0" i="0" lang="en-US" sz="1300" u="none" cap="none" strike="noStrike">
                <a:solidFill>
                  <a:srgbClr val="262626"/>
                </a:solidFill>
                <a:latin typeface="Calibri"/>
                <a:ea typeface="Calibri"/>
                <a:cs typeface="Calibri"/>
                <a:sym typeface="Calibri"/>
              </a:rPr>
              <a:t>Can produce fluent answers even when evidence is weak or missing.</a:t>
            </a:r>
            <a:endParaRPr b="0" i="0" sz="1400" u="none" cap="none" strike="noStrike">
              <a:solidFill>
                <a:schemeClr val="dk1"/>
              </a:solidFill>
              <a:latin typeface="Calibri"/>
              <a:ea typeface="Calibri"/>
              <a:cs typeface="Calibri"/>
              <a:sym typeface="Calibri"/>
            </a:endParaRPr>
          </a:p>
        </p:txBody>
      </p:sp>
      <p:sp>
        <p:nvSpPr>
          <p:cNvPr id="122" name="Google Shape;122;p22"/>
          <p:cNvSpPr/>
          <p:nvPr/>
        </p:nvSpPr>
        <p:spPr>
          <a:xfrm>
            <a:off x="5135270" y="3017520"/>
            <a:ext cx="4367174" cy="2029968"/>
          </a:xfrm>
          <a:prstGeom prst="roundRect">
            <a:avLst>
              <a:gd fmla="val 3784" name="adj"/>
            </a:avLst>
          </a:prstGeom>
          <a:solidFill>
            <a:srgbClr val="DCE6F7"/>
          </a:solidFill>
          <a:ln cap="flat" cmpd="sng" w="15875">
            <a:solidFill>
              <a:srgbClr val="2E5395"/>
            </a:solidFill>
            <a:prstDash val="solid"/>
            <a:round/>
            <a:headEnd len="sm" w="sm" type="none"/>
            <a:tailEnd len="sm" w="sm" type="none"/>
          </a:ln>
        </p:spPr>
        <p:txBody>
          <a:bodyPr anchorCtr="0" anchor="ctr" bIns="109700" lIns="109700" spcFirstLastPara="1" rIns="109700" wrap="square" tIns="109700">
            <a:noAutofit/>
          </a:bodyPr>
          <a:lstStyle/>
          <a:p>
            <a:pPr indent="0" lvl="0" marL="0" rtl="0" algn="l">
              <a:spcBef>
                <a:spcPts val="0"/>
              </a:spcBef>
              <a:spcAft>
                <a:spcPts val="0"/>
              </a:spcAft>
              <a:buNone/>
            </a:pPr>
            <a:r>
              <a:t/>
            </a:r>
            <a:endParaRPr/>
          </a:p>
        </p:txBody>
      </p:sp>
      <p:sp>
        <p:nvSpPr>
          <p:cNvPr id="123" name="Google Shape;123;p22"/>
          <p:cNvSpPr txBox="1"/>
          <p:nvPr/>
        </p:nvSpPr>
        <p:spPr>
          <a:xfrm>
            <a:off x="5354726" y="3149194"/>
            <a:ext cx="3928262" cy="17666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E5395"/>
              </a:buClr>
              <a:buSzPts val="1400"/>
              <a:buFont typeface="Calibri"/>
              <a:buNone/>
            </a:pPr>
            <a:r>
              <a:rPr b="1" i="0" lang="en-US" sz="1400" u="none" cap="none" strike="noStrike">
                <a:solidFill>
                  <a:srgbClr val="2E5395"/>
                </a:solidFill>
                <a:latin typeface="Calibri"/>
                <a:ea typeface="Calibri"/>
                <a:cs typeface="Calibri"/>
                <a:sym typeface="Calibri"/>
              </a:rPr>
              <a:t>2. Limitations of Conventional RAG</a:t>
            </a:r>
            <a:endParaRPr b="0" i="0" sz="1400" u="none" cap="none" strike="noStrike">
              <a:solidFill>
                <a:schemeClr val="dk1"/>
              </a:solidFill>
              <a:latin typeface="Calibri"/>
              <a:ea typeface="Calibri"/>
              <a:cs typeface="Calibri"/>
              <a:sym typeface="Calibri"/>
            </a:endParaRPr>
          </a:p>
          <a:p>
            <a:pPr indent="-184150" lvl="0" marL="177800" marR="0" rtl="0" algn="l">
              <a:spcBef>
                <a:spcPts val="1000"/>
              </a:spcBef>
              <a:spcAft>
                <a:spcPts val="0"/>
              </a:spcAft>
              <a:buClr>
                <a:srgbClr val="262626"/>
              </a:buClr>
              <a:buSzPts val="1300"/>
              <a:buFont typeface="Calibri"/>
              <a:buChar char="•"/>
            </a:pPr>
            <a:r>
              <a:rPr b="0" i="0" lang="en-US" sz="1300" u="none" cap="none" strike="noStrike">
                <a:solidFill>
                  <a:srgbClr val="262626"/>
                </a:solidFill>
                <a:latin typeface="Calibri"/>
                <a:ea typeface="Calibri"/>
                <a:cs typeface="Calibri"/>
                <a:sym typeface="Calibri"/>
              </a:rPr>
              <a:t>Typical RAG retrieves context once and generates an answer.</a:t>
            </a:r>
            <a:endParaRPr b="0" i="0" sz="1400" u="none" cap="none" strike="noStrike">
              <a:solidFill>
                <a:schemeClr val="dk1"/>
              </a:solidFill>
              <a:latin typeface="Calibri"/>
              <a:ea typeface="Calibri"/>
              <a:cs typeface="Calibri"/>
              <a:sym typeface="Calibri"/>
            </a:endParaRPr>
          </a:p>
          <a:p>
            <a:pPr indent="-184150" lvl="0" marL="177800" marR="0" rtl="0" algn="l">
              <a:spcBef>
                <a:spcPts val="1000"/>
              </a:spcBef>
              <a:spcAft>
                <a:spcPts val="0"/>
              </a:spcAft>
              <a:buClr>
                <a:srgbClr val="262626"/>
              </a:buClr>
              <a:buSzPts val="1300"/>
              <a:buFont typeface="Calibri"/>
              <a:buChar char="•"/>
            </a:pPr>
            <a:r>
              <a:rPr b="0" i="0" lang="en-US" sz="1300" u="none" cap="none" strike="noStrike">
                <a:solidFill>
                  <a:srgbClr val="262626"/>
                </a:solidFill>
                <a:latin typeface="Calibri"/>
                <a:ea typeface="Calibri"/>
                <a:cs typeface="Calibri"/>
                <a:sym typeface="Calibri"/>
              </a:rPr>
              <a:t>A single retrieval pass may miss key evidence needed for multi-step reasoning.</a:t>
            </a:r>
            <a:endParaRPr b="0" i="0" sz="1400" u="none" cap="none" strike="noStrike">
              <a:solidFill>
                <a:schemeClr val="dk1"/>
              </a:solidFill>
              <a:latin typeface="Calibri"/>
              <a:ea typeface="Calibri"/>
              <a:cs typeface="Calibri"/>
              <a:sym typeface="Calibri"/>
            </a:endParaRPr>
          </a:p>
          <a:p>
            <a:pPr indent="-184150" lvl="0" marL="177800" marR="0" rtl="0" algn="l">
              <a:spcBef>
                <a:spcPts val="1000"/>
              </a:spcBef>
              <a:spcAft>
                <a:spcPts val="0"/>
              </a:spcAft>
              <a:buClr>
                <a:srgbClr val="262626"/>
              </a:buClr>
              <a:buSzPts val="1300"/>
              <a:buFont typeface="Calibri"/>
              <a:buChar char="•"/>
            </a:pPr>
            <a:r>
              <a:rPr b="0" i="0" lang="en-US" sz="1300" u="none" cap="none" strike="noStrike">
                <a:solidFill>
                  <a:srgbClr val="262626"/>
                </a:solidFill>
                <a:latin typeface="Calibri"/>
                <a:ea typeface="Calibri"/>
                <a:cs typeface="Calibri"/>
                <a:sym typeface="Calibri"/>
              </a:rPr>
              <a:t>Retrieved sources can also be irrelevant, contradictory, or outdated.</a:t>
            </a:r>
            <a:endParaRPr b="0" i="0" sz="1400" u="none" cap="none" strike="noStrike">
              <a:solidFill>
                <a:schemeClr val="dk1"/>
              </a:solidFill>
              <a:latin typeface="Calibri"/>
              <a:ea typeface="Calibri"/>
              <a:cs typeface="Calibri"/>
              <a:sym typeface="Calibri"/>
            </a:endParaRPr>
          </a:p>
        </p:txBody>
      </p:sp>
      <p:sp>
        <p:nvSpPr>
          <p:cNvPr id="124" name="Google Shape;124;p22"/>
          <p:cNvSpPr/>
          <p:nvPr/>
        </p:nvSpPr>
        <p:spPr>
          <a:xfrm>
            <a:off x="9831629" y="3017520"/>
            <a:ext cx="4367174" cy="2029968"/>
          </a:xfrm>
          <a:prstGeom prst="roundRect">
            <a:avLst>
              <a:gd fmla="val 3784" name="adj"/>
            </a:avLst>
          </a:prstGeom>
          <a:solidFill>
            <a:srgbClr val="E2F0D9"/>
          </a:solidFill>
          <a:ln cap="flat" cmpd="sng" w="15875">
            <a:solidFill>
              <a:srgbClr val="375623"/>
            </a:solidFill>
            <a:prstDash val="solid"/>
            <a:round/>
            <a:headEnd len="sm" w="sm" type="none"/>
            <a:tailEnd len="sm" w="sm" type="none"/>
          </a:ln>
        </p:spPr>
        <p:txBody>
          <a:bodyPr anchorCtr="0" anchor="ctr" bIns="109700" lIns="109700" spcFirstLastPara="1" rIns="109700" wrap="square" tIns="109700">
            <a:noAutofit/>
          </a:bodyPr>
          <a:lstStyle/>
          <a:p>
            <a:pPr indent="0" lvl="0" marL="0" rtl="0" algn="l">
              <a:spcBef>
                <a:spcPts val="0"/>
              </a:spcBef>
              <a:spcAft>
                <a:spcPts val="0"/>
              </a:spcAft>
              <a:buNone/>
            </a:pPr>
            <a:r>
              <a:t/>
            </a:r>
            <a:endParaRPr/>
          </a:p>
        </p:txBody>
      </p:sp>
      <p:sp>
        <p:nvSpPr>
          <p:cNvPr id="125" name="Google Shape;125;p22"/>
          <p:cNvSpPr txBox="1"/>
          <p:nvPr/>
        </p:nvSpPr>
        <p:spPr>
          <a:xfrm>
            <a:off x="10051085" y="3149194"/>
            <a:ext cx="3928262" cy="17666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75623"/>
              </a:buClr>
              <a:buSzPts val="1400"/>
              <a:buFont typeface="Calibri"/>
              <a:buNone/>
            </a:pPr>
            <a:r>
              <a:rPr b="1" i="0" lang="en-US" sz="1400" u="none" cap="none" strike="noStrike">
                <a:solidFill>
                  <a:srgbClr val="375623"/>
                </a:solidFill>
                <a:latin typeface="Calibri"/>
                <a:ea typeface="Calibri"/>
                <a:cs typeface="Calibri"/>
                <a:sym typeface="Calibri"/>
              </a:rPr>
              <a:t>3. Why Self-Reflective RAG?</a:t>
            </a:r>
            <a:endParaRPr b="0" i="0" sz="1400" u="none" cap="none" strike="noStrike">
              <a:solidFill>
                <a:schemeClr val="dk1"/>
              </a:solidFill>
              <a:latin typeface="Calibri"/>
              <a:ea typeface="Calibri"/>
              <a:cs typeface="Calibri"/>
              <a:sym typeface="Calibri"/>
            </a:endParaRPr>
          </a:p>
          <a:p>
            <a:pPr indent="-184150" lvl="0" marL="177800" marR="0" rtl="0" algn="l">
              <a:spcBef>
                <a:spcPts val="1000"/>
              </a:spcBef>
              <a:spcAft>
                <a:spcPts val="0"/>
              </a:spcAft>
              <a:buClr>
                <a:srgbClr val="262626"/>
              </a:buClr>
              <a:buSzPts val="1300"/>
              <a:buFont typeface="Calibri"/>
              <a:buChar char="•"/>
            </a:pPr>
            <a:r>
              <a:rPr b="0" i="0" lang="en-US" sz="1300" u="none" cap="none" strike="noStrike">
                <a:solidFill>
                  <a:srgbClr val="262626"/>
                </a:solidFill>
                <a:latin typeface="Calibri"/>
                <a:ea typeface="Calibri"/>
                <a:cs typeface="Calibri"/>
                <a:sym typeface="Calibri"/>
              </a:rPr>
              <a:t>Self-MedRAG checks whether generated rationale is supported.</a:t>
            </a:r>
            <a:endParaRPr b="0" i="0" sz="1400" u="none" cap="none" strike="noStrike">
              <a:solidFill>
                <a:schemeClr val="dk1"/>
              </a:solidFill>
              <a:latin typeface="Calibri"/>
              <a:ea typeface="Calibri"/>
              <a:cs typeface="Calibri"/>
              <a:sym typeface="Calibri"/>
            </a:endParaRPr>
          </a:p>
          <a:p>
            <a:pPr indent="-184150" lvl="0" marL="177800" marR="0" rtl="0" algn="l">
              <a:spcBef>
                <a:spcPts val="1000"/>
              </a:spcBef>
              <a:spcAft>
                <a:spcPts val="0"/>
              </a:spcAft>
              <a:buClr>
                <a:srgbClr val="262626"/>
              </a:buClr>
              <a:buSzPts val="1300"/>
              <a:buFont typeface="Calibri"/>
              <a:buChar char="•"/>
            </a:pPr>
            <a:r>
              <a:rPr b="0" i="0" lang="en-US" sz="1300" u="none" cap="none" strike="noStrike">
                <a:solidFill>
                  <a:srgbClr val="262626"/>
                </a:solidFill>
                <a:latin typeface="Calibri"/>
                <a:ea typeface="Calibri"/>
                <a:cs typeface="Calibri"/>
                <a:sym typeface="Calibri"/>
              </a:rPr>
              <a:t>Unsupported rationale triggers query refinement and another retrieval round.</a:t>
            </a:r>
            <a:endParaRPr b="0" i="0" sz="1400" u="none" cap="none" strike="noStrike">
              <a:solidFill>
                <a:schemeClr val="dk1"/>
              </a:solidFill>
              <a:latin typeface="Calibri"/>
              <a:ea typeface="Calibri"/>
              <a:cs typeface="Calibri"/>
              <a:sym typeface="Calibri"/>
            </a:endParaRPr>
          </a:p>
          <a:p>
            <a:pPr indent="-184150" lvl="0" marL="177800" marR="0" rtl="0" algn="l">
              <a:spcBef>
                <a:spcPts val="1000"/>
              </a:spcBef>
              <a:spcAft>
                <a:spcPts val="0"/>
              </a:spcAft>
              <a:buClr>
                <a:srgbClr val="262626"/>
              </a:buClr>
              <a:buSzPts val="1300"/>
              <a:buFont typeface="Calibri"/>
              <a:buChar char="•"/>
            </a:pPr>
            <a:r>
              <a:rPr b="0" i="0" lang="en-US" sz="1300" u="none" cap="none" strike="noStrike">
                <a:solidFill>
                  <a:srgbClr val="262626"/>
                </a:solidFill>
                <a:latin typeface="Calibri"/>
                <a:ea typeface="Calibri"/>
                <a:cs typeface="Calibri"/>
                <a:sym typeface="Calibri"/>
              </a:rPr>
              <a:t>This improves grounding, but its evidence decision remains relatively simple.</a:t>
            </a:r>
            <a:endParaRPr b="0" i="0" sz="1400" u="none" cap="none" strike="noStrike">
              <a:solidFill>
                <a:schemeClr val="dk1"/>
              </a:solidFill>
              <a:latin typeface="Calibri"/>
              <a:ea typeface="Calibri"/>
              <a:cs typeface="Calibri"/>
              <a:sym typeface="Calibri"/>
            </a:endParaRPr>
          </a:p>
        </p:txBody>
      </p:sp>
      <p:sp>
        <p:nvSpPr>
          <p:cNvPr id="126" name="Google Shape;126;p22"/>
          <p:cNvSpPr/>
          <p:nvPr/>
        </p:nvSpPr>
        <p:spPr>
          <a:xfrm>
            <a:off x="438912" y="5321808"/>
            <a:ext cx="13716000" cy="932688"/>
          </a:xfrm>
          <a:prstGeom prst="roundRect">
            <a:avLst>
              <a:gd fmla="val 8235" name="adj"/>
            </a:avLst>
          </a:prstGeom>
          <a:solidFill>
            <a:srgbClr val="DCE6F7"/>
          </a:solidFill>
          <a:ln cap="flat" cmpd="sng" w="12700">
            <a:solidFill>
              <a:srgbClr val="9DC3E6"/>
            </a:solidFill>
            <a:prstDash val="solid"/>
            <a:round/>
            <a:headEnd len="sm" w="sm" type="none"/>
            <a:tailEnd len="sm" w="sm" type="none"/>
          </a:ln>
        </p:spPr>
        <p:txBody>
          <a:bodyPr anchorCtr="0" anchor="ctr" bIns="109700" lIns="109700" spcFirstLastPara="1" rIns="109700" wrap="square" tIns="109700">
            <a:noAutofit/>
          </a:bodyPr>
          <a:lstStyle/>
          <a:p>
            <a:pPr indent="0" lvl="0" marL="0" rtl="0" algn="l">
              <a:spcBef>
                <a:spcPts val="0"/>
              </a:spcBef>
              <a:spcAft>
                <a:spcPts val="0"/>
              </a:spcAft>
              <a:buNone/>
            </a:pPr>
            <a:r>
              <a:t/>
            </a:r>
            <a:endParaRPr/>
          </a:p>
        </p:txBody>
      </p:sp>
      <p:sp>
        <p:nvSpPr>
          <p:cNvPr id="127" name="Google Shape;127;p22"/>
          <p:cNvSpPr txBox="1"/>
          <p:nvPr/>
        </p:nvSpPr>
        <p:spPr>
          <a:xfrm>
            <a:off x="768096" y="5321808"/>
            <a:ext cx="13057632" cy="9326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3864"/>
              </a:buClr>
              <a:buSzPts val="1400"/>
              <a:buFont typeface="Calibri"/>
              <a:buNone/>
            </a:pPr>
            <a:r>
              <a:rPr b="1" i="0" lang="en-US" sz="1400" u="none" cap="none" strike="noStrike">
                <a:solidFill>
                  <a:srgbClr val="1F3864"/>
                </a:solidFill>
                <a:latin typeface="Calibri"/>
                <a:ea typeface="Calibri"/>
                <a:cs typeface="Calibri"/>
                <a:sym typeface="Calibri"/>
              </a:rPr>
              <a:t>Research Motivation: Medical evidence is not simply “supported” or “unsupported”. A reliable system should also recognize missing evidence, conflicting sources, recency, source quality, and clinical risk — and use these signals to decide what to do next.</a:t>
            </a:r>
            <a:endParaRPr b="0" i="0" sz="1400" u="none" cap="none" strike="noStrike">
              <a:solidFill>
                <a:schemeClr val="dk1"/>
              </a:solidFill>
              <a:latin typeface="Calibri"/>
              <a:ea typeface="Calibri"/>
              <a:cs typeface="Calibri"/>
              <a:sym typeface="Calibri"/>
            </a:endParaRPr>
          </a:p>
        </p:txBody>
      </p:sp>
      <p:sp>
        <p:nvSpPr>
          <p:cNvPr id="128" name="Google Shape;128;p22"/>
          <p:cNvSpPr txBox="1"/>
          <p:nvPr/>
        </p:nvSpPr>
        <p:spPr>
          <a:xfrm>
            <a:off x="146304" y="228600"/>
            <a:ext cx="13944600" cy="6156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0" i="0" lang="en-US" sz="3400" u="none" cap="none" strike="noStrike">
                <a:solidFill>
                  <a:srgbClr val="FFFFFF"/>
                </a:solidFill>
                <a:latin typeface="Inter"/>
                <a:ea typeface="Inter"/>
                <a:cs typeface="Inter"/>
                <a:sym typeface="Inter"/>
              </a:rPr>
              <a:t>Introduction</a:t>
            </a:r>
            <a:endParaRPr/>
          </a:p>
        </p:txBody>
      </p:sp>
      <p:sp>
        <p:nvSpPr>
          <p:cNvPr id="129" name="Google Shape;129;p22"/>
          <p:cNvSpPr txBox="1"/>
          <p:nvPr/>
        </p:nvSpPr>
        <p:spPr>
          <a:xfrm>
            <a:off x="14100048" y="7726679"/>
            <a:ext cx="301800" cy="2463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lang="en-US" sz="1000">
                <a:solidFill>
                  <a:srgbClr val="141414"/>
                </a:solidFill>
                <a:latin typeface="Inter"/>
                <a:ea typeface="Inter"/>
                <a:cs typeface="Inter"/>
                <a:sym typeface="Inter"/>
              </a:rPr>
              <a:t>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4" name="Shape 134"/>
        <p:cNvGrpSpPr/>
        <p:nvPr/>
      </p:nvGrpSpPr>
      <p:grpSpPr>
        <a:xfrm>
          <a:off x="0" y="0"/>
          <a:ext cx="0" cy="0"/>
          <a:chOff x="0" y="0"/>
          <a:chExt cx="0" cy="0"/>
        </a:xfrm>
      </p:grpSpPr>
      <p:sp>
        <p:nvSpPr>
          <p:cNvPr id="135" name="Google Shape;135;p23"/>
          <p:cNvSpPr/>
          <p:nvPr/>
        </p:nvSpPr>
        <p:spPr>
          <a:xfrm>
            <a:off x="150" y="-12"/>
            <a:ext cx="14630100" cy="1558200"/>
          </a:xfrm>
          <a:prstGeom prst="rect">
            <a:avLst/>
          </a:prstGeom>
          <a:solidFill>
            <a:srgbClr val="6D9EEB"/>
          </a:solidFill>
          <a:ln>
            <a:noFill/>
          </a:ln>
        </p:spPr>
        <p:txBody>
          <a:bodyPr anchorCtr="0" anchor="ctr" bIns="109700" lIns="109700" spcFirstLastPara="1" rIns="109700" wrap="square" tIns="109700">
            <a:noAutofit/>
          </a:bodyPr>
          <a:lstStyle/>
          <a:p>
            <a:pPr indent="0" lvl="0" marL="0" rtl="0" algn="l">
              <a:spcBef>
                <a:spcPts val="0"/>
              </a:spcBef>
              <a:spcAft>
                <a:spcPts val="0"/>
              </a:spcAft>
              <a:buNone/>
            </a:pPr>
            <a:r>
              <a:t/>
            </a:r>
            <a:endParaRPr/>
          </a:p>
        </p:txBody>
      </p:sp>
      <p:sp>
        <p:nvSpPr>
          <p:cNvPr id="136" name="Google Shape;136;p23"/>
          <p:cNvSpPr txBox="1"/>
          <p:nvPr/>
        </p:nvSpPr>
        <p:spPr>
          <a:xfrm>
            <a:off x="325412" y="12"/>
            <a:ext cx="10972800" cy="1294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100"/>
              <a:buFont typeface="Calibri"/>
              <a:buNone/>
            </a:pPr>
            <a:r>
              <a:rPr b="1" i="0" lang="en-US" sz="3100" u="none" cap="none" strike="noStrike">
                <a:solidFill>
                  <a:srgbClr val="FFFFFF"/>
                </a:solidFill>
                <a:latin typeface="Calibri"/>
                <a:ea typeface="Calibri"/>
                <a:cs typeface="Calibri"/>
                <a:sym typeface="Calibri"/>
              </a:rPr>
              <a:t>Literature Review</a:t>
            </a:r>
            <a:endParaRPr b="0" i="0" sz="3100" u="none" cap="none" strike="noStrike">
              <a:solidFill>
                <a:schemeClr val="dk1"/>
              </a:solidFill>
              <a:latin typeface="Calibri"/>
              <a:ea typeface="Calibri"/>
              <a:cs typeface="Calibri"/>
              <a:sym typeface="Calibri"/>
            </a:endParaRPr>
          </a:p>
        </p:txBody>
      </p:sp>
      <p:sp>
        <p:nvSpPr>
          <p:cNvPr id="137" name="Google Shape;137;p23"/>
          <p:cNvSpPr txBox="1"/>
          <p:nvPr/>
        </p:nvSpPr>
        <p:spPr>
          <a:xfrm>
            <a:off x="438912" y="2139696"/>
            <a:ext cx="4367174" cy="3072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1600"/>
              <a:buFont typeface="Calibri"/>
              <a:buNone/>
            </a:pPr>
            <a:r>
              <a:rPr b="1" i="0" lang="en-US" sz="1600" u="none" cap="none" strike="noStrike">
                <a:solidFill>
                  <a:srgbClr val="1F3864"/>
                </a:solidFill>
                <a:latin typeface="Calibri"/>
                <a:ea typeface="Calibri"/>
                <a:cs typeface="Calibri"/>
                <a:sym typeface="Calibri"/>
              </a:rPr>
              <a:t>A. Medical Question Answering</a:t>
            </a:r>
            <a:endParaRPr b="0" i="0" sz="1600" u="none" cap="none" strike="noStrike">
              <a:solidFill>
                <a:schemeClr val="dk1"/>
              </a:solidFill>
              <a:latin typeface="Calibri"/>
              <a:ea typeface="Calibri"/>
              <a:cs typeface="Calibri"/>
              <a:sym typeface="Calibri"/>
            </a:endParaRPr>
          </a:p>
        </p:txBody>
      </p:sp>
      <p:sp>
        <p:nvSpPr>
          <p:cNvPr id="138" name="Google Shape;138;p23"/>
          <p:cNvSpPr/>
          <p:nvPr/>
        </p:nvSpPr>
        <p:spPr>
          <a:xfrm>
            <a:off x="438912" y="2468880"/>
            <a:ext cx="4367174" cy="1920240"/>
          </a:xfrm>
          <a:prstGeom prst="roundRect">
            <a:avLst>
              <a:gd fmla="val 3429" name="adj"/>
            </a:avLst>
          </a:prstGeom>
          <a:solidFill>
            <a:srgbClr val="FFFFFF"/>
          </a:solidFill>
          <a:ln cap="flat" cmpd="sng" w="12700">
            <a:solidFill>
              <a:srgbClr val="BFBFBF"/>
            </a:solidFill>
            <a:prstDash val="solid"/>
            <a:round/>
            <a:headEnd len="sm" w="sm" type="none"/>
            <a:tailEnd len="sm" w="sm" type="none"/>
          </a:ln>
          <a:effectLst>
            <a:outerShdw blurRad="38100" rotWithShape="0" algn="bl" dir="5400000" dist="12700">
              <a:srgbClr val="808080">
                <a:alpha val="18039"/>
              </a:srgbClr>
            </a:outerShdw>
          </a:effectLst>
        </p:spPr>
        <p:txBody>
          <a:bodyPr anchorCtr="0" anchor="ctr" bIns="109700" lIns="109700" spcFirstLastPara="1" rIns="109700" wrap="square" tIns="109700">
            <a:noAutofit/>
          </a:bodyPr>
          <a:lstStyle/>
          <a:p>
            <a:pPr indent="0" lvl="0" marL="0" rtl="0" algn="l">
              <a:spcBef>
                <a:spcPts val="0"/>
              </a:spcBef>
              <a:spcAft>
                <a:spcPts val="0"/>
              </a:spcAft>
              <a:buNone/>
            </a:pPr>
            <a:r>
              <a:t/>
            </a:r>
            <a:endParaRPr/>
          </a:p>
        </p:txBody>
      </p:sp>
      <p:sp>
        <p:nvSpPr>
          <p:cNvPr id="139" name="Google Shape;139;p23"/>
          <p:cNvSpPr txBox="1"/>
          <p:nvPr/>
        </p:nvSpPr>
        <p:spPr>
          <a:xfrm>
            <a:off x="636422" y="2578608"/>
            <a:ext cx="3972154" cy="1700784"/>
          </a:xfrm>
          <a:prstGeom prst="rect">
            <a:avLst/>
          </a:prstGeom>
          <a:noFill/>
          <a:ln>
            <a:noFill/>
          </a:ln>
        </p:spPr>
        <p:txBody>
          <a:bodyPr anchorCtr="0" anchor="t" bIns="0" lIns="0" spcFirstLastPara="1" rIns="0" wrap="square" tIns="0">
            <a:noAutofit/>
          </a:bodyPr>
          <a:lstStyle/>
          <a:p>
            <a:pPr indent="-158750" lvl="0" marL="165100" marR="0" rtl="0" algn="l">
              <a:spcBef>
                <a:spcPts val="0"/>
              </a:spcBef>
              <a:spcAft>
                <a:spcPts val="0"/>
              </a:spcAft>
              <a:buClr>
                <a:srgbClr val="262626"/>
              </a:buClr>
              <a:buSzPts val="1100"/>
              <a:buFont typeface="Calibri"/>
              <a:buChar char="•"/>
            </a:pPr>
            <a:r>
              <a:rPr b="0" i="0" lang="en-US" sz="1100" u="none" cap="none" strike="noStrike">
                <a:solidFill>
                  <a:srgbClr val="262626"/>
                </a:solidFill>
                <a:latin typeface="Calibri"/>
                <a:ea typeface="Calibri"/>
                <a:cs typeface="Calibri"/>
                <a:sym typeface="Calibri"/>
              </a:rPr>
              <a:t>MedQA evaluates clinical reasoning using USMLE-style multiple-choice questions.</a:t>
            </a:r>
            <a:endParaRPr b="0" i="0" sz="1100" u="none" cap="none" strike="noStrike">
              <a:solidFill>
                <a:schemeClr val="dk1"/>
              </a:solidFill>
              <a:latin typeface="Calibri"/>
              <a:ea typeface="Calibri"/>
              <a:cs typeface="Calibri"/>
              <a:sym typeface="Calibri"/>
            </a:endParaRPr>
          </a:p>
          <a:p>
            <a:pPr indent="-158750" lvl="0" marL="165100" marR="0" rtl="0" algn="l">
              <a:spcBef>
                <a:spcPts val="700"/>
              </a:spcBef>
              <a:spcAft>
                <a:spcPts val="0"/>
              </a:spcAft>
              <a:buClr>
                <a:srgbClr val="262626"/>
              </a:buClr>
              <a:buSzPts val="1100"/>
              <a:buFont typeface="Calibri"/>
              <a:buChar char="•"/>
            </a:pPr>
            <a:r>
              <a:rPr b="0" i="0" lang="en-US" sz="1100" u="none" cap="none" strike="noStrike">
                <a:solidFill>
                  <a:srgbClr val="262626"/>
                </a:solidFill>
                <a:latin typeface="Calibri"/>
                <a:ea typeface="Calibri"/>
                <a:cs typeface="Calibri"/>
                <a:sym typeface="Calibri"/>
              </a:rPr>
              <a:t>PubMedQA evaluates biomedical evidence-based reasoning using research abstracts.</a:t>
            </a:r>
            <a:endParaRPr b="0" i="0" sz="1100" u="none" cap="none" strike="noStrike">
              <a:solidFill>
                <a:schemeClr val="dk1"/>
              </a:solidFill>
              <a:latin typeface="Calibri"/>
              <a:ea typeface="Calibri"/>
              <a:cs typeface="Calibri"/>
              <a:sym typeface="Calibri"/>
            </a:endParaRPr>
          </a:p>
          <a:p>
            <a:pPr indent="-158750" lvl="0" marL="165100" marR="0" rtl="0" algn="l">
              <a:spcBef>
                <a:spcPts val="700"/>
              </a:spcBef>
              <a:spcAft>
                <a:spcPts val="0"/>
              </a:spcAft>
              <a:buClr>
                <a:srgbClr val="262626"/>
              </a:buClr>
              <a:buSzPts val="1100"/>
              <a:buFont typeface="Calibri"/>
              <a:buChar char="•"/>
            </a:pPr>
            <a:r>
              <a:rPr b="0" i="0" lang="en-US" sz="1100" u="none" cap="none" strike="noStrike">
                <a:solidFill>
                  <a:srgbClr val="262626"/>
                </a:solidFill>
                <a:latin typeface="Calibri"/>
                <a:ea typeface="Calibri"/>
                <a:cs typeface="Calibri"/>
                <a:sym typeface="Calibri"/>
              </a:rPr>
              <a:t>MMLU-Medical and MedMCQA broaden coverage across medical subjects and question types.</a:t>
            </a:r>
            <a:endParaRPr b="0" i="0" sz="1100" u="none" cap="none" strike="noStrike">
              <a:solidFill>
                <a:schemeClr val="dk1"/>
              </a:solidFill>
              <a:latin typeface="Calibri"/>
              <a:ea typeface="Calibri"/>
              <a:cs typeface="Calibri"/>
              <a:sym typeface="Calibri"/>
            </a:endParaRPr>
          </a:p>
          <a:p>
            <a:pPr indent="-158750" lvl="0" marL="165100" marR="0" rtl="0" algn="l">
              <a:spcBef>
                <a:spcPts val="700"/>
              </a:spcBef>
              <a:spcAft>
                <a:spcPts val="0"/>
              </a:spcAft>
              <a:buClr>
                <a:srgbClr val="262626"/>
              </a:buClr>
              <a:buSzPts val="1100"/>
              <a:buFont typeface="Calibri"/>
              <a:buChar char="•"/>
            </a:pPr>
            <a:r>
              <a:rPr b="0" i="0" lang="en-US" sz="1100" u="none" cap="none" strike="noStrike">
                <a:solidFill>
                  <a:srgbClr val="262626"/>
                </a:solidFill>
                <a:latin typeface="Calibri"/>
                <a:ea typeface="Calibri"/>
                <a:cs typeface="Calibri"/>
                <a:sym typeface="Calibri"/>
              </a:rPr>
              <a:t>MIRAGE/MedRAG introduced a standardized retrieval-augmented evaluation perspective for medicine.</a:t>
            </a:r>
            <a:endParaRPr b="0" i="0" sz="1100" u="none" cap="none" strike="noStrike">
              <a:solidFill>
                <a:schemeClr val="dk1"/>
              </a:solidFill>
              <a:latin typeface="Calibri"/>
              <a:ea typeface="Calibri"/>
              <a:cs typeface="Calibri"/>
              <a:sym typeface="Calibri"/>
            </a:endParaRPr>
          </a:p>
        </p:txBody>
      </p:sp>
      <p:sp>
        <p:nvSpPr>
          <p:cNvPr id="140" name="Google Shape;140;p23"/>
          <p:cNvSpPr txBox="1"/>
          <p:nvPr/>
        </p:nvSpPr>
        <p:spPr>
          <a:xfrm>
            <a:off x="5135270" y="2139696"/>
            <a:ext cx="4367174" cy="3072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1600"/>
              <a:buFont typeface="Calibri"/>
              <a:buNone/>
            </a:pPr>
            <a:r>
              <a:rPr b="1" i="0" lang="en-US" sz="1600" u="none" cap="none" strike="noStrike">
                <a:solidFill>
                  <a:srgbClr val="1F3864"/>
                </a:solidFill>
                <a:latin typeface="Calibri"/>
                <a:ea typeface="Calibri"/>
                <a:cs typeface="Calibri"/>
                <a:sym typeface="Calibri"/>
              </a:rPr>
              <a:t>B. Retrieval-Augmented Generation</a:t>
            </a:r>
            <a:endParaRPr b="0" i="0" sz="1600" u="none" cap="none" strike="noStrike">
              <a:solidFill>
                <a:schemeClr val="dk1"/>
              </a:solidFill>
              <a:latin typeface="Calibri"/>
              <a:ea typeface="Calibri"/>
              <a:cs typeface="Calibri"/>
              <a:sym typeface="Calibri"/>
            </a:endParaRPr>
          </a:p>
        </p:txBody>
      </p:sp>
      <p:sp>
        <p:nvSpPr>
          <p:cNvPr id="141" name="Google Shape;141;p23"/>
          <p:cNvSpPr/>
          <p:nvPr/>
        </p:nvSpPr>
        <p:spPr>
          <a:xfrm>
            <a:off x="5135270" y="2468880"/>
            <a:ext cx="4367174" cy="1920240"/>
          </a:xfrm>
          <a:prstGeom prst="roundRect">
            <a:avLst>
              <a:gd fmla="val 3429" name="adj"/>
            </a:avLst>
          </a:prstGeom>
          <a:solidFill>
            <a:srgbClr val="FFFFFF"/>
          </a:solidFill>
          <a:ln cap="flat" cmpd="sng" w="12700">
            <a:solidFill>
              <a:srgbClr val="BFBFBF"/>
            </a:solidFill>
            <a:prstDash val="solid"/>
            <a:round/>
            <a:headEnd len="sm" w="sm" type="none"/>
            <a:tailEnd len="sm" w="sm" type="none"/>
          </a:ln>
          <a:effectLst>
            <a:outerShdw blurRad="38100" rotWithShape="0" algn="bl" dir="5400000" dist="12700">
              <a:srgbClr val="808080">
                <a:alpha val="18039"/>
              </a:srgbClr>
            </a:outerShdw>
          </a:effectLst>
        </p:spPr>
        <p:txBody>
          <a:bodyPr anchorCtr="0" anchor="ctr" bIns="109700" lIns="109700" spcFirstLastPara="1" rIns="109700" wrap="square" tIns="109700">
            <a:noAutofit/>
          </a:bodyPr>
          <a:lstStyle/>
          <a:p>
            <a:pPr indent="0" lvl="0" marL="0" rtl="0" algn="l">
              <a:spcBef>
                <a:spcPts val="0"/>
              </a:spcBef>
              <a:spcAft>
                <a:spcPts val="0"/>
              </a:spcAft>
              <a:buNone/>
            </a:pPr>
            <a:r>
              <a:t/>
            </a:r>
            <a:endParaRPr/>
          </a:p>
        </p:txBody>
      </p:sp>
      <p:sp>
        <p:nvSpPr>
          <p:cNvPr id="142" name="Google Shape;142;p23"/>
          <p:cNvSpPr txBox="1"/>
          <p:nvPr/>
        </p:nvSpPr>
        <p:spPr>
          <a:xfrm>
            <a:off x="5332781" y="2578608"/>
            <a:ext cx="3972154" cy="1700784"/>
          </a:xfrm>
          <a:prstGeom prst="rect">
            <a:avLst/>
          </a:prstGeom>
          <a:noFill/>
          <a:ln>
            <a:noFill/>
          </a:ln>
        </p:spPr>
        <p:txBody>
          <a:bodyPr anchorCtr="0" anchor="t" bIns="0" lIns="0" spcFirstLastPara="1" rIns="0" wrap="square" tIns="0">
            <a:noAutofit/>
          </a:bodyPr>
          <a:lstStyle/>
          <a:p>
            <a:pPr indent="-158750" lvl="0" marL="165100" marR="0" rtl="0" algn="l">
              <a:spcBef>
                <a:spcPts val="0"/>
              </a:spcBef>
              <a:spcAft>
                <a:spcPts val="0"/>
              </a:spcAft>
              <a:buClr>
                <a:srgbClr val="262626"/>
              </a:buClr>
              <a:buSzPts val="1100"/>
              <a:buFont typeface="Calibri"/>
              <a:buChar char="•"/>
            </a:pPr>
            <a:r>
              <a:rPr b="0" i="0" lang="en-US" sz="1100" u="none" cap="none" strike="noStrike">
                <a:solidFill>
                  <a:srgbClr val="262626"/>
                </a:solidFill>
                <a:latin typeface="Calibri"/>
                <a:ea typeface="Calibri"/>
                <a:cs typeface="Calibri"/>
                <a:sym typeface="Calibri"/>
              </a:rPr>
              <a:t>Sparse retrieval such as BM25 captures exact terminology and phrase overlap.</a:t>
            </a:r>
            <a:endParaRPr b="0" i="0" sz="1100" u="none" cap="none" strike="noStrike">
              <a:solidFill>
                <a:schemeClr val="dk1"/>
              </a:solidFill>
              <a:latin typeface="Calibri"/>
              <a:ea typeface="Calibri"/>
              <a:cs typeface="Calibri"/>
              <a:sym typeface="Calibri"/>
            </a:endParaRPr>
          </a:p>
          <a:p>
            <a:pPr indent="-158750" lvl="0" marL="165100" marR="0" rtl="0" algn="l">
              <a:spcBef>
                <a:spcPts val="700"/>
              </a:spcBef>
              <a:spcAft>
                <a:spcPts val="0"/>
              </a:spcAft>
              <a:buClr>
                <a:srgbClr val="262626"/>
              </a:buClr>
              <a:buSzPts val="1100"/>
              <a:buFont typeface="Calibri"/>
              <a:buChar char="•"/>
            </a:pPr>
            <a:r>
              <a:rPr b="0" i="0" lang="en-US" sz="1100" u="none" cap="none" strike="noStrike">
                <a:solidFill>
                  <a:srgbClr val="262626"/>
                </a:solidFill>
                <a:latin typeface="Calibri"/>
                <a:ea typeface="Calibri"/>
                <a:cs typeface="Calibri"/>
                <a:sym typeface="Calibri"/>
              </a:rPr>
              <a:t>Dense retrievers capture semantic similarity even when wording differs.</a:t>
            </a:r>
            <a:endParaRPr b="0" i="0" sz="1100" u="none" cap="none" strike="noStrike">
              <a:solidFill>
                <a:schemeClr val="dk1"/>
              </a:solidFill>
              <a:latin typeface="Calibri"/>
              <a:ea typeface="Calibri"/>
              <a:cs typeface="Calibri"/>
              <a:sym typeface="Calibri"/>
            </a:endParaRPr>
          </a:p>
          <a:p>
            <a:pPr indent="-158750" lvl="0" marL="165100" marR="0" rtl="0" algn="l">
              <a:spcBef>
                <a:spcPts val="700"/>
              </a:spcBef>
              <a:spcAft>
                <a:spcPts val="0"/>
              </a:spcAft>
              <a:buClr>
                <a:srgbClr val="262626"/>
              </a:buClr>
              <a:buSzPts val="1100"/>
              <a:buFont typeface="Calibri"/>
              <a:buChar char="•"/>
            </a:pPr>
            <a:r>
              <a:rPr b="0" i="0" lang="en-US" sz="1100" u="none" cap="none" strike="noStrike">
                <a:solidFill>
                  <a:srgbClr val="262626"/>
                </a:solidFill>
                <a:latin typeface="Calibri"/>
                <a:ea typeface="Calibri"/>
                <a:cs typeface="Calibri"/>
                <a:sym typeface="Calibri"/>
              </a:rPr>
              <a:t>Hybrid retrieval combines complementary signals; RRF is a common fusion method.</a:t>
            </a:r>
            <a:endParaRPr b="0" i="0" sz="1100" u="none" cap="none" strike="noStrike">
              <a:solidFill>
                <a:schemeClr val="dk1"/>
              </a:solidFill>
              <a:latin typeface="Calibri"/>
              <a:ea typeface="Calibri"/>
              <a:cs typeface="Calibri"/>
              <a:sym typeface="Calibri"/>
            </a:endParaRPr>
          </a:p>
          <a:p>
            <a:pPr indent="-158750" lvl="0" marL="165100" marR="0" rtl="0" algn="l">
              <a:spcBef>
                <a:spcPts val="700"/>
              </a:spcBef>
              <a:spcAft>
                <a:spcPts val="0"/>
              </a:spcAft>
              <a:buClr>
                <a:srgbClr val="262626"/>
              </a:buClr>
              <a:buSzPts val="1100"/>
              <a:buFont typeface="Calibri"/>
              <a:buChar char="•"/>
            </a:pPr>
            <a:r>
              <a:rPr b="0" i="0" lang="en-US" sz="1100" u="none" cap="none" strike="noStrike">
                <a:solidFill>
                  <a:srgbClr val="262626"/>
                </a:solidFill>
                <a:latin typeface="Calibri"/>
                <a:ea typeface="Calibri"/>
                <a:cs typeface="Calibri"/>
                <a:sym typeface="Calibri"/>
              </a:rPr>
              <a:t>Biomedical retrievers such as MedCPT are designed around medical search behavior.</a:t>
            </a:r>
            <a:endParaRPr b="0" i="0" sz="1100" u="none" cap="none" strike="noStrike">
              <a:solidFill>
                <a:schemeClr val="dk1"/>
              </a:solidFill>
              <a:latin typeface="Calibri"/>
              <a:ea typeface="Calibri"/>
              <a:cs typeface="Calibri"/>
              <a:sym typeface="Calibri"/>
            </a:endParaRPr>
          </a:p>
        </p:txBody>
      </p:sp>
      <p:sp>
        <p:nvSpPr>
          <p:cNvPr id="143" name="Google Shape;143;p23"/>
          <p:cNvSpPr txBox="1"/>
          <p:nvPr/>
        </p:nvSpPr>
        <p:spPr>
          <a:xfrm>
            <a:off x="9831629" y="2139696"/>
            <a:ext cx="4367174" cy="3072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1600"/>
              <a:buFont typeface="Calibri"/>
              <a:buNone/>
            </a:pPr>
            <a:r>
              <a:rPr b="1" i="0" lang="en-US" sz="1600" u="none" cap="none" strike="noStrike">
                <a:solidFill>
                  <a:srgbClr val="1F3864"/>
                </a:solidFill>
                <a:latin typeface="Calibri"/>
                <a:ea typeface="Calibri"/>
                <a:cs typeface="Calibri"/>
                <a:sym typeface="Calibri"/>
              </a:rPr>
              <a:t>C. Iterative &amp; Self-Reflective RAG</a:t>
            </a:r>
            <a:endParaRPr b="0" i="0" sz="1600" u="none" cap="none" strike="noStrike">
              <a:solidFill>
                <a:schemeClr val="dk1"/>
              </a:solidFill>
              <a:latin typeface="Calibri"/>
              <a:ea typeface="Calibri"/>
              <a:cs typeface="Calibri"/>
              <a:sym typeface="Calibri"/>
            </a:endParaRPr>
          </a:p>
        </p:txBody>
      </p:sp>
      <p:sp>
        <p:nvSpPr>
          <p:cNvPr id="144" name="Google Shape;144;p23"/>
          <p:cNvSpPr/>
          <p:nvPr/>
        </p:nvSpPr>
        <p:spPr>
          <a:xfrm>
            <a:off x="9831629" y="2468880"/>
            <a:ext cx="4367174" cy="1920240"/>
          </a:xfrm>
          <a:prstGeom prst="roundRect">
            <a:avLst>
              <a:gd fmla="val 3429" name="adj"/>
            </a:avLst>
          </a:prstGeom>
          <a:solidFill>
            <a:srgbClr val="FFFFFF"/>
          </a:solidFill>
          <a:ln cap="flat" cmpd="sng" w="12700">
            <a:solidFill>
              <a:srgbClr val="BFBFBF"/>
            </a:solidFill>
            <a:prstDash val="solid"/>
            <a:round/>
            <a:headEnd len="sm" w="sm" type="none"/>
            <a:tailEnd len="sm" w="sm" type="none"/>
          </a:ln>
          <a:effectLst>
            <a:outerShdw blurRad="38100" rotWithShape="0" algn="bl" dir="5400000" dist="12700">
              <a:srgbClr val="808080">
                <a:alpha val="18039"/>
              </a:srgbClr>
            </a:outerShdw>
          </a:effectLst>
        </p:spPr>
        <p:txBody>
          <a:bodyPr anchorCtr="0" anchor="ctr" bIns="109700" lIns="109700" spcFirstLastPara="1" rIns="109700" wrap="square" tIns="109700">
            <a:noAutofit/>
          </a:bodyPr>
          <a:lstStyle/>
          <a:p>
            <a:pPr indent="0" lvl="0" marL="0" rtl="0" algn="l">
              <a:spcBef>
                <a:spcPts val="0"/>
              </a:spcBef>
              <a:spcAft>
                <a:spcPts val="0"/>
              </a:spcAft>
              <a:buNone/>
            </a:pPr>
            <a:r>
              <a:t/>
            </a:r>
            <a:endParaRPr/>
          </a:p>
        </p:txBody>
      </p:sp>
      <p:sp>
        <p:nvSpPr>
          <p:cNvPr id="145" name="Google Shape;145;p23"/>
          <p:cNvSpPr txBox="1"/>
          <p:nvPr/>
        </p:nvSpPr>
        <p:spPr>
          <a:xfrm>
            <a:off x="10029139" y="2578608"/>
            <a:ext cx="3972154" cy="1700784"/>
          </a:xfrm>
          <a:prstGeom prst="rect">
            <a:avLst/>
          </a:prstGeom>
          <a:noFill/>
          <a:ln>
            <a:noFill/>
          </a:ln>
        </p:spPr>
        <p:txBody>
          <a:bodyPr anchorCtr="0" anchor="t" bIns="0" lIns="0" spcFirstLastPara="1" rIns="0" wrap="square" tIns="0">
            <a:noAutofit/>
          </a:bodyPr>
          <a:lstStyle/>
          <a:p>
            <a:pPr indent="-158750" lvl="0" marL="165100" marR="0" rtl="0" algn="l">
              <a:spcBef>
                <a:spcPts val="0"/>
              </a:spcBef>
              <a:spcAft>
                <a:spcPts val="0"/>
              </a:spcAft>
              <a:buClr>
                <a:srgbClr val="262626"/>
              </a:buClr>
              <a:buSzPts val="1100"/>
              <a:buFont typeface="Calibri"/>
              <a:buChar char="•"/>
            </a:pPr>
            <a:r>
              <a:rPr b="0" i="0" lang="en-US" sz="1100" u="none" cap="none" strike="noStrike">
                <a:solidFill>
                  <a:srgbClr val="262626"/>
                </a:solidFill>
                <a:latin typeface="Calibri"/>
                <a:ea typeface="Calibri"/>
                <a:cs typeface="Calibri"/>
                <a:sym typeface="Calibri"/>
              </a:rPr>
              <a:t>Self-RAG adds retrieval and critique decisions during generation.</a:t>
            </a:r>
            <a:endParaRPr b="0" i="0" sz="1100" u="none" cap="none" strike="noStrike">
              <a:solidFill>
                <a:schemeClr val="dk1"/>
              </a:solidFill>
              <a:latin typeface="Calibri"/>
              <a:ea typeface="Calibri"/>
              <a:cs typeface="Calibri"/>
              <a:sym typeface="Calibri"/>
            </a:endParaRPr>
          </a:p>
          <a:p>
            <a:pPr indent="-158750" lvl="0" marL="165100" marR="0" rtl="0" algn="l">
              <a:spcBef>
                <a:spcPts val="700"/>
              </a:spcBef>
              <a:spcAft>
                <a:spcPts val="0"/>
              </a:spcAft>
              <a:buClr>
                <a:srgbClr val="262626"/>
              </a:buClr>
              <a:buSzPts val="1100"/>
              <a:buFont typeface="Calibri"/>
              <a:buChar char="•"/>
            </a:pPr>
            <a:r>
              <a:rPr b="0" i="0" lang="en-US" sz="1100" u="none" cap="none" strike="noStrike">
                <a:solidFill>
                  <a:srgbClr val="262626"/>
                </a:solidFill>
                <a:latin typeface="Calibri"/>
                <a:ea typeface="Calibri"/>
                <a:cs typeface="Calibri"/>
                <a:sym typeface="Calibri"/>
              </a:rPr>
              <a:t>i-MedRAG uses iterative follow-up questions to gather missing medical information.</a:t>
            </a:r>
            <a:endParaRPr b="0" i="0" sz="1100" u="none" cap="none" strike="noStrike">
              <a:solidFill>
                <a:schemeClr val="dk1"/>
              </a:solidFill>
              <a:latin typeface="Calibri"/>
              <a:ea typeface="Calibri"/>
              <a:cs typeface="Calibri"/>
              <a:sym typeface="Calibri"/>
            </a:endParaRPr>
          </a:p>
          <a:p>
            <a:pPr indent="-158750" lvl="0" marL="165100" marR="0" rtl="0" algn="l">
              <a:spcBef>
                <a:spcPts val="700"/>
              </a:spcBef>
              <a:spcAft>
                <a:spcPts val="0"/>
              </a:spcAft>
              <a:buClr>
                <a:srgbClr val="262626"/>
              </a:buClr>
              <a:buSzPts val="1100"/>
              <a:buFont typeface="Calibri"/>
              <a:buChar char="•"/>
            </a:pPr>
            <a:r>
              <a:rPr b="0" i="0" lang="en-US" sz="1100" u="none" cap="none" strike="noStrike">
                <a:solidFill>
                  <a:srgbClr val="262626"/>
                </a:solidFill>
                <a:latin typeface="Calibri"/>
                <a:ea typeface="Calibri"/>
                <a:cs typeface="Calibri"/>
                <a:sym typeface="Calibri"/>
              </a:rPr>
              <a:t>SIM-RAG learns when evidence is sufficient to stop searching.</a:t>
            </a:r>
            <a:endParaRPr b="0" i="0" sz="1100" u="none" cap="none" strike="noStrike">
              <a:solidFill>
                <a:schemeClr val="dk1"/>
              </a:solidFill>
              <a:latin typeface="Calibri"/>
              <a:ea typeface="Calibri"/>
              <a:cs typeface="Calibri"/>
              <a:sym typeface="Calibri"/>
            </a:endParaRPr>
          </a:p>
          <a:p>
            <a:pPr indent="-158750" lvl="0" marL="165100" marR="0" rtl="0" algn="l">
              <a:spcBef>
                <a:spcPts val="700"/>
              </a:spcBef>
              <a:spcAft>
                <a:spcPts val="0"/>
              </a:spcAft>
              <a:buClr>
                <a:srgbClr val="262626"/>
              </a:buClr>
              <a:buSzPts val="1100"/>
              <a:buFont typeface="Calibri"/>
              <a:buChar char="•"/>
            </a:pPr>
            <a:r>
              <a:rPr b="0" i="0" lang="en-US" sz="1100" u="none" cap="none" strike="noStrike">
                <a:solidFill>
                  <a:srgbClr val="262626"/>
                </a:solidFill>
                <a:latin typeface="Calibri"/>
                <a:ea typeface="Calibri"/>
                <a:cs typeface="Calibri"/>
                <a:sym typeface="Calibri"/>
              </a:rPr>
              <a:t>Self-MedRAG combines hybrid retrieval with rationale-level verification and query refinement.</a:t>
            </a:r>
            <a:endParaRPr b="0" i="0" sz="1100" u="none" cap="none" strike="noStrike">
              <a:solidFill>
                <a:schemeClr val="dk1"/>
              </a:solidFill>
              <a:latin typeface="Calibri"/>
              <a:ea typeface="Calibri"/>
              <a:cs typeface="Calibri"/>
              <a:sym typeface="Calibri"/>
            </a:endParaRPr>
          </a:p>
        </p:txBody>
      </p:sp>
      <p:sp>
        <p:nvSpPr>
          <p:cNvPr id="146" name="Google Shape;146;p23"/>
          <p:cNvSpPr txBox="1"/>
          <p:nvPr/>
        </p:nvSpPr>
        <p:spPr>
          <a:xfrm>
            <a:off x="438912" y="4663440"/>
            <a:ext cx="4367174" cy="3072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1600"/>
              <a:buFont typeface="Calibri"/>
              <a:buNone/>
            </a:pPr>
            <a:r>
              <a:rPr b="1" i="0" lang="en-US" sz="1600" u="none" cap="none" strike="noStrike">
                <a:solidFill>
                  <a:srgbClr val="1F3864"/>
                </a:solidFill>
                <a:latin typeface="Calibri"/>
                <a:ea typeface="Calibri"/>
                <a:cs typeface="Calibri"/>
                <a:sym typeface="Calibri"/>
              </a:rPr>
              <a:t>D. Medical Agentic RAG</a:t>
            </a:r>
            <a:endParaRPr b="0" i="0" sz="1600" u="none" cap="none" strike="noStrike">
              <a:solidFill>
                <a:schemeClr val="dk1"/>
              </a:solidFill>
              <a:latin typeface="Calibri"/>
              <a:ea typeface="Calibri"/>
              <a:cs typeface="Calibri"/>
              <a:sym typeface="Calibri"/>
            </a:endParaRPr>
          </a:p>
        </p:txBody>
      </p:sp>
      <p:sp>
        <p:nvSpPr>
          <p:cNvPr id="147" name="Google Shape;147;p23"/>
          <p:cNvSpPr/>
          <p:nvPr/>
        </p:nvSpPr>
        <p:spPr>
          <a:xfrm>
            <a:off x="438912" y="4992624"/>
            <a:ext cx="4367174" cy="1920240"/>
          </a:xfrm>
          <a:prstGeom prst="roundRect">
            <a:avLst>
              <a:gd fmla="val 3429" name="adj"/>
            </a:avLst>
          </a:prstGeom>
          <a:solidFill>
            <a:srgbClr val="FFFFFF"/>
          </a:solidFill>
          <a:ln cap="flat" cmpd="sng" w="12700">
            <a:solidFill>
              <a:srgbClr val="BFBFBF"/>
            </a:solidFill>
            <a:prstDash val="solid"/>
            <a:round/>
            <a:headEnd len="sm" w="sm" type="none"/>
            <a:tailEnd len="sm" w="sm" type="none"/>
          </a:ln>
          <a:effectLst>
            <a:outerShdw blurRad="38100" rotWithShape="0" algn="bl" dir="5400000" dist="12700">
              <a:srgbClr val="808080">
                <a:alpha val="18039"/>
              </a:srgbClr>
            </a:outerShdw>
          </a:effectLst>
        </p:spPr>
        <p:txBody>
          <a:bodyPr anchorCtr="0" anchor="ctr" bIns="109700" lIns="109700" spcFirstLastPara="1" rIns="109700" wrap="square" tIns="109700">
            <a:noAutofit/>
          </a:bodyPr>
          <a:lstStyle/>
          <a:p>
            <a:pPr indent="0" lvl="0" marL="0" rtl="0" algn="l">
              <a:spcBef>
                <a:spcPts val="0"/>
              </a:spcBef>
              <a:spcAft>
                <a:spcPts val="0"/>
              </a:spcAft>
              <a:buNone/>
            </a:pPr>
            <a:r>
              <a:t/>
            </a:r>
            <a:endParaRPr/>
          </a:p>
        </p:txBody>
      </p:sp>
      <p:sp>
        <p:nvSpPr>
          <p:cNvPr id="148" name="Google Shape;148;p23"/>
          <p:cNvSpPr txBox="1"/>
          <p:nvPr/>
        </p:nvSpPr>
        <p:spPr>
          <a:xfrm>
            <a:off x="636422" y="5102352"/>
            <a:ext cx="3972154" cy="1700784"/>
          </a:xfrm>
          <a:prstGeom prst="rect">
            <a:avLst/>
          </a:prstGeom>
          <a:noFill/>
          <a:ln>
            <a:noFill/>
          </a:ln>
        </p:spPr>
        <p:txBody>
          <a:bodyPr anchorCtr="0" anchor="t" bIns="0" lIns="0" spcFirstLastPara="1" rIns="0" wrap="square" tIns="0">
            <a:noAutofit/>
          </a:bodyPr>
          <a:lstStyle/>
          <a:p>
            <a:pPr indent="-158750" lvl="0" marL="165100" marR="0" rtl="0" algn="l">
              <a:spcBef>
                <a:spcPts val="0"/>
              </a:spcBef>
              <a:spcAft>
                <a:spcPts val="0"/>
              </a:spcAft>
              <a:buClr>
                <a:srgbClr val="262626"/>
              </a:buClr>
              <a:buSzPts val="1100"/>
              <a:buFont typeface="Calibri"/>
              <a:buChar char="•"/>
            </a:pPr>
            <a:r>
              <a:rPr b="0" i="0" lang="en-US" sz="1100" u="none" cap="none" strike="noStrike">
                <a:solidFill>
                  <a:srgbClr val="262626"/>
                </a:solidFill>
                <a:latin typeface="Calibri"/>
                <a:ea typeface="Calibri"/>
                <a:cs typeface="Calibri"/>
                <a:sym typeface="Calibri"/>
              </a:rPr>
              <a:t>SEMA-RAG separates medical reasoning into Interpreter, Explorer and Arbiter roles.</a:t>
            </a:r>
            <a:endParaRPr b="0" i="0" sz="1100" u="none" cap="none" strike="noStrike">
              <a:solidFill>
                <a:schemeClr val="dk1"/>
              </a:solidFill>
              <a:latin typeface="Calibri"/>
              <a:ea typeface="Calibri"/>
              <a:cs typeface="Calibri"/>
              <a:sym typeface="Calibri"/>
            </a:endParaRPr>
          </a:p>
          <a:p>
            <a:pPr indent="-158750" lvl="0" marL="165100" marR="0" rtl="0" algn="l">
              <a:spcBef>
                <a:spcPts val="700"/>
              </a:spcBef>
              <a:spcAft>
                <a:spcPts val="0"/>
              </a:spcAft>
              <a:buClr>
                <a:srgbClr val="262626"/>
              </a:buClr>
              <a:buSzPts val="1100"/>
              <a:buFont typeface="Calibri"/>
              <a:buChar char="•"/>
            </a:pPr>
            <a:r>
              <a:rPr b="0" i="0" lang="en-US" sz="1100" u="none" cap="none" strike="noStrike">
                <a:solidFill>
                  <a:srgbClr val="262626"/>
                </a:solidFill>
                <a:latin typeface="Calibri"/>
                <a:ea typeface="Calibri"/>
                <a:cs typeface="Calibri"/>
                <a:sym typeface="Calibri"/>
              </a:rPr>
              <a:t>Med-SRAF focuses on semantic routing and evidence fusion to reduce semantic drift.</a:t>
            </a:r>
            <a:endParaRPr b="0" i="0" sz="1100" u="none" cap="none" strike="noStrike">
              <a:solidFill>
                <a:schemeClr val="dk1"/>
              </a:solidFill>
              <a:latin typeface="Calibri"/>
              <a:ea typeface="Calibri"/>
              <a:cs typeface="Calibri"/>
              <a:sym typeface="Calibri"/>
            </a:endParaRPr>
          </a:p>
          <a:p>
            <a:pPr indent="-158750" lvl="0" marL="165100" marR="0" rtl="0" algn="l">
              <a:spcBef>
                <a:spcPts val="700"/>
              </a:spcBef>
              <a:spcAft>
                <a:spcPts val="0"/>
              </a:spcAft>
              <a:buClr>
                <a:srgbClr val="262626"/>
              </a:buClr>
              <a:buSzPts val="1100"/>
              <a:buFont typeface="Calibri"/>
              <a:buChar char="•"/>
            </a:pPr>
            <a:r>
              <a:rPr b="0" i="0" lang="en-US" sz="1100" u="none" cap="none" strike="noStrike">
                <a:solidFill>
                  <a:srgbClr val="262626"/>
                </a:solidFill>
                <a:latin typeface="Calibri"/>
                <a:ea typeface="Calibri"/>
                <a:cs typeface="Calibri"/>
                <a:sym typeface="Calibri"/>
              </a:rPr>
              <a:t>CRITIC-RAG integrates verification and evidence filtering into the workflow.</a:t>
            </a:r>
            <a:endParaRPr b="0" i="0" sz="1100" u="none" cap="none" strike="noStrike">
              <a:solidFill>
                <a:schemeClr val="dk1"/>
              </a:solidFill>
              <a:latin typeface="Calibri"/>
              <a:ea typeface="Calibri"/>
              <a:cs typeface="Calibri"/>
              <a:sym typeface="Calibri"/>
            </a:endParaRPr>
          </a:p>
          <a:p>
            <a:pPr indent="-158750" lvl="0" marL="165100" marR="0" rtl="0" algn="l">
              <a:spcBef>
                <a:spcPts val="700"/>
              </a:spcBef>
              <a:spcAft>
                <a:spcPts val="0"/>
              </a:spcAft>
              <a:buClr>
                <a:srgbClr val="262626"/>
              </a:buClr>
              <a:buSzPts val="1100"/>
              <a:buFont typeface="Calibri"/>
              <a:buChar char="•"/>
            </a:pPr>
            <a:r>
              <a:rPr b="0" i="0" lang="en-US" sz="1100" u="none" cap="none" strike="noStrike">
                <a:solidFill>
                  <a:srgbClr val="262626"/>
                </a:solidFill>
                <a:latin typeface="Calibri"/>
                <a:ea typeface="Calibri"/>
                <a:cs typeface="Calibri"/>
                <a:sym typeface="Calibri"/>
              </a:rPr>
              <a:t>The trend is toward systems that actively decide how to retrieve and reason.</a:t>
            </a:r>
            <a:endParaRPr b="0" i="0" sz="1100" u="none" cap="none" strike="noStrike">
              <a:solidFill>
                <a:schemeClr val="dk1"/>
              </a:solidFill>
              <a:latin typeface="Calibri"/>
              <a:ea typeface="Calibri"/>
              <a:cs typeface="Calibri"/>
              <a:sym typeface="Calibri"/>
            </a:endParaRPr>
          </a:p>
        </p:txBody>
      </p:sp>
      <p:sp>
        <p:nvSpPr>
          <p:cNvPr id="149" name="Google Shape;149;p23"/>
          <p:cNvSpPr txBox="1"/>
          <p:nvPr/>
        </p:nvSpPr>
        <p:spPr>
          <a:xfrm>
            <a:off x="5135270" y="4663440"/>
            <a:ext cx="4367174" cy="3072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1600"/>
              <a:buFont typeface="Calibri"/>
              <a:buNone/>
            </a:pPr>
            <a:r>
              <a:rPr b="1" i="0" lang="en-US" sz="1600" u="none" cap="none" strike="noStrike">
                <a:solidFill>
                  <a:srgbClr val="1F3864"/>
                </a:solidFill>
                <a:latin typeface="Calibri"/>
                <a:ea typeface="Calibri"/>
                <a:cs typeface="Calibri"/>
                <a:sym typeface="Calibri"/>
              </a:rPr>
              <a:t>E. Evidence Verification &amp; Reliability</a:t>
            </a:r>
            <a:endParaRPr b="0" i="0" sz="1600" u="none" cap="none" strike="noStrike">
              <a:solidFill>
                <a:schemeClr val="dk1"/>
              </a:solidFill>
              <a:latin typeface="Calibri"/>
              <a:ea typeface="Calibri"/>
              <a:cs typeface="Calibri"/>
              <a:sym typeface="Calibri"/>
            </a:endParaRPr>
          </a:p>
        </p:txBody>
      </p:sp>
      <p:sp>
        <p:nvSpPr>
          <p:cNvPr id="150" name="Google Shape;150;p23"/>
          <p:cNvSpPr/>
          <p:nvPr/>
        </p:nvSpPr>
        <p:spPr>
          <a:xfrm>
            <a:off x="5135270" y="4992624"/>
            <a:ext cx="4367174" cy="1920240"/>
          </a:xfrm>
          <a:prstGeom prst="roundRect">
            <a:avLst>
              <a:gd fmla="val 3429" name="adj"/>
            </a:avLst>
          </a:prstGeom>
          <a:solidFill>
            <a:srgbClr val="FFFFFF"/>
          </a:solidFill>
          <a:ln cap="flat" cmpd="sng" w="12700">
            <a:solidFill>
              <a:srgbClr val="BFBFBF"/>
            </a:solidFill>
            <a:prstDash val="solid"/>
            <a:round/>
            <a:headEnd len="sm" w="sm" type="none"/>
            <a:tailEnd len="sm" w="sm" type="none"/>
          </a:ln>
          <a:effectLst>
            <a:outerShdw blurRad="38100" rotWithShape="0" algn="bl" dir="5400000" dist="12700">
              <a:srgbClr val="808080">
                <a:alpha val="18039"/>
              </a:srgbClr>
            </a:outerShdw>
          </a:effectLst>
        </p:spPr>
        <p:txBody>
          <a:bodyPr anchorCtr="0" anchor="ctr" bIns="109700" lIns="109700" spcFirstLastPara="1" rIns="109700" wrap="square" tIns="109700">
            <a:noAutofit/>
          </a:bodyPr>
          <a:lstStyle/>
          <a:p>
            <a:pPr indent="0" lvl="0" marL="0" rtl="0" algn="l">
              <a:spcBef>
                <a:spcPts val="0"/>
              </a:spcBef>
              <a:spcAft>
                <a:spcPts val="0"/>
              </a:spcAft>
              <a:buNone/>
            </a:pPr>
            <a:r>
              <a:t/>
            </a:r>
            <a:endParaRPr/>
          </a:p>
        </p:txBody>
      </p:sp>
      <p:sp>
        <p:nvSpPr>
          <p:cNvPr id="151" name="Google Shape;151;p23"/>
          <p:cNvSpPr txBox="1"/>
          <p:nvPr/>
        </p:nvSpPr>
        <p:spPr>
          <a:xfrm>
            <a:off x="5332781" y="5102352"/>
            <a:ext cx="3972154" cy="1700784"/>
          </a:xfrm>
          <a:prstGeom prst="rect">
            <a:avLst/>
          </a:prstGeom>
          <a:noFill/>
          <a:ln>
            <a:noFill/>
          </a:ln>
        </p:spPr>
        <p:txBody>
          <a:bodyPr anchorCtr="0" anchor="t" bIns="0" lIns="0" spcFirstLastPara="1" rIns="0" wrap="square" tIns="0">
            <a:noAutofit/>
          </a:bodyPr>
          <a:lstStyle/>
          <a:p>
            <a:pPr indent="-158750" lvl="0" marL="165100" marR="0" rtl="0" algn="l">
              <a:spcBef>
                <a:spcPts val="0"/>
              </a:spcBef>
              <a:spcAft>
                <a:spcPts val="0"/>
              </a:spcAft>
              <a:buClr>
                <a:srgbClr val="262626"/>
              </a:buClr>
              <a:buSzPts val="1100"/>
              <a:buFont typeface="Calibri"/>
              <a:buChar char="•"/>
            </a:pPr>
            <a:r>
              <a:rPr b="0" i="0" lang="en-US" sz="1100" u="none" cap="none" strike="noStrike">
                <a:solidFill>
                  <a:srgbClr val="262626"/>
                </a:solidFill>
                <a:latin typeface="Calibri"/>
                <a:ea typeface="Calibri"/>
                <a:cs typeface="Calibri"/>
                <a:sym typeface="Calibri"/>
              </a:rPr>
              <a:t>MedRAGChecker decomposes answers into claims and checks evidence support/contradiction.</a:t>
            </a:r>
            <a:endParaRPr b="0" i="0" sz="1100" u="none" cap="none" strike="noStrike">
              <a:solidFill>
                <a:schemeClr val="dk1"/>
              </a:solidFill>
              <a:latin typeface="Calibri"/>
              <a:ea typeface="Calibri"/>
              <a:cs typeface="Calibri"/>
              <a:sym typeface="Calibri"/>
            </a:endParaRPr>
          </a:p>
          <a:p>
            <a:pPr indent="-158750" lvl="0" marL="165100" marR="0" rtl="0" algn="l">
              <a:spcBef>
                <a:spcPts val="700"/>
              </a:spcBef>
              <a:spcAft>
                <a:spcPts val="0"/>
              </a:spcAft>
              <a:buClr>
                <a:srgbClr val="262626"/>
              </a:buClr>
              <a:buSzPts val="1100"/>
              <a:buFont typeface="Calibri"/>
              <a:buChar char="•"/>
            </a:pPr>
            <a:r>
              <a:rPr b="0" i="0" lang="en-US" sz="1100" u="none" cap="none" strike="noStrike">
                <a:solidFill>
                  <a:srgbClr val="262626"/>
                </a:solidFill>
                <a:latin typeface="Calibri"/>
                <a:ea typeface="Calibri"/>
                <a:cs typeface="Calibri"/>
                <a:sym typeface="Calibri"/>
              </a:rPr>
              <a:t>RA-RAG estimates source reliability rather than relying only on relevance.</a:t>
            </a:r>
            <a:endParaRPr b="0" i="0" sz="1100" u="none" cap="none" strike="noStrike">
              <a:solidFill>
                <a:schemeClr val="dk1"/>
              </a:solidFill>
              <a:latin typeface="Calibri"/>
              <a:ea typeface="Calibri"/>
              <a:cs typeface="Calibri"/>
              <a:sym typeface="Calibri"/>
            </a:endParaRPr>
          </a:p>
          <a:p>
            <a:pPr indent="-158750" lvl="0" marL="165100" marR="0" rtl="0" algn="l">
              <a:spcBef>
                <a:spcPts val="700"/>
              </a:spcBef>
              <a:spcAft>
                <a:spcPts val="0"/>
              </a:spcAft>
              <a:buClr>
                <a:srgbClr val="262626"/>
              </a:buClr>
              <a:buSzPts val="1100"/>
              <a:buFont typeface="Calibri"/>
              <a:buChar char="•"/>
            </a:pPr>
            <a:r>
              <a:rPr b="0" i="0" lang="en-US" sz="1100" u="none" cap="none" strike="noStrike">
                <a:solidFill>
                  <a:srgbClr val="262626"/>
                </a:solidFill>
                <a:latin typeface="Calibri"/>
                <a:ea typeface="Calibri"/>
                <a:cs typeface="Calibri"/>
                <a:sym typeface="Calibri"/>
              </a:rPr>
              <a:t>These works show that relevance, support and source reliability are different signals.</a:t>
            </a:r>
            <a:endParaRPr b="0" i="0" sz="1100" u="none" cap="none" strike="noStrike">
              <a:solidFill>
                <a:schemeClr val="dk1"/>
              </a:solidFill>
              <a:latin typeface="Calibri"/>
              <a:ea typeface="Calibri"/>
              <a:cs typeface="Calibri"/>
              <a:sym typeface="Calibri"/>
            </a:endParaRPr>
          </a:p>
          <a:p>
            <a:pPr indent="-158750" lvl="0" marL="165100" marR="0" rtl="0" algn="l">
              <a:spcBef>
                <a:spcPts val="700"/>
              </a:spcBef>
              <a:spcAft>
                <a:spcPts val="0"/>
              </a:spcAft>
              <a:buClr>
                <a:srgbClr val="262626"/>
              </a:buClr>
              <a:buSzPts val="1100"/>
              <a:buFont typeface="Calibri"/>
              <a:buChar char="•"/>
            </a:pPr>
            <a:r>
              <a:rPr b="0" i="0" lang="en-US" sz="1100" u="none" cap="none" strike="noStrike">
                <a:solidFill>
                  <a:srgbClr val="262626"/>
                </a:solidFill>
                <a:latin typeface="Calibri"/>
                <a:ea typeface="Calibri"/>
                <a:cs typeface="Calibri"/>
                <a:sym typeface="Calibri"/>
              </a:rPr>
              <a:t>A medical system needs to combine these signals when deciding what to do next.</a:t>
            </a:r>
            <a:endParaRPr b="0" i="0" sz="1100" u="none" cap="none" strike="noStrike">
              <a:solidFill>
                <a:schemeClr val="dk1"/>
              </a:solidFill>
              <a:latin typeface="Calibri"/>
              <a:ea typeface="Calibri"/>
              <a:cs typeface="Calibri"/>
              <a:sym typeface="Calibri"/>
            </a:endParaRPr>
          </a:p>
        </p:txBody>
      </p:sp>
      <p:sp>
        <p:nvSpPr>
          <p:cNvPr id="152" name="Google Shape;152;p23"/>
          <p:cNvSpPr txBox="1"/>
          <p:nvPr/>
        </p:nvSpPr>
        <p:spPr>
          <a:xfrm>
            <a:off x="9831629" y="4663440"/>
            <a:ext cx="4367174" cy="3072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0000"/>
              </a:buClr>
              <a:buSzPts val="1600"/>
              <a:buFont typeface="Calibri"/>
              <a:buNone/>
            </a:pPr>
            <a:r>
              <a:rPr b="1" i="0" lang="en-US" sz="1600" u="none" cap="none" strike="noStrike">
                <a:solidFill>
                  <a:srgbClr val="C00000"/>
                </a:solidFill>
                <a:latin typeface="Calibri"/>
                <a:ea typeface="Calibri"/>
                <a:cs typeface="Calibri"/>
                <a:sym typeface="Calibri"/>
              </a:rPr>
              <a:t>Key Observation</a:t>
            </a:r>
            <a:endParaRPr b="0" i="0" sz="1600" u="none" cap="none" strike="noStrike">
              <a:solidFill>
                <a:schemeClr val="dk1"/>
              </a:solidFill>
              <a:latin typeface="Calibri"/>
              <a:ea typeface="Calibri"/>
              <a:cs typeface="Calibri"/>
              <a:sym typeface="Calibri"/>
            </a:endParaRPr>
          </a:p>
        </p:txBody>
      </p:sp>
      <p:sp>
        <p:nvSpPr>
          <p:cNvPr id="153" name="Google Shape;153;p23"/>
          <p:cNvSpPr/>
          <p:nvPr/>
        </p:nvSpPr>
        <p:spPr>
          <a:xfrm>
            <a:off x="9831629" y="4992624"/>
            <a:ext cx="4367174" cy="1920240"/>
          </a:xfrm>
          <a:prstGeom prst="roundRect">
            <a:avLst>
              <a:gd fmla="val 3429" name="adj"/>
            </a:avLst>
          </a:prstGeom>
          <a:solidFill>
            <a:srgbClr val="FADBD8"/>
          </a:solidFill>
          <a:ln cap="flat" cmpd="sng" w="15875">
            <a:solidFill>
              <a:srgbClr val="C00000"/>
            </a:solidFill>
            <a:prstDash val="solid"/>
            <a:round/>
            <a:headEnd len="sm" w="sm" type="none"/>
            <a:tailEnd len="sm" w="sm" type="none"/>
          </a:ln>
        </p:spPr>
        <p:txBody>
          <a:bodyPr anchorCtr="0" anchor="ctr" bIns="109700" lIns="109700" spcFirstLastPara="1" rIns="109700" wrap="square" tIns="109700">
            <a:noAutofit/>
          </a:bodyPr>
          <a:lstStyle/>
          <a:p>
            <a:pPr indent="0" lvl="0" marL="0" rtl="0" algn="l">
              <a:spcBef>
                <a:spcPts val="0"/>
              </a:spcBef>
              <a:spcAft>
                <a:spcPts val="0"/>
              </a:spcAft>
              <a:buNone/>
            </a:pPr>
            <a:r>
              <a:t/>
            </a:r>
            <a:endParaRPr/>
          </a:p>
        </p:txBody>
      </p:sp>
      <p:sp>
        <p:nvSpPr>
          <p:cNvPr id="154" name="Google Shape;154;p23"/>
          <p:cNvSpPr txBox="1"/>
          <p:nvPr/>
        </p:nvSpPr>
        <p:spPr>
          <a:xfrm>
            <a:off x="10051085" y="5124298"/>
            <a:ext cx="3928262" cy="165689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3864"/>
              </a:buClr>
              <a:buSzPts val="1200"/>
              <a:buFont typeface="Calibri"/>
              <a:buNone/>
            </a:pPr>
            <a:r>
              <a:rPr b="1" i="0" lang="en-US" sz="1200" u="none" cap="none" strike="noStrike">
                <a:solidFill>
                  <a:srgbClr val="1F3864"/>
                </a:solidFill>
                <a:latin typeface="Calibri"/>
                <a:ea typeface="Calibri"/>
                <a:cs typeface="Calibri"/>
                <a:sym typeface="Calibri"/>
              </a:rPr>
              <a:t>The literature has progressed from retrieving relevant text to actively verifying, correcting and controlling retrieval. However, the problem is still how to maintain an explicit clinical evidence state and use that state to select the next evidence-seeking action.</a:t>
            </a:r>
            <a:endParaRPr b="0" i="0" sz="1200" u="none" cap="none" strike="noStrike">
              <a:solidFill>
                <a:schemeClr val="dk1"/>
              </a:solidFill>
              <a:latin typeface="Calibri"/>
              <a:ea typeface="Calibri"/>
              <a:cs typeface="Calibri"/>
              <a:sym typeface="Calibri"/>
            </a:endParaRPr>
          </a:p>
        </p:txBody>
      </p:sp>
      <p:sp>
        <p:nvSpPr>
          <p:cNvPr id="155" name="Google Shape;155;p23"/>
          <p:cNvSpPr txBox="1"/>
          <p:nvPr/>
        </p:nvSpPr>
        <p:spPr>
          <a:xfrm>
            <a:off x="14045184" y="7845552"/>
            <a:ext cx="4389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62626"/>
              </a:buClr>
              <a:buSzPts val="1200"/>
              <a:buFont typeface="Calibri"/>
              <a:buNone/>
            </a:pPr>
            <a:r>
              <a:rPr b="0" i="0" lang="en-US" sz="1200" u="none" cap="none" strike="noStrike">
                <a:solidFill>
                  <a:srgbClr val="262626"/>
                </a:solidFill>
                <a:latin typeface="Calibri"/>
                <a:ea typeface="Calibri"/>
                <a:cs typeface="Calibri"/>
                <a:sym typeface="Calibri"/>
              </a:rPr>
              <a:t>4</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0" name="Shape 160"/>
        <p:cNvGrpSpPr/>
        <p:nvPr/>
      </p:nvGrpSpPr>
      <p:grpSpPr>
        <a:xfrm>
          <a:off x="0" y="0"/>
          <a:ext cx="0" cy="0"/>
          <a:chOff x="0" y="0"/>
          <a:chExt cx="0" cy="0"/>
        </a:xfrm>
      </p:grpSpPr>
      <p:sp>
        <p:nvSpPr>
          <p:cNvPr id="161" name="Google Shape;161;p24"/>
          <p:cNvSpPr/>
          <p:nvPr/>
        </p:nvSpPr>
        <p:spPr>
          <a:xfrm>
            <a:off x="0" y="0"/>
            <a:ext cx="14630034" cy="1810512"/>
          </a:xfrm>
          <a:prstGeom prst="rect">
            <a:avLst/>
          </a:prstGeom>
          <a:solidFill>
            <a:srgbClr val="6D9EEB"/>
          </a:solidFill>
          <a:ln>
            <a:noFill/>
          </a:ln>
        </p:spPr>
        <p:txBody>
          <a:bodyPr anchorCtr="0" anchor="ctr" bIns="109700" lIns="109700" spcFirstLastPara="1" rIns="109700" wrap="square" tIns="109700">
            <a:noAutofit/>
          </a:bodyPr>
          <a:lstStyle/>
          <a:p>
            <a:pPr indent="0" lvl="0" marL="0" rtl="0" algn="l">
              <a:spcBef>
                <a:spcPts val="0"/>
              </a:spcBef>
              <a:spcAft>
                <a:spcPts val="0"/>
              </a:spcAft>
              <a:buNone/>
            </a:pPr>
            <a:r>
              <a:t/>
            </a:r>
            <a:endParaRPr/>
          </a:p>
        </p:txBody>
      </p:sp>
      <p:sp>
        <p:nvSpPr>
          <p:cNvPr id="162" name="Google Shape;162;p24"/>
          <p:cNvSpPr txBox="1"/>
          <p:nvPr/>
        </p:nvSpPr>
        <p:spPr>
          <a:xfrm>
            <a:off x="384048" y="548640"/>
            <a:ext cx="13825728" cy="7680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Calibri"/>
              <a:buNone/>
            </a:pPr>
            <a:r>
              <a:rPr b="1" i="0" lang="en-US" sz="3200" u="none" cap="none" strike="noStrike">
                <a:solidFill>
                  <a:srgbClr val="FFFFFF"/>
                </a:solidFill>
                <a:latin typeface="Calibri"/>
                <a:ea typeface="Calibri"/>
                <a:cs typeface="Calibri"/>
                <a:sym typeface="Calibri"/>
              </a:rPr>
              <a:t>Literature Review — Detailed Comparison &amp; Gap</a:t>
            </a:r>
            <a:endParaRPr b="0" i="0" sz="3200" u="none" cap="none" strike="noStrike">
              <a:solidFill>
                <a:schemeClr val="dk1"/>
              </a:solidFill>
              <a:latin typeface="Calibri"/>
              <a:ea typeface="Calibri"/>
              <a:cs typeface="Calibri"/>
              <a:sym typeface="Calibri"/>
            </a:endParaRPr>
          </a:p>
        </p:txBody>
      </p:sp>
      <p:graphicFrame>
        <p:nvGraphicFramePr>
          <p:cNvPr id="163" name="Google Shape;163;p24"/>
          <p:cNvGraphicFramePr/>
          <p:nvPr/>
        </p:nvGraphicFramePr>
        <p:xfrm>
          <a:off x="438912" y="2029968"/>
          <a:ext cx="3000000" cy="3000000"/>
        </p:xfrm>
        <a:graphic>
          <a:graphicData uri="http://schemas.openxmlformats.org/drawingml/2006/table">
            <a:tbl>
              <a:tblPr>
                <a:noFill/>
                <a:tableStyleId>{88849397-2BFA-4254-B740-3033BBAF3286}</a:tableStyleId>
              </a:tblPr>
              <a:tblGrid>
                <a:gridCol w="1810500"/>
                <a:gridCol w="4114800"/>
                <a:gridCol w="3675900"/>
                <a:gridCol w="4114800"/>
              </a:tblGrid>
              <a:tr h="438900">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rPr>
                        <a:t>Work / Year</a:t>
                      </a:r>
                      <a:endParaRPr sz="1300" u="none" cap="none" strike="noStrike"/>
                    </a:p>
                  </a:txBody>
                  <a:tcPr marT="54875" marB="54875" marR="109750" marL="1097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6D9EEB"/>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rPr>
                        <a:t>Core idea</a:t>
                      </a:r>
                      <a:endParaRPr sz="1300" u="none" cap="none" strike="noStrike"/>
                    </a:p>
                  </a:txBody>
                  <a:tcPr marT="54875" marB="54875" marR="109750" marL="1097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6D9EEB"/>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rPr>
                        <a:t>Strength</a:t>
                      </a:r>
                      <a:endParaRPr sz="1300" u="none" cap="none" strike="noStrike"/>
                    </a:p>
                  </a:txBody>
                  <a:tcPr marT="54875" marB="54875" marR="109750" marL="1097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6D9EEB"/>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rPr>
                        <a:t>Limitation / Open question</a:t>
                      </a:r>
                      <a:endParaRPr sz="1300" u="none" cap="none" strike="noStrike"/>
                    </a:p>
                  </a:txBody>
                  <a:tcPr marT="54875" marB="54875" marR="109750" marL="1097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6D9EEB"/>
                    </a:solidFill>
                  </a:tcPr>
                </a:tc>
              </a:tr>
              <a:tr h="724200">
                <a:tc>
                  <a:txBody>
                    <a:bodyPr/>
                    <a:lstStyle/>
                    <a:p>
                      <a:pPr indent="0" lvl="0" marL="0" marR="0" rtl="0" algn="l">
                        <a:spcBef>
                          <a:spcPts val="0"/>
                        </a:spcBef>
                        <a:spcAft>
                          <a:spcPts val="0"/>
                        </a:spcAft>
                        <a:buClr>
                          <a:srgbClr val="1F3864"/>
                        </a:buClr>
                        <a:buSzPts val="1300"/>
                        <a:buFont typeface="Calibri"/>
                        <a:buNone/>
                      </a:pPr>
                      <a:r>
                        <a:rPr b="1" lang="en-US" sz="1300" u="none" cap="none" strike="noStrike">
                          <a:solidFill>
                            <a:srgbClr val="1F3864"/>
                          </a:solidFill>
                        </a:rPr>
                        <a:t>Self-MedRAG</a:t>
                      </a:r>
                      <a:endParaRPr sz="1300" u="none" cap="none" strike="noStrike"/>
                    </a:p>
                    <a:p>
                      <a:pPr indent="0" lvl="0" marL="0" marR="0" rtl="0" algn="l">
                        <a:spcBef>
                          <a:spcPts val="0"/>
                        </a:spcBef>
                        <a:spcAft>
                          <a:spcPts val="0"/>
                        </a:spcAft>
                        <a:buClr>
                          <a:srgbClr val="1F3864"/>
                        </a:buClr>
                        <a:buSzPts val="1300"/>
                        <a:buFont typeface="Calibri"/>
                        <a:buNone/>
                      </a:pPr>
                      <a:r>
                        <a:rPr b="1" lang="en-US" sz="1300" u="none" cap="none" strike="noStrike">
                          <a:solidFill>
                            <a:srgbClr val="1F3864"/>
                          </a:solidFill>
                        </a:rPr>
                        <a:t>2026</a:t>
                      </a:r>
                      <a:endParaRPr sz="1300" u="none" cap="none" strike="noStrike"/>
                    </a:p>
                  </a:txBody>
                  <a:tcPr marT="54875" marB="54875" marR="109750" marL="1097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62626"/>
                        </a:buClr>
                        <a:buSzPts val="1200"/>
                        <a:buFont typeface="Calibri"/>
                        <a:buNone/>
                      </a:pPr>
                      <a:r>
                        <a:rPr lang="en-US" sz="1200" u="none" cap="none" strike="noStrike">
                          <a:solidFill>
                            <a:srgbClr val="262626"/>
                          </a:solidFill>
                        </a:rPr>
                        <a:t>BM25 + Contriever + RRF; generate rationale; NLI/LLM verification; iterative query refinement.</a:t>
                      </a:r>
                      <a:endParaRPr sz="1200" u="none" cap="none" strike="noStrike"/>
                    </a:p>
                  </a:txBody>
                  <a:tcPr marT="54875" marB="54875" marR="109750" marL="1097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62626"/>
                        </a:buClr>
                        <a:buSzPts val="1200"/>
                        <a:buFont typeface="Calibri"/>
                        <a:buNone/>
                      </a:pPr>
                      <a:r>
                        <a:rPr lang="en-US" sz="1200" u="none" cap="none" strike="noStrike">
                          <a:solidFill>
                            <a:srgbClr val="262626"/>
                          </a:solidFill>
                        </a:rPr>
                        <a:t>Simple, practical iterative medical RAG; directly checks generated reasoning.</a:t>
                      </a:r>
                      <a:endParaRPr sz="1200" u="none" cap="none" strike="noStrike"/>
                    </a:p>
                  </a:txBody>
                  <a:tcPr marT="54875" marB="54875" marR="109750" marL="1097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62626"/>
                        </a:buClr>
                        <a:buSzPts val="1200"/>
                        <a:buFont typeface="Calibri"/>
                        <a:buNone/>
                      </a:pPr>
                      <a:r>
                        <a:rPr lang="en-US" sz="1200" u="none" cap="none" strike="noStrike">
                          <a:solidFill>
                            <a:srgbClr val="262626"/>
                          </a:solidFill>
                        </a:rPr>
                        <a:t>Aggregate support score; fixed thresholds; limited explicit handling of contradiction, recency, source quality and risk.</a:t>
                      </a:r>
                      <a:endParaRPr sz="1200" u="none" cap="none" strike="noStrike"/>
                    </a:p>
                  </a:txBody>
                  <a:tcPr marT="54875" marB="54875" marR="109750" marL="1097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r>
              <a:tr h="724200">
                <a:tc>
                  <a:txBody>
                    <a:bodyPr/>
                    <a:lstStyle/>
                    <a:p>
                      <a:pPr indent="0" lvl="0" marL="0" marR="0" rtl="0" algn="l">
                        <a:spcBef>
                          <a:spcPts val="0"/>
                        </a:spcBef>
                        <a:spcAft>
                          <a:spcPts val="0"/>
                        </a:spcAft>
                        <a:buClr>
                          <a:srgbClr val="1F3864"/>
                        </a:buClr>
                        <a:buSzPts val="1300"/>
                        <a:buFont typeface="Calibri"/>
                        <a:buNone/>
                      </a:pPr>
                      <a:r>
                        <a:rPr b="1" lang="en-US" sz="1300" u="none" cap="none" strike="noStrike">
                          <a:solidFill>
                            <a:srgbClr val="1F3864"/>
                          </a:solidFill>
                        </a:rPr>
                        <a:t>SIM-RAG</a:t>
                      </a:r>
                      <a:endParaRPr sz="1300" u="none" cap="none" strike="noStrike"/>
                    </a:p>
                    <a:p>
                      <a:pPr indent="0" lvl="0" marL="0" marR="0" rtl="0" algn="l">
                        <a:spcBef>
                          <a:spcPts val="0"/>
                        </a:spcBef>
                        <a:spcAft>
                          <a:spcPts val="0"/>
                        </a:spcAft>
                        <a:buClr>
                          <a:srgbClr val="1F3864"/>
                        </a:buClr>
                        <a:buSzPts val="1300"/>
                        <a:buFont typeface="Calibri"/>
                        <a:buNone/>
                      </a:pPr>
                      <a:r>
                        <a:rPr b="1" lang="en-US" sz="1300" u="none" cap="none" strike="noStrike">
                          <a:solidFill>
                            <a:srgbClr val="1F3864"/>
                          </a:solidFill>
                        </a:rPr>
                        <a:t>2025</a:t>
                      </a:r>
                      <a:endParaRPr sz="1300" u="none" cap="none" strike="noStrike"/>
                    </a:p>
                  </a:txBody>
                  <a:tcPr marT="54875" marB="54875" marR="109750" marL="1097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62626"/>
                        </a:buClr>
                        <a:buSzPts val="1200"/>
                        <a:buFont typeface="Calibri"/>
                        <a:buNone/>
                      </a:pPr>
                      <a:r>
                        <a:rPr lang="en-US" sz="1200" u="none" cap="none" strike="noStrike">
                          <a:solidFill>
                            <a:srgbClr val="262626"/>
                          </a:solidFill>
                        </a:rPr>
                        <a:t>Learns an information-sufficiency critic to decide whether to continue searching.</a:t>
                      </a:r>
                      <a:endParaRPr sz="1200" u="none" cap="none" strike="noStrike"/>
                    </a:p>
                  </a:txBody>
                  <a:tcPr marT="54875" marB="54875" marR="109750" marL="1097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62626"/>
                        </a:buClr>
                        <a:buSzPts val="1200"/>
                        <a:buFont typeface="Calibri"/>
                        <a:buNone/>
                      </a:pPr>
                      <a:r>
                        <a:rPr lang="en-US" sz="1200" u="none" cap="none" strike="noStrike">
                          <a:solidFill>
                            <a:srgbClr val="262626"/>
                          </a:solidFill>
                        </a:rPr>
                        <a:t>Addresses the continue-vs-stop problem and retrieval efficiency.</a:t>
                      </a:r>
                      <a:endParaRPr sz="1200" u="none" cap="none" strike="noStrike"/>
                    </a:p>
                  </a:txBody>
                  <a:tcPr marT="54875" marB="54875" marR="109750" marL="1097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62626"/>
                        </a:buClr>
                        <a:buSzPts val="1200"/>
                        <a:buFont typeface="Calibri"/>
                        <a:buNone/>
                      </a:pPr>
                      <a:r>
                        <a:rPr lang="en-US" sz="1200" u="none" cap="none" strike="noStrike">
                          <a:solidFill>
                            <a:srgbClr val="262626"/>
                          </a:solidFill>
                        </a:rPr>
                        <a:t>Sufficiency is the focus; medical evidence state and high-risk claim handling are less explicit.</a:t>
                      </a:r>
                      <a:endParaRPr sz="1200" u="none" cap="none" strike="noStrike"/>
                    </a:p>
                  </a:txBody>
                  <a:tcPr marT="54875" marB="54875" marR="109750" marL="1097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r>
              <a:tr h="724200">
                <a:tc>
                  <a:txBody>
                    <a:bodyPr/>
                    <a:lstStyle/>
                    <a:p>
                      <a:pPr indent="0" lvl="0" marL="0" marR="0" rtl="0" algn="l">
                        <a:spcBef>
                          <a:spcPts val="0"/>
                        </a:spcBef>
                        <a:spcAft>
                          <a:spcPts val="0"/>
                        </a:spcAft>
                        <a:buClr>
                          <a:srgbClr val="1F3864"/>
                        </a:buClr>
                        <a:buSzPts val="1300"/>
                        <a:buFont typeface="Calibri"/>
                        <a:buNone/>
                      </a:pPr>
                      <a:r>
                        <a:rPr b="1" lang="en-US" sz="1300" u="none" cap="none" strike="noStrike">
                          <a:solidFill>
                            <a:srgbClr val="1F3864"/>
                          </a:solidFill>
                        </a:rPr>
                        <a:t>RA-RAG</a:t>
                      </a:r>
                      <a:endParaRPr sz="1300" u="none" cap="none" strike="noStrike"/>
                    </a:p>
                    <a:p>
                      <a:pPr indent="0" lvl="0" marL="0" marR="0" rtl="0" algn="l">
                        <a:spcBef>
                          <a:spcPts val="0"/>
                        </a:spcBef>
                        <a:spcAft>
                          <a:spcPts val="0"/>
                        </a:spcAft>
                        <a:buClr>
                          <a:srgbClr val="1F3864"/>
                        </a:buClr>
                        <a:buSzPts val="1300"/>
                        <a:buFont typeface="Calibri"/>
                        <a:buNone/>
                      </a:pPr>
                      <a:r>
                        <a:rPr b="1" lang="en-US" sz="1300" u="none" cap="none" strike="noStrike">
                          <a:solidFill>
                            <a:srgbClr val="1F3864"/>
                          </a:solidFill>
                        </a:rPr>
                        <a:t>2025</a:t>
                      </a:r>
                      <a:endParaRPr sz="1300" u="none" cap="none" strike="noStrike"/>
                    </a:p>
                  </a:txBody>
                  <a:tcPr marT="54875" marB="54875" marR="109750" marL="1097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62626"/>
                        </a:buClr>
                        <a:buSzPts val="1200"/>
                        <a:buFont typeface="Calibri"/>
                        <a:buNone/>
                      </a:pPr>
                      <a:r>
                        <a:rPr lang="en-US" sz="1200" u="none" cap="none" strike="noStrike">
                          <a:solidFill>
                            <a:srgbClr val="262626"/>
                          </a:solidFill>
                        </a:rPr>
                        <a:t>Estimates source reliability and incorporates it into retrieval/aggregation.</a:t>
                      </a:r>
                      <a:endParaRPr sz="1200" u="none" cap="none" strike="noStrike"/>
                    </a:p>
                  </a:txBody>
                  <a:tcPr marT="54875" marB="54875" marR="109750" marL="1097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62626"/>
                        </a:buClr>
                        <a:buSzPts val="1200"/>
                        <a:buFont typeface="Calibri"/>
                        <a:buNone/>
                      </a:pPr>
                      <a:r>
                        <a:rPr lang="en-US" sz="1200" u="none" cap="none" strike="noStrike">
                          <a:solidFill>
                            <a:srgbClr val="262626"/>
                          </a:solidFill>
                        </a:rPr>
                        <a:t>Recognizes that relevance and source trust are different.</a:t>
                      </a:r>
                      <a:endParaRPr sz="1200" u="none" cap="none" strike="noStrike"/>
                    </a:p>
                  </a:txBody>
                  <a:tcPr marT="54875" marB="54875" marR="109750" marL="1097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62626"/>
                        </a:buClr>
                        <a:buSzPts val="1200"/>
                        <a:buFont typeface="Calibri"/>
                        <a:buNone/>
                      </a:pPr>
                      <a:r>
                        <a:rPr lang="en-US" sz="1200" u="none" cap="none" strike="noStrike">
                          <a:solidFill>
                            <a:srgbClr val="262626"/>
                          </a:solidFill>
                        </a:rPr>
                        <a:t>Reliability alone does not represent claim contradiction, temporal validity or clinical applicability.</a:t>
                      </a:r>
                      <a:endParaRPr sz="1200" u="none" cap="none" strike="noStrike"/>
                    </a:p>
                  </a:txBody>
                  <a:tcPr marT="54875" marB="54875" marR="109750" marL="1097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r>
              <a:tr h="724200">
                <a:tc>
                  <a:txBody>
                    <a:bodyPr/>
                    <a:lstStyle/>
                    <a:p>
                      <a:pPr indent="0" lvl="0" marL="0" marR="0" rtl="0" algn="l">
                        <a:spcBef>
                          <a:spcPts val="0"/>
                        </a:spcBef>
                        <a:spcAft>
                          <a:spcPts val="0"/>
                        </a:spcAft>
                        <a:buClr>
                          <a:srgbClr val="1F3864"/>
                        </a:buClr>
                        <a:buSzPts val="1300"/>
                        <a:buFont typeface="Calibri"/>
                        <a:buNone/>
                      </a:pPr>
                      <a:r>
                        <a:rPr b="1" lang="en-US" sz="1300" u="none" cap="none" strike="noStrike">
                          <a:solidFill>
                            <a:srgbClr val="1F3864"/>
                          </a:solidFill>
                        </a:rPr>
                        <a:t>SEMA-RAG</a:t>
                      </a:r>
                      <a:endParaRPr sz="1300" u="none" cap="none" strike="noStrike"/>
                    </a:p>
                    <a:p>
                      <a:pPr indent="0" lvl="0" marL="0" marR="0" rtl="0" algn="l">
                        <a:spcBef>
                          <a:spcPts val="0"/>
                        </a:spcBef>
                        <a:spcAft>
                          <a:spcPts val="0"/>
                        </a:spcAft>
                        <a:buClr>
                          <a:srgbClr val="1F3864"/>
                        </a:buClr>
                        <a:buSzPts val="1300"/>
                        <a:buFont typeface="Calibri"/>
                        <a:buNone/>
                      </a:pPr>
                      <a:r>
                        <a:rPr b="1" lang="en-US" sz="1300" u="none" cap="none" strike="noStrike">
                          <a:solidFill>
                            <a:srgbClr val="1F3864"/>
                          </a:solidFill>
                        </a:rPr>
                        <a:t>2026</a:t>
                      </a:r>
                      <a:endParaRPr sz="1300" u="none" cap="none" strike="noStrike"/>
                    </a:p>
                  </a:txBody>
                  <a:tcPr marT="54875" marB="54875" marR="109750" marL="1097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62626"/>
                        </a:buClr>
                        <a:buSzPts val="1200"/>
                        <a:buFont typeface="Calibri"/>
                        <a:buNone/>
                      </a:pPr>
                      <a:r>
                        <a:rPr lang="en-US" sz="1200" u="none" cap="none" strike="noStrike">
                          <a:solidFill>
                            <a:srgbClr val="262626"/>
                          </a:solidFill>
                        </a:rPr>
                        <a:t>Interpreter → Explorer → Arbiter multi-agent medical reasoning.</a:t>
                      </a:r>
                      <a:endParaRPr sz="1200" u="none" cap="none" strike="noStrike"/>
                    </a:p>
                  </a:txBody>
                  <a:tcPr marT="54875" marB="54875" marR="109750" marL="1097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62626"/>
                        </a:buClr>
                        <a:buSzPts val="1200"/>
                        <a:buFont typeface="Calibri"/>
                        <a:buNone/>
                      </a:pPr>
                      <a:r>
                        <a:rPr lang="en-US" sz="1200" u="none" cap="none" strike="noStrike">
                          <a:solidFill>
                            <a:srgbClr val="262626"/>
                          </a:solidFill>
                        </a:rPr>
                        <a:t>Separates query understanding, exploration and final adjudication.</a:t>
                      </a:r>
                      <a:endParaRPr sz="1200" u="none" cap="none" strike="noStrike"/>
                    </a:p>
                  </a:txBody>
                  <a:tcPr marT="54875" marB="54875" marR="109750" marL="1097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62626"/>
                        </a:buClr>
                        <a:buSzPts val="1200"/>
                        <a:buFont typeface="Calibri"/>
                        <a:buNone/>
                      </a:pPr>
                      <a:r>
                        <a:rPr lang="en-US" sz="1200" u="none" cap="none" strike="noStrike">
                          <a:solidFill>
                            <a:srgbClr val="262626"/>
                          </a:solidFill>
                        </a:rPr>
                        <a:t>Agent decomposition is established; opportunity remains for a unified claim-level state controlling actions.</a:t>
                      </a:r>
                      <a:endParaRPr sz="1200" u="none" cap="none" strike="noStrike"/>
                    </a:p>
                  </a:txBody>
                  <a:tcPr marT="54875" marB="54875" marR="109750" marL="1097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r>
              <a:tr h="724200">
                <a:tc>
                  <a:txBody>
                    <a:bodyPr/>
                    <a:lstStyle/>
                    <a:p>
                      <a:pPr indent="0" lvl="0" marL="0" marR="0" rtl="0" algn="l">
                        <a:spcBef>
                          <a:spcPts val="0"/>
                        </a:spcBef>
                        <a:spcAft>
                          <a:spcPts val="0"/>
                        </a:spcAft>
                        <a:buClr>
                          <a:srgbClr val="1F3864"/>
                        </a:buClr>
                        <a:buSzPts val="1300"/>
                        <a:buFont typeface="Calibri"/>
                        <a:buNone/>
                      </a:pPr>
                      <a:r>
                        <a:rPr b="1" lang="en-US" sz="1300" u="none" cap="none" strike="noStrike">
                          <a:solidFill>
                            <a:srgbClr val="1F3864"/>
                          </a:solidFill>
                        </a:rPr>
                        <a:t>MedRAGChecker</a:t>
                      </a:r>
                      <a:endParaRPr sz="1300" u="none" cap="none" strike="noStrike"/>
                    </a:p>
                    <a:p>
                      <a:pPr indent="0" lvl="0" marL="0" marR="0" rtl="0" algn="l">
                        <a:spcBef>
                          <a:spcPts val="0"/>
                        </a:spcBef>
                        <a:spcAft>
                          <a:spcPts val="0"/>
                        </a:spcAft>
                        <a:buClr>
                          <a:srgbClr val="1F3864"/>
                        </a:buClr>
                        <a:buSzPts val="1300"/>
                        <a:buFont typeface="Calibri"/>
                        <a:buNone/>
                      </a:pPr>
                      <a:r>
                        <a:rPr b="1" lang="en-US" sz="1300" u="none" cap="none" strike="noStrike">
                          <a:solidFill>
                            <a:srgbClr val="1F3864"/>
                          </a:solidFill>
                        </a:rPr>
                        <a:t>2026</a:t>
                      </a:r>
                      <a:endParaRPr sz="1300" u="none" cap="none" strike="noStrike"/>
                    </a:p>
                  </a:txBody>
                  <a:tcPr marT="54875" marB="54875" marR="109750" marL="1097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62626"/>
                        </a:buClr>
                        <a:buSzPts val="1200"/>
                        <a:buFont typeface="Calibri"/>
                        <a:buNone/>
                      </a:pPr>
                      <a:r>
                        <a:rPr lang="en-US" sz="1200" u="none" cap="none" strike="noStrike">
                          <a:solidFill>
                            <a:srgbClr val="262626"/>
                          </a:solidFill>
                        </a:rPr>
                        <a:t>Claim-level verification using NLI + biomedical consistency.</a:t>
                      </a:r>
                      <a:endParaRPr sz="1200" u="none" cap="none" strike="noStrike"/>
                    </a:p>
                  </a:txBody>
                  <a:tcPr marT="54875" marB="54875" marR="109750" marL="1097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62626"/>
                        </a:buClr>
                        <a:buSzPts val="1200"/>
                        <a:buFont typeface="Calibri"/>
                        <a:buNone/>
                      </a:pPr>
                      <a:r>
                        <a:rPr lang="en-US" sz="1200" u="none" cap="none" strike="noStrike">
                          <a:solidFill>
                            <a:srgbClr val="262626"/>
                          </a:solidFill>
                        </a:rPr>
                        <a:t>Fine-grained diagnosis of support, contradiction and under-evidence.</a:t>
                      </a:r>
                      <a:endParaRPr sz="1200" u="none" cap="none" strike="noStrike"/>
                    </a:p>
                  </a:txBody>
                  <a:tcPr marT="54875" marB="54875" marR="109750" marL="1097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62626"/>
                        </a:buClr>
                        <a:buSzPts val="1200"/>
                        <a:buFont typeface="Calibri"/>
                        <a:buNone/>
                      </a:pPr>
                      <a:r>
                        <a:rPr lang="en-US" sz="1200" u="none" cap="none" strike="noStrike">
                          <a:solidFill>
                            <a:srgbClr val="262626"/>
                          </a:solidFill>
                        </a:rPr>
                        <a:t>Primarily a verification/evaluation mechanism; how it should drive retrieval policy is an open design question.</a:t>
                      </a:r>
                      <a:endParaRPr sz="1200" u="none" cap="none" strike="noStrike"/>
                    </a:p>
                  </a:txBody>
                  <a:tcPr marT="54875" marB="54875" marR="109750" marL="1097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r>
              <a:tr h="768075">
                <a:tc>
                  <a:txBody>
                    <a:bodyPr/>
                    <a:lstStyle/>
                    <a:p>
                      <a:pPr indent="0" lvl="0" marL="0" marR="0" rtl="0" algn="l">
                        <a:spcBef>
                          <a:spcPts val="0"/>
                        </a:spcBef>
                        <a:spcAft>
                          <a:spcPts val="0"/>
                        </a:spcAft>
                        <a:buClr>
                          <a:srgbClr val="1F3864"/>
                        </a:buClr>
                        <a:buSzPts val="1300"/>
                        <a:buFont typeface="Calibri"/>
                        <a:buNone/>
                      </a:pPr>
                      <a:r>
                        <a:rPr b="1" lang="en-US" sz="1300" u="none" cap="none" strike="noStrike">
                          <a:solidFill>
                            <a:srgbClr val="1F3864"/>
                          </a:solidFill>
                        </a:rPr>
                        <a:t>Med-SRAF</a:t>
                      </a:r>
                      <a:endParaRPr sz="1300" u="none" cap="none" strike="noStrike"/>
                    </a:p>
                    <a:p>
                      <a:pPr indent="0" lvl="0" marL="0" marR="0" rtl="0" algn="l">
                        <a:spcBef>
                          <a:spcPts val="0"/>
                        </a:spcBef>
                        <a:spcAft>
                          <a:spcPts val="0"/>
                        </a:spcAft>
                        <a:buClr>
                          <a:srgbClr val="1F3864"/>
                        </a:buClr>
                        <a:buSzPts val="1300"/>
                        <a:buFont typeface="Calibri"/>
                        <a:buNone/>
                      </a:pPr>
                      <a:r>
                        <a:rPr b="1" lang="en-US" sz="1300" u="none" cap="none" strike="noStrike">
                          <a:solidFill>
                            <a:srgbClr val="1F3864"/>
                          </a:solidFill>
                        </a:rPr>
                        <a:t>2026</a:t>
                      </a:r>
                      <a:endParaRPr sz="1300" u="none" cap="none" strike="noStrike"/>
                    </a:p>
                  </a:txBody>
                  <a:tcPr marT="54875" marB="54875" marR="109750" marL="1097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62626"/>
                        </a:buClr>
                        <a:buSzPts val="1200"/>
                        <a:buFont typeface="Calibri"/>
                        <a:buNone/>
                      </a:pPr>
                      <a:r>
                        <a:rPr lang="en-US" sz="1200" u="none" cap="none" strike="noStrike">
                          <a:solidFill>
                            <a:srgbClr val="262626"/>
                          </a:solidFill>
                        </a:rPr>
                        <a:t>Semantic routing and agentic evidence fusion.</a:t>
                      </a:r>
                      <a:endParaRPr sz="1200" u="none" cap="none" strike="noStrike"/>
                    </a:p>
                  </a:txBody>
                  <a:tcPr marT="54875" marB="54875" marR="109750" marL="1097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62626"/>
                        </a:buClr>
                        <a:buSzPts val="1200"/>
                        <a:buFont typeface="Calibri"/>
                        <a:buNone/>
                      </a:pPr>
                      <a:r>
                        <a:rPr lang="en-US" sz="1200" u="none" cap="none" strike="noStrike">
                          <a:solidFill>
                            <a:srgbClr val="262626"/>
                          </a:solidFill>
                        </a:rPr>
                        <a:t>Targets semantic drift and conflicts between evidence paths.</a:t>
                      </a:r>
                      <a:endParaRPr sz="1200" u="none" cap="none" strike="noStrike"/>
                    </a:p>
                  </a:txBody>
                  <a:tcPr marT="54875" marB="54875" marR="109750" marL="1097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62626"/>
                        </a:buClr>
                        <a:buSzPts val="1200"/>
                        <a:buFont typeface="Calibri"/>
                        <a:buNone/>
                      </a:pPr>
                      <a:r>
                        <a:rPr lang="en-US" sz="1200" u="none" cap="none" strike="noStrike">
                          <a:solidFill>
                            <a:srgbClr val="262626"/>
                          </a:solidFill>
                        </a:rPr>
                        <a:t>A broader risk-, recency- and cost-aware decision policy is still worth investigating.</a:t>
                      </a:r>
                      <a:endParaRPr sz="1200" u="none" cap="none" strike="noStrike"/>
                    </a:p>
                  </a:txBody>
                  <a:tcPr marT="54875" marB="54875" marR="109750" marL="109750"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r>
            </a:tbl>
          </a:graphicData>
        </a:graphic>
      </p:graphicFrame>
      <p:sp>
        <p:nvSpPr>
          <p:cNvPr id="164" name="Google Shape;164;p24"/>
          <p:cNvSpPr/>
          <p:nvPr/>
        </p:nvSpPr>
        <p:spPr>
          <a:xfrm>
            <a:off x="438912" y="6858000"/>
            <a:ext cx="13716000" cy="603504"/>
          </a:xfrm>
          <a:prstGeom prst="roundRect">
            <a:avLst>
              <a:gd fmla="val 14545" name="adj"/>
            </a:avLst>
          </a:prstGeom>
          <a:solidFill>
            <a:srgbClr val="DCE6F7"/>
          </a:solidFill>
          <a:ln cap="flat" cmpd="sng" w="12700">
            <a:solidFill>
              <a:srgbClr val="9DC3E6"/>
            </a:solidFill>
            <a:prstDash val="solid"/>
            <a:round/>
            <a:headEnd len="sm" w="sm" type="none"/>
            <a:tailEnd len="sm" w="sm" type="none"/>
          </a:ln>
        </p:spPr>
        <p:txBody>
          <a:bodyPr anchorCtr="0" anchor="ctr" bIns="109700" lIns="109700" spcFirstLastPara="1" rIns="109700" wrap="square" tIns="109700">
            <a:noAutofit/>
          </a:bodyPr>
          <a:lstStyle/>
          <a:p>
            <a:pPr indent="0" lvl="0" marL="0" rtl="0" algn="l">
              <a:spcBef>
                <a:spcPts val="0"/>
              </a:spcBef>
              <a:spcAft>
                <a:spcPts val="0"/>
              </a:spcAft>
              <a:buNone/>
            </a:pPr>
            <a:r>
              <a:t/>
            </a:r>
            <a:endParaRPr/>
          </a:p>
        </p:txBody>
      </p:sp>
      <p:sp>
        <p:nvSpPr>
          <p:cNvPr id="165" name="Google Shape;165;p24"/>
          <p:cNvSpPr txBox="1"/>
          <p:nvPr/>
        </p:nvSpPr>
        <p:spPr>
          <a:xfrm>
            <a:off x="658368" y="6858000"/>
            <a:ext cx="13277088" cy="6035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3864"/>
              </a:buClr>
              <a:buSzPts val="1600"/>
              <a:buFont typeface="Calibri"/>
              <a:buNone/>
            </a:pPr>
            <a:r>
              <a:rPr b="1" i="0" lang="en-US" sz="1600" u="none" cap="none" strike="noStrike">
                <a:solidFill>
                  <a:srgbClr val="1F3864"/>
                </a:solidFill>
                <a:latin typeface="Calibri"/>
                <a:ea typeface="Calibri"/>
                <a:cs typeface="Calibri"/>
                <a:sym typeface="Calibri"/>
              </a:rPr>
              <a:t>Identified gap: connect claim-level evidence status, contradiction, source quality and recency to an adaptive SEARCH / STOP / ABSTAIN controller.</a:t>
            </a:r>
            <a:endParaRPr b="0" i="0" sz="1600" u="none" cap="none" strike="noStrike">
              <a:solidFill>
                <a:schemeClr val="dk1"/>
              </a:solidFill>
              <a:latin typeface="Calibri"/>
              <a:ea typeface="Calibri"/>
              <a:cs typeface="Calibri"/>
              <a:sym typeface="Calibri"/>
            </a:endParaRPr>
          </a:p>
        </p:txBody>
      </p:sp>
      <p:sp>
        <p:nvSpPr>
          <p:cNvPr id="166" name="Google Shape;166;p24"/>
          <p:cNvSpPr txBox="1"/>
          <p:nvPr/>
        </p:nvSpPr>
        <p:spPr>
          <a:xfrm>
            <a:off x="14045184" y="7845552"/>
            <a:ext cx="4389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62626"/>
              </a:buClr>
              <a:buSzPts val="1200"/>
              <a:buFont typeface="Calibri"/>
              <a:buNone/>
            </a:pPr>
            <a:r>
              <a:rPr b="0" i="0" lang="en-US" sz="1200" u="none" cap="none" strike="noStrike">
                <a:solidFill>
                  <a:srgbClr val="262626"/>
                </a:solidFill>
                <a:latin typeface="Calibri"/>
                <a:ea typeface="Calibri"/>
                <a:cs typeface="Calibri"/>
                <a:sym typeface="Calibri"/>
              </a:rPr>
              <a:t>5</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5"/>
          <p:cNvSpPr/>
          <p:nvPr/>
        </p:nvSpPr>
        <p:spPr>
          <a:xfrm>
            <a:off x="0" y="0"/>
            <a:ext cx="14630400" cy="1810512"/>
          </a:xfrm>
          <a:prstGeom prst="rect">
            <a:avLst/>
          </a:prstGeom>
          <a:solidFill>
            <a:srgbClr val="6E9DE1"/>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2" name="Google Shape;172;p25"/>
          <p:cNvSpPr txBox="1"/>
          <p:nvPr/>
        </p:nvSpPr>
        <p:spPr>
          <a:xfrm>
            <a:off x="146304" y="228600"/>
            <a:ext cx="13944600" cy="132588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0" i="0" lang="en-US" sz="3400" u="none" cap="none" strike="noStrike">
                <a:solidFill>
                  <a:srgbClr val="FFFFFF"/>
                </a:solidFill>
                <a:latin typeface="Inter"/>
                <a:ea typeface="Inter"/>
                <a:cs typeface="Inter"/>
                <a:sym typeface="Inter"/>
              </a:rPr>
              <a:t>Problem Statement</a:t>
            </a:r>
            <a:endParaRPr/>
          </a:p>
        </p:txBody>
      </p:sp>
      <p:sp>
        <p:nvSpPr>
          <p:cNvPr id="173" name="Google Shape;173;p25"/>
          <p:cNvSpPr txBox="1"/>
          <p:nvPr/>
        </p:nvSpPr>
        <p:spPr>
          <a:xfrm>
            <a:off x="14100048" y="7726679"/>
            <a:ext cx="301800" cy="2463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lang="en-US" sz="1000">
                <a:solidFill>
                  <a:srgbClr val="141414"/>
                </a:solidFill>
                <a:latin typeface="Inter"/>
                <a:ea typeface="Inter"/>
                <a:cs typeface="Inter"/>
                <a:sym typeface="Inter"/>
              </a:rPr>
              <a:t>6</a:t>
            </a:r>
            <a:endParaRPr/>
          </a:p>
        </p:txBody>
      </p:sp>
      <p:sp>
        <p:nvSpPr>
          <p:cNvPr id="174" name="Google Shape;174;p25"/>
          <p:cNvSpPr txBox="1"/>
          <p:nvPr/>
        </p:nvSpPr>
        <p:spPr>
          <a:xfrm>
            <a:off x="502920" y="2011680"/>
            <a:ext cx="1335024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700" u="none" cap="none" strike="noStrike">
                <a:solidFill>
                  <a:srgbClr val="141414"/>
                </a:solidFill>
                <a:latin typeface="Inter"/>
                <a:ea typeface="Inter"/>
                <a:cs typeface="Inter"/>
                <a:sym typeface="Inter"/>
              </a:rPr>
              <a:t>After studying Self-MedRAG and recent medical-RAG systems, the following limitations motivate the proposed work:</a:t>
            </a:r>
            <a:endParaRPr/>
          </a:p>
        </p:txBody>
      </p:sp>
      <p:sp>
        <p:nvSpPr>
          <p:cNvPr id="175" name="Google Shape;175;p25"/>
          <p:cNvSpPr/>
          <p:nvPr/>
        </p:nvSpPr>
        <p:spPr>
          <a:xfrm>
            <a:off x="612648" y="2679192"/>
            <a:ext cx="438912" cy="438912"/>
          </a:xfrm>
          <a:prstGeom prst="ellipse">
            <a:avLst/>
          </a:prstGeom>
          <a:solidFill>
            <a:srgbClr val="CD454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6" name="Google Shape;176;p25"/>
          <p:cNvSpPr txBox="1"/>
          <p:nvPr/>
        </p:nvSpPr>
        <p:spPr>
          <a:xfrm>
            <a:off x="612648" y="2752344"/>
            <a:ext cx="438912" cy="2560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200" u="none" cap="none" strike="noStrike">
                <a:solidFill>
                  <a:srgbClr val="FFFFFF"/>
                </a:solidFill>
                <a:latin typeface="Inter"/>
                <a:ea typeface="Inter"/>
                <a:cs typeface="Inter"/>
                <a:sym typeface="Inter"/>
              </a:rPr>
              <a:t>1</a:t>
            </a:r>
            <a:endParaRPr/>
          </a:p>
        </p:txBody>
      </p:sp>
      <p:sp>
        <p:nvSpPr>
          <p:cNvPr id="177" name="Google Shape;177;p25"/>
          <p:cNvSpPr txBox="1"/>
          <p:nvPr/>
        </p:nvSpPr>
        <p:spPr>
          <a:xfrm>
            <a:off x="1298448" y="2688336"/>
            <a:ext cx="3383280" cy="2560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500" u="none" cap="none" strike="noStrike">
                <a:solidFill>
                  <a:srgbClr val="2B3D5B"/>
                </a:solidFill>
                <a:latin typeface="Inter"/>
                <a:ea typeface="Inter"/>
                <a:cs typeface="Inter"/>
                <a:sym typeface="Inter"/>
              </a:rPr>
              <a:t>Single Evidence Score</a:t>
            </a:r>
            <a:endParaRPr/>
          </a:p>
        </p:txBody>
      </p:sp>
      <p:sp>
        <p:nvSpPr>
          <p:cNvPr id="178" name="Google Shape;178;p25"/>
          <p:cNvSpPr txBox="1"/>
          <p:nvPr/>
        </p:nvSpPr>
        <p:spPr>
          <a:xfrm>
            <a:off x="4663440" y="2688336"/>
            <a:ext cx="8595360" cy="4389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300" u="none" cap="none" strike="noStrike">
                <a:solidFill>
                  <a:srgbClr val="141414"/>
                </a:solidFill>
                <a:latin typeface="Inter"/>
                <a:ea typeface="Inter"/>
                <a:cs typeface="Inter"/>
                <a:sym typeface="Inter"/>
              </a:rPr>
              <a:t>Support ≥ threshold can hide whether evidence is contradictory, outdated or clinically mismatched.</a:t>
            </a:r>
            <a:endParaRPr/>
          </a:p>
        </p:txBody>
      </p:sp>
      <p:sp>
        <p:nvSpPr>
          <p:cNvPr id="179" name="Google Shape;179;p25"/>
          <p:cNvSpPr/>
          <p:nvPr/>
        </p:nvSpPr>
        <p:spPr>
          <a:xfrm>
            <a:off x="612648" y="3429000"/>
            <a:ext cx="438912" cy="438912"/>
          </a:xfrm>
          <a:prstGeom prst="ellipse">
            <a:avLst/>
          </a:prstGeom>
          <a:solidFill>
            <a:srgbClr val="E28C35"/>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0" name="Google Shape;180;p25"/>
          <p:cNvSpPr txBox="1"/>
          <p:nvPr/>
        </p:nvSpPr>
        <p:spPr>
          <a:xfrm>
            <a:off x="612648" y="3502152"/>
            <a:ext cx="438912" cy="2560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200" u="none" cap="none" strike="noStrike">
                <a:solidFill>
                  <a:srgbClr val="FFFFFF"/>
                </a:solidFill>
                <a:latin typeface="Inter"/>
                <a:ea typeface="Inter"/>
                <a:cs typeface="Inter"/>
                <a:sym typeface="Inter"/>
              </a:rPr>
              <a:t>2</a:t>
            </a:r>
            <a:endParaRPr/>
          </a:p>
        </p:txBody>
      </p:sp>
      <p:sp>
        <p:nvSpPr>
          <p:cNvPr id="181" name="Google Shape;181;p25"/>
          <p:cNvSpPr txBox="1"/>
          <p:nvPr/>
        </p:nvSpPr>
        <p:spPr>
          <a:xfrm>
            <a:off x="1298448" y="3438144"/>
            <a:ext cx="3383280" cy="2560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500" u="none" cap="none" strike="noStrike">
                <a:solidFill>
                  <a:srgbClr val="2B3D5B"/>
                </a:solidFill>
                <a:latin typeface="Inter"/>
                <a:ea typeface="Inter"/>
                <a:cs typeface="Inter"/>
                <a:sym typeface="Inter"/>
              </a:rPr>
              <a:t>Evidence Conflict</a:t>
            </a:r>
            <a:endParaRPr/>
          </a:p>
        </p:txBody>
      </p:sp>
      <p:sp>
        <p:nvSpPr>
          <p:cNvPr id="182" name="Google Shape;182;p25"/>
          <p:cNvSpPr txBox="1"/>
          <p:nvPr/>
        </p:nvSpPr>
        <p:spPr>
          <a:xfrm>
            <a:off x="4663440" y="3438144"/>
            <a:ext cx="8595360" cy="4389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300" u="none" cap="none" strike="noStrike">
                <a:solidFill>
                  <a:srgbClr val="141414"/>
                </a:solidFill>
                <a:latin typeface="Inter"/>
                <a:ea typeface="Inter"/>
                <a:cs typeface="Inter"/>
                <a:sym typeface="Inter"/>
              </a:rPr>
              <a:t>Support from one source does not guarantee that another source does not contradict the claim.</a:t>
            </a:r>
            <a:endParaRPr/>
          </a:p>
        </p:txBody>
      </p:sp>
      <p:sp>
        <p:nvSpPr>
          <p:cNvPr id="183" name="Google Shape;183;p25"/>
          <p:cNvSpPr/>
          <p:nvPr/>
        </p:nvSpPr>
        <p:spPr>
          <a:xfrm>
            <a:off x="612648" y="4178808"/>
            <a:ext cx="438912" cy="438912"/>
          </a:xfrm>
          <a:prstGeom prst="ellipse">
            <a:avLst/>
          </a:prstGeom>
          <a:solidFill>
            <a:srgbClr val="6F56A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4" name="Google Shape;184;p25"/>
          <p:cNvSpPr txBox="1"/>
          <p:nvPr/>
        </p:nvSpPr>
        <p:spPr>
          <a:xfrm>
            <a:off x="612648" y="4251959"/>
            <a:ext cx="438912" cy="2560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200" u="none" cap="none" strike="noStrike">
                <a:solidFill>
                  <a:srgbClr val="FFFFFF"/>
                </a:solidFill>
                <a:latin typeface="Inter"/>
                <a:ea typeface="Inter"/>
                <a:cs typeface="Inter"/>
                <a:sym typeface="Inter"/>
              </a:rPr>
              <a:t>3</a:t>
            </a:r>
            <a:endParaRPr/>
          </a:p>
        </p:txBody>
      </p:sp>
      <p:sp>
        <p:nvSpPr>
          <p:cNvPr id="185" name="Google Shape;185;p25"/>
          <p:cNvSpPr txBox="1"/>
          <p:nvPr/>
        </p:nvSpPr>
        <p:spPr>
          <a:xfrm>
            <a:off x="1298448" y="4187952"/>
            <a:ext cx="3383280" cy="2560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500" u="none" cap="none" strike="noStrike">
                <a:solidFill>
                  <a:srgbClr val="2B3D5B"/>
                </a:solidFill>
                <a:latin typeface="Inter"/>
                <a:ea typeface="Inter"/>
                <a:cs typeface="Inter"/>
                <a:sym typeface="Inter"/>
              </a:rPr>
              <a:t>Query Drift</a:t>
            </a:r>
            <a:endParaRPr/>
          </a:p>
        </p:txBody>
      </p:sp>
      <p:sp>
        <p:nvSpPr>
          <p:cNvPr id="186" name="Google Shape;186;p25"/>
          <p:cNvSpPr txBox="1"/>
          <p:nvPr/>
        </p:nvSpPr>
        <p:spPr>
          <a:xfrm>
            <a:off x="4663440" y="4187952"/>
            <a:ext cx="8595360" cy="4389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300" u="none" cap="none" strike="noStrike">
                <a:solidFill>
                  <a:srgbClr val="141414"/>
                </a:solidFill>
                <a:latin typeface="Inter"/>
                <a:ea typeface="Inter"/>
                <a:cs typeface="Inter"/>
                <a:sym typeface="Inter"/>
              </a:rPr>
              <a:t>The next query is built from unsupported rationale, which may itself contain model-generated errors.</a:t>
            </a:r>
            <a:endParaRPr/>
          </a:p>
        </p:txBody>
      </p:sp>
      <p:sp>
        <p:nvSpPr>
          <p:cNvPr id="187" name="Google Shape;187;p25"/>
          <p:cNvSpPr/>
          <p:nvPr/>
        </p:nvSpPr>
        <p:spPr>
          <a:xfrm>
            <a:off x="612648" y="4928616"/>
            <a:ext cx="438912" cy="438912"/>
          </a:xfrm>
          <a:prstGeom prst="ellipse">
            <a:avLst/>
          </a:prstGeom>
          <a:solidFill>
            <a:srgbClr val="6E9DE1"/>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8" name="Google Shape;188;p25"/>
          <p:cNvSpPr txBox="1"/>
          <p:nvPr/>
        </p:nvSpPr>
        <p:spPr>
          <a:xfrm>
            <a:off x="612648" y="5001768"/>
            <a:ext cx="438912" cy="2560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200" u="none" cap="none" strike="noStrike">
                <a:solidFill>
                  <a:srgbClr val="FFFFFF"/>
                </a:solidFill>
                <a:latin typeface="Inter"/>
                <a:ea typeface="Inter"/>
                <a:cs typeface="Inter"/>
                <a:sym typeface="Inter"/>
              </a:rPr>
              <a:t>4</a:t>
            </a:r>
            <a:endParaRPr/>
          </a:p>
        </p:txBody>
      </p:sp>
      <p:sp>
        <p:nvSpPr>
          <p:cNvPr id="189" name="Google Shape;189;p25"/>
          <p:cNvSpPr txBox="1"/>
          <p:nvPr/>
        </p:nvSpPr>
        <p:spPr>
          <a:xfrm>
            <a:off x="1298448" y="4937760"/>
            <a:ext cx="3383280" cy="2560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500" u="none" cap="none" strike="noStrike">
                <a:solidFill>
                  <a:srgbClr val="2B3D5B"/>
                </a:solidFill>
                <a:latin typeface="Inter"/>
                <a:ea typeface="Inter"/>
                <a:cs typeface="Inter"/>
                <a:sym typeface="Inter"/>
              </a:rPr>
              <a:t>Fixed Decision Rule</a:t>
            </a:r>
            <a:endParaRPr/>
          </a:p>
        </p:txBody>
      </p:sp>
      <p:sp>
        <p:nvSpPr>
          <p:cNvPr id="190" name="Google Shape;190;p25"/>
          <p:cNvSpPr txBox="1"/>
          <p:nvPr/>
        </p:nvSpPr>
        <p:spPr>
          <a:xfrm>
            <a:off x="4663440" y="4937760"/>
            <a:ext cx="8595360" cy="4389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300" u="none" cap="none" strike="noStrike">
                <a:solidFill>
                  <a:srgbClr val="141414"/>
                </a:solidFill>
                <a:latin typeface="Inter"/>
                <a:ea typeface="Inter"/>
                <a:cs typeface="Inter"/>
                <a:sym typeface="Inter"/>
              </a:rPr>
              <a:t>A fixed threshold treats low-risk and high-risk medical claims similarly.</a:t>
            </a:r>
            <a:endParaRPr/>
          </a:p>
        </p:txBody>
      </p:sp>
      <p:sp>
        <p:nvSpPr>
          <p:cNvPr id="191" name="Google Shape;191;p25"/>
          <p:cNvSpPr/>
          <p:nvPr/>
        </p:nvSpPr>
        <p:spPr>
          <a:xfrm>
            <a:off x="612648" y="5678424"/>
            <a:ext cx="438912" cy="438912"/>
          </a:xfrm>
          <a:prstGeom prst="ellipse">
            <a:avLst/>
          </a:prstGeom>
          <a:solidFill>
            <a:srgbClr val="23915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2" name="Google Shape;192;p25"/>
          <p:cNvSpPr txBox="1"/>
          <p:nvPr/>
        </p:nvSpPr>
        <p:spPr>
          <a:xfrm>
            <a:off x="612648" y="5751576"/>
            <a:ext cx="438912" cy="2560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200" u="none" cap="none" strike="noStrike">
                <a:solidFill>
                  <a:srgbClr val="FFFFFF"/>
                </a:solidFill>
                <a:latin typeface="Inter"/>
                <a:ea typeface="Inter"/>
                <a:cs typeface="Inter"/>
                <a:sym typeface="Inter"/>
              </a:rPr>
              <a:t>5</a:t>
            </a:r>
            <a:endParaRPr/>
          </a:p>
        </p:txBody>
      </p:sp>
      <p:sp>
        <p:nvSpPr>
          <p:cNvPr id="193" name="Google Shape;193;p25"/>
          <p:cNvSpPr txBox="1"/>
          <p:nvPr/>
        </p:nvSpPr>
        <p:spPr>
          <a:xfrm>
            <a:off x="1298448" y="5687568"/>
            <a:ext cx="3383280" cy="2560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500" u="none" cap="none" strike="noStrike">
                <a:solidFill>
                  <a:srgbClr val="2B3D5B"/>
                </a:solidFill>
                <a:latin typeface="Inter"/>
                <a:ea typeface="Inter"/>
                <a:cs typeface="Inter"/>
                <a:sym typeface="Inter"/>
              </a:rPr>
              <a:t>No Explicit Abstention</a:t>
            </a:r>
            <a:endParaRPr/>
          </a:p>
        </p:txBody>
      </p:sp>
      <p:sp>
        <p:nvSpPr>
          <p:cNvPr id="194" name="Google Shape;194;p25"/>
          <p:cNvSpPr txBox="1"/>
          <p:nvPr/>
        </p:nvSpPr>
        <p:spPr>
          <a:xfrm>
            <a:off x="4663440" y="5687568"/>
            <a:ext cx="8595360" cy="4389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300" u="none" cap="none" strike="noStrike">
                <a:solidFill>
                  <a:srgbClr val="141414"/>
                </a:solidFill>
                <a:latin typeface="Inter"/>
                <a:ea typeface="Inter"/>
                <a:cs typeface="Inter"/>
                <a:sym typeface="Inter"/>
              </a:rPr>
              <a:t>The framework needs a clear outcome when evidence remains insufficient after further retrieval.</a:t>
            </a:r>
            <a:endParaRPr/>
          </a:p>
        </p:txBody>
      </p:sp>
      <p:sp>
        <p:nvSpPr>
          <p:cNvPr id="195" name="Google Shape;195;p25"/>
          <p:cNvSpPr/>
          <p:nvPr/>
        </p:nvSpPr>
        <p:spPr>
          <a:xfrm>
            <a:off x="960120" y="6492240"/>
            <a:ext cx="12435840" cy="548640"/>
          </a:xfrm>
          <a:prstGeom prst="roundRect">
            <a:avLst>
              <a:gd fmla="val 16667" name="adj"/>
            </a:avLst>
          </a:prstGeom>
          <a:solidFill>
            <a:srgbClr val="FFF4F4"/>
          </a:solidFill>
          <a:ln cap="flat" cmpd="sng" w="12700">
            <a:solidFill>
              <a:srgbClr val="CD45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6" name="Google Shape;196;p25"/>
          <p:cNvSpPr txBox="1"/>
          <p:nvPr/>
        </p:nvSpPr>
        <p:spPr>
          <a:xfrm>
            <a:off x="1143000" y="6601968"/>
            <a:ext cx="12070080" cy="31089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550" u="none" cap="none" strike="noStrike">
                <a:solidFill>
                  <a:srgbClr val="CD454C"/>
                </a:solidFill>
                <a:latin typeface="Inter"/>
                <a:ea typeface="Inter"/>
                <a:cs typeface="Inter"/>
                <a:sym typeface="Inter"/>
              </a:rPr>
              <a:t>Core question: What evidence is missing or conflicting, and what should the system do next?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6"/>
          <p:cNvSpPr/>
          <p:nvPr/>
        </p:nvSpPr>
        <p:spPr>
          <a:xfrm>
            <a:off x="0" y="0"/>
            <a:ext cx="14630400" cy="1810512"/>
          </a:xfrm>
          <a:prstGeom prst="rect">
            <a:avLst/>
          </a:prstGeom>
          <a:solidFill>
            <a:srgbClr val="6E9DE1"/>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2" name="Google Shape;202;p26"/>
          <p:cNvSpPr txBox="1"/>
          <p:nvPr/>
        </p:nvSpPr>
        <p:spPr>
          <a:xfrm>
            <a:off x="146304" y="228600"/>
            <a:ext cx="13944600" cy="132588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0" i="0" lang="en-US" sz="3400" u="none" cap="none" strike="noStrike">
                <a:solidFill>
                  <a:srgbClr val="FFFFFF"/>
                </a:solidFill>
                <a:latin typeface="Inter"/>
                <a:ea typeface="Inter"/>
                <a:cs typeface="Inter"/>
                <a:sym typeface="Inter"/>
              </a:rPr>
              <a:t>Bottleneck of Existing Architectures</a:t>
            </a:r>
            <a:endParaRPr/>
          </a:p>
        </p:txBody>
      </p:sp>
      <p:sp>
        <p:nvSpPr>
          <p:cNvPr id="203" name="Google Shape;203;p26"/>
          <p:cNvSpPr txBox="1"/>
          <p:nvPr/>
        </p:nvSpPr>
        <p:spPr>
          <a:xfrm>
            <a:off x="14100048" y="7726679"/>
            <a:ext cx="301800" cy="2463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lang="en-US" sz="1000">
                <a:solidFill>
                  <a:srgbClr val="141414"/>
                </a:solidFill>
                <a:latin typeface="Inter"/>
                <a:ea typeface="Inter"/>
                <a:cs typeface="Inter"/>
                <a:sym typeface="Inter"/>
              </a:rPr>
              <a:t>7</a:t>
            </a:r>
            <a:endParaRPr/>
          </a:p>
        </p:txBody>
      </p:sp>
      <p:sp>
        <p:nvSpPr>
          <p:cNvPr id="204" name="Google Shape;204;p26"/>
          <p:cNvSpPr txBox="1"/>
          <p:nvPr/>
        </p:nvSpPr>
        <p:spPr>
          <a:xfrm>
            <a:off x="548640" y="2048256"/>
            <a:ext cx="4297680" cy="3017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141414"/>
                </a:solidFill>
                <a:latin typeface="Inter"/>
                <a:ea typeface="Inter"/>
                <a:cs typeface="Inter"/>
                <a:sym typeface="Inter"/>
              </a:rPr>
              <a:t>Current iterative medical RAG</a:t>
            </a:r>
            <a:endParaRPr/>
          </a:p>
        </p:txBody>
      </p:sp>
      <p:sp>
        <p:nvSpPr>
          <p:cNvPr id="205" name="Google Shape;205;p26"/>
          <p:cNvSpPr/>
          <p:nvPr/>
        </p:nvSpPr>
        <p:spPr>
          <a:xfrm>
            <a:off x="658368" y="2606040"/>
            <a:ext cx="1965960" cy="566928"/>
          </a:xfrm>
          <a:prstGeom prst="roundRect">
            <a:avLst>
              <a:gd fmla="val 16667" name="adj"/>
            </a:avLst>
          </a:prstGeom>
          <a:solidFill>
            <a:srgbClr val="EFF6FF"/>
          </a:solidFill>
          <a:ln cap="flat" cmpd="sng" w="12700">
            <a:solidFill>
              <a:srgbClr val="6E9D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6" name="Google Shape;206;p26"/>
          <p:cNvSpPr txBox="1"/>
          <p:nvPr/>
        </p:nvSpPr>
        <p:spPr>
          <a:xfrm>
            <a:off x="704088" y="2651760"/>
            <a:ext cx="1874519" cy="475488"/>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rPr b="1" i="0" lang="en-US" sz="1300" u="none" cap="none" strike="noStrike">
                <a:solidFill>
                  <a:srgbClr val="2B3D5B"/>
                </a:solidFill>
                <a:latin typeface="Inter"/>
                <a:ea typeface="Inter"/>
                <a:cs typeface="Inter"/>
                <a:sym typeface="Inter"/>
              </a:rPr>
              <a:t>Query</a:t>
            </a:r>
            <a:endParaRPr/>
          </a:p>
        </p:txBody>
      </p:sp>
      <p:cxnSp>
        <p:nvCxnSpPr>
          <p:cNvPr id="207" name="Google Shape;207;p26"/>
          <p:cNvCxnSpPr/>
          <p:nvPr/>
        </p:nvCxnSpPr>
        <p:spPr>
          <a:xfrm>
            <a:off x="1645920" y="3172968"/>
            <a:ext cx="0" cy="320040"/>
          </a:xfrm>
          <a:prstGeom prst="straightConnector1">
            <a:avLst/>
          </a:prstGeom>
          <a:noFill/>
          <a:ln cap="flat" cmpd="sng" w="25400">
            <a:solidFill>
              <a:srgbClr val="141414"/>
            </a:solidFill>
            <a:prstDash val="solid"/>
            <a:round/>
            <a:headEnd len="sm" w="sm" type="none"/>
            <a:tailEnd len="sm" w="sm" type="none"/>
          </a:ln>
          <a:effectLst>
            <a:outerShdw blurRad="40000" rotWithShape="0" dir="5400000" dist="20000">
              <a:srgbClr val="000000">
                <a:alpha val="38039"/>
              </a:srgbClr>
            </a:outerShdw>
          </a:effectLst>
        </p:spPr>
      </p:cxnSp>
      <p:sp>
        <p:nvSpPr>
          <p:cNvPr id="208" name="Google Shape;208;p26"/>
          <p:cNvSpPr/>
          <p:nvPr/>
        </p:nvSpPr>
        <p:spPr>
          <a:xfrm>
            <a:off x="658368" y="3493008"/>
            <a:ext cx="1965960" cy="658368"/>
          </a:xfrm>
          <a:prstGeom prst="roundRect">
            <a:avLst>
              <a:gd fmla="val 16667" name="adj"/>
            </a:avLst>
          </a:prstGeom>
          <a:solidFill>
            <a:srgbClr val="EFF9F4"/>
          </a:solidFill>
          <a:ln cap="flat" cmpd="sng" w="12700">
            <a:solidFill>
              <a:srgbClr val="23915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9" name="Google Shape;209;p26"/>
          <p:cNvSpPr txBox="1"/>
          <p:nvPr/>
        </p:nvSpPr>
        <p:spPr>
          <a:xfrm>
            <a:off x="704088" y="3538727"/>
            <a:ext cx="1874519" cy="566928"/>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rPr b="1" i="0" lang="en-US" sz="1300" u="none" cap="none" strike="noStrike">
                <a:solidFill>
                  <a:srgbClr val="2B3D5B"/>
                </a:solidFill>
                <a:latin typeface="Inter"/>
                <a:ea typeface="Inter"/>
                <a:cs typeface="Inter"/>
                <a:sym typeface="Inter"/>
              </a:rPr>
              <a:t>Retrieve</a:t>
            </a:r>
            <a:endParaRPr/>
          </a:p>
        </p:txBody>
      </p:sp>
      <p:cxnSp>
        <p:nvCxnSpPr>
          <p:cNvPr id="210" name="Google Shape;210;p26"/>
          <p:cNvCxnSpPr/>
          <p:nvPr/>
        </p:nvCxnSpPr>
        <p:spPr>
          <a:xfrm>
            <a:off x="1645920" y="4151376"/>
            <a:ext cx="0" cy="329184"/>
          </a:xfrm>
          <a:prstGeom prst="straightConnector1">
            <a:avLst/>
          </a:prstGeom>
          <a:noFill/>
          <a:ln cap="flat" cmpd="sng" w="25400">
            <a:solidFill>
              <a:srgbClr val="141414"/>
            </a:solidFill>
            <a:prstDash val="solid"/>
            <a:round/>
            <a:headEnd len="sm" w="sm" type="none"/>
            <a:tailEnd len="sm" w="sm" type="none"/>
          </a:ln>
          <a:effectLst>
            <a:outerShdw blurRad="40000" rotWithShape="0" dir="5400000" dist="20000">
              <a:srgbClr val="000000">
                <a:alpha val="38039"/>
              </a:srgbClr>
            </a:outerShdw>
          </a:effectLst>
        </p:spPr>
      </p:cxnSp>
      <p:sp>
        <p:nvSpPr>
          <p:cNvPr id="211" name="Google Shape;211;p26"/>
          <p:cNvSpPr/>
          <p:nvPr/>
        </p:nvSpPr>
        <p:spPr>
          <a:xfrm>
            <a:off x="658368" y="4480560"/>
            <a:ext cx="1965960" cy="658368"/>
          </a:xfrm>
          <a:prstGeom prst="roundRect">
            <a:avLst>
              <a:gd fmla="val 16667" name="adj"/>
            </a:avLst>
          </a:prstGeom>
          <a:solidFill>
            <a:srgbClr val="FFF7EE"/>
          </a:solidFill>
          <a:ln cap="flat" cmpd="sng" w="12700">
            <a:solidFill>
              <a:srgbClr val="E28C35"/>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2" name="Google Shape;212;p26"/>
          <p:cNvSpPr txBox="1"/>
          <p:nvPr/>
        </p:nvSpPr>
        <p:spPr>
          <a:xfrm>
            <a:off x="704088" y="4526280"/>
            <a:ext cx="1874519" cy="566928"/>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rPr b="1" i="0" lang="en-US" sz="1300" u="none" cap="none" strike="noStrike">
                <a:solidFill>
                  <a:srgbClr val="2B3D5B"/>
                </a:solidFill>
                <a:latin typeface="Inter"/>
                <a:ea typeface="Inter"/>
                <a:cs typeface="Inter"/>
                <a:sym typeface="Inter"/>
              </a:rPr>
              <a:t>Generate</a:t>
            </a:r>
            <a:br>
              <a:rPr b="1" i="0" lang="en-US" sz="1300" u="none" cap="none" strike="noStrike">
                <a:solidFill>
                  <a:srgbClr val="2B3D5B"/>
                </a:solidFill>
                <a:latin typeface="Inter"/>
                <a:ea typeface="Inter"/>
                <a:cs typeface="Inter"/>
                <a:sym typeface="Inter"/>
              </a:rPr>
            </a:br>
            <a:r>
              <a:rPr b="1" i="0" lang="en-US" sz="1300" u="none" cap="none" strike="noStrike">
                <a:solidFill>
                  <a:srgbClr val="2B3D5B"/>
                </a:solidFill>
                <a:latin typeface="Inter"/>
                <a:ea typeface="Inter"/>
                <a:cs typeface="Inter"/>
                <a:sym typeface="Inter"/>
              </a:rPr>
              <a:t>Rationale</a:t>
            </a:r>
            <a:endParaRPr/>
          </a:p>
        </p:txBody>
      </p:sp>
      <p:cxnSp>
        <p:nvCxnSpPr>
          <p:cNvPr id="213" name="Google Shape;213;p26"/>
          <p:cNvCxnSpPr/>
          <p:nvPr/>
        </p:nvCxnSpPr>
        <p:spPr>
          <a:xfrm>
            <a:off x="1645920" y="5138928"/>
            <a:ext cx="0" cy="329184"/>
          </a:xfrm>
          <a:prstGeom prst="straightConnector1">
            <a:avLst/>
          </a:prstGeom>
          <a:noFill/>
          <a:ln cap="flat" cmpd="sng" w="25400">
            <a:solidFill>
              <a:srgbClr val="141414"/>
            </a:solidFill>
            <a:prstDash val="solid"/>
            <a:round/>
            <a:headEnd len="sm" w="sm" type="none"/>
            <a:tailEnd len="sm" w="sm" type="none"/>
          </a:ln>
          <a:effectLst>
            <a:outerShdw blurRad="40000" rotWithShape="0" dir="5400000" dist="20000">
              <a:srgbClr val="000000">
                <a:alpha val="38039"/>
              </a:srgbClr>
            </a:outerShdw>
          </a:effectLst>
        </p:spPr>
      </p:cxnSp>
      <p:sp>
        <p:nvSpPr>
          <p:cNvPr id="214" name="Google Shape;214;p26"/>
          <p:cNvSpPr/>
          <p:nvPr/>
        </p:nvSpPr>
        <p:spPr>
          <a:xfrm>
            <a:off x="658368" y="5468112"/>
            <a:ext cx="1965960" cy="658368"/>
          </a:xfrm>
          <a:prstGeom prst="roundRect">
            <a:avLst>
              <a:gd fmla="val 16667" name="adj"/>
            </a:avLst>
          </a:prstGeom>
          <a:solidFill>
            <a:srgbClr val="F6F2FD"/>
          </a:solidFill>
          <a:ln cap="flat" cmpd="sng" w="12700">
            <a:solidFill>
              <a:srgbClr val="6F56A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5" name="Google Shape;215;p26"/>
          <p:cNvSpPr txBox="1"/>
          <p:nvPr/>
        </p:nvSpPr>
        <p:spPr>
          <a:xfrm>
            <a:off x="704088" y="5513832"/>
            <a:ext cx="1874519" cy="566928"/>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rPr b="1" i="0" lang="en-US" sz="1200" u="none" cap="none" strike="noStrike">
                <a:solidFill>
                  <a:srgbClr val="2B3D5B"/>
                </a:solidFill>
                <a:latin typeface="Inter"/>
                <a:ea typeface="Inter"/>
                <a:cs typeface="Inter"/>
                <a:sym typeface="Inter"/>
              </a:rPr>
              <a:t>NLI Support</a:t>
            </a:r>
            <a:br>
              <a:rPr b="1" i="0" lang="en-US" sz="1200" u="none" cap="none" strike="noStrike">
                <a:solidFill>
                  <a:srgbClr val="2B3D5B"/>
                </a:solidFill>
                <a:latin typeface="Inter"/>
                <a:ea typeface="Inter"/>
                <a:cs typeface="Inter"/>
                <a:sym typeface="Inter"/>
              </a:rPr>
            </a:br>
            <a:r>
              <a:rPr b="1" i="0" lang="en-US" sz="1200" u="none" cap="none" strike="noStrike">
                <a:solidFill>
                  <a:srgbClr val="2B3D5B"/>
                </a:solidFill>
                <a:latin typeface="Inter"/>
                <a:ea typeface="Inter"/>
                <a:cs typeface="Inter"/>
                <a:sym typeface="Inter"/>
              </a:rPr>
              <a:t>Score</a:t>
            </a:r>
            <a:endParaRPr/>
          </a:p>
        </p:txBody>
      </p:sp>
      <p:sp>
        <p:nvSpPr>
          <p:cNvPr id="216" name="Google Shape;216;p26"/>
          <p:cNvSpPr txBox="1"/>
          <p:nvPr/>
        </p:nvSpPr>
        <p:spPr>
          <a:xfrm>
            <a:off x="2880360" y="3767328"/>
            <a:ext cx="1828800" cy="150876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rPr b="1" i="0" lang="en-US" sz="1300" u="none" cap="none" strike="noStrike">
                <a:solidFill>
                  <a:srgbClr val="CD454C"/>
                </a:solidFill>
                <a:latin typeface="Inter"/>
                <a:ea typeface="Inter"/>
                <a:cs typeface="Inter"/>
                <a:sym typeface="Inter"/>
              </a:rPr>
              <a:t>If support &lt; θ</a:t>
            </a:r>
            <a:br>
              <a:rPr b="1" i="0" lang="en-US" sz="1300" u="none" cap="none" strike="noStrike">
                <a:solidFill>
                  <a:srgbClr val="CD454C"/>
                </a:solidFill>
                <a:latin typeface="Inter"/>
                <a:ea typeface="Inter"/>
                <a:cs typeface="Inter"/>
                <a:sym typeface="Inter"/>
              </a:rPr>
            </a:br>
            <a:r>
              <a:rPr b="1" i="0" lang="en-US" sz="1300" u="none" cap="none" strike="noStrike">
                <a:solidFill>
                  <a:srgbClr val="CD454C"/>
                </a:solidFill>
                <a:latin typeface="Inter"/>
                <a:ea typeface="Inter"/>
                <a:cs typeface="Inter"/>
                <a:sym typeface="Inter"/>
              </a:rPr>
              <a:t>→ refine query</a:t>
            </a:r>
            <a:br>
              <a:rPr b="1" i="0" lang="en-US" sz="1300" u="none" cap="none" strike="noStrike">
                <a:solidFill>
                  <a:srgbClr val="CD454C"/>
                </a:solidFill>
                <a:latin typeface="Inter"/>
                <a:ea typeface="Inter"/>
                <a:cs typeface="Inter"/>
                <a:sym typeface="Inter"/>
              </a:rPr>
            </a:br>
            <a:r>
              <a:rPr b="1" i="0" lang="en-US" sz="1300" u="none" cap="none" strike="noStrike">
                <a:solidFill>
                  <a:srgbClr val="CD454C"/>
                </a:solidFill>
                <a:latin typeface="Inter"/>
                <a:ea typeface="Inter"/>
                <a:cs typeface="Inter"/>
                <a:sym typeface="Inter"/>
              </a:rPr>
              <a:t>→ retrieve again</a:t>
            </a:r>
            <a:endParaRPr/>
          </a:p>
        </p:txBody>
      </p:sp>
      <p:sp>
        <p:nvSpPr>
          <p:cNvPr id="217" name="Google Shape;217;p26"/>
          <p:cNvSpPr txBox="1"/>
          <p:nvPr/>
        </p:nvSpPr>
        <p:spPr>
          <a:xfrm>
            <a:off x="5303520" y="2048256"/>
            <a:ext cx="3749039" cy="3017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141414"/>
                </a:solidFill>
                <a:latin typeface="Inter"/>
                <a:ea typeface="Inter"/>
                <a:cs typeface="Inter"/>
                <a:sym typeface="Inter"/>
              </a:rPr>
              <a:t>Where the bottleneck appears</a:t>
            </a:r>
            <a:endParaRPr/>
          </a:p>
        </p:txBody>
      </p:sp>
      <p:sp>
        <p:nvSpPr>
          <p:cNvPr id="218" name="Google Shape;218;p26"/>
          <p:cNvSpPr txBox="1"/>
          <p:nvPr/>
        </p:nvSpPr>
        <p:spPr>
          <a:xfrm>
            <a:off x="5303520" y="2560320"/>
            <a:ext cx="3840480" cy="36118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141414"/>
                </a:solidFill>
                <a:latin typeface="Inter"/>
                <a:ea typeface="Inter"/>
                <a:cs typeface="Inter"/>
                <a:sym typeface="Inter"/>
              </a:rPr>
              <a:t>• Verifier sees support, but not a full evidence state.</a:t>
            </a:r>
            <a:endParaRPr/>
          </a:p>
          <a:p>
            <a:pPr indent="0" lvl="0" marL="0" marR="0" rtl="0" algn="l">
              <a:lnSpc>
                <a:spcPct val="100000"/>
              </a:lnSpc>
              <a:spcBef>
                <a:spcPts val="700"/>
              </a:spcBef>
              <a:spcAft>
                <a:spcPts val="0"/>
              </a:spcAft>
              <a:buNone/>
            </a:pPr>
            <a:r>
              <a:rPr b="0" i="0" lang="en-US" sz="1400" u="none" cap="none" strike="noStrike">
                <a:solidFill>
                  <a:srgbClr val="141414"/>
                </a:solidFill>
                <a:latin typeface="Inter"/>
                <a:ea typeface="Inter"/>
                <a:cs typeface="Inter"/>
                <a:sym typeface="Inter"/>
              </a:rPr>
              <a:t>• Contradictory sources may remain unresolved.</a:t>
            </a:r>
            <a:endParaRPr/>
          </a:p>
          <a:p>
            <a:pPr indent="0" lvl="0" marL="0" marR="0" rtl="0" algn="l">
              <a:lnSpc>
                <a:spcPct val="100000"/>
              </a:lnSpc>
              <a:spcBef>
                <a:spcPts val="700"/>
              </a:spcBef>
              <a:spcAft>
                <a:spcPts val="0"/>
              </a:spcAft>
              <a:buNone/>
            </a:pPr>
            <a:r>
              <a:rPr b="0" i="0" lang="en-US" sz="1400" u="none" cap="none" strike="noStrike">
                <a:solidFill>
                  <a:srgbClr val="141414"/>
                </a:solidFill>
                <a:latin typeface="Inter"/>
                <a:ea typeface="Inter"/>
                <a:cs typeface="Inter"/>
                <a:sym typeface="Inter"/>
              </a:rPr>
              <a:t>• Recency and source quality are not explicit control variables.</a:t>
            </a:r>
            <a:endParaRPr/>
          </a:p>
          <a:p>
            <a:pPr indent="0" lvl="0" marL="0" marR="0" rtl="0" algn="l">
              <a:lnSpc>
                <a:spcPct val="100000"/>
              </a:lnSpc>
              <a:spcBef>
                <a:spcPts val="700"/>
              </a:spcBef>
              <a:spcAft>
                <a:spcPts val="0"/>
              </a:spcAft>
              <a:buNone/>
            </a:pPr>
            <a:r>
              <a:rPr b="0" i="0" lang="en-US" sz="1400" u="none" cap="none" strike="noStrike">
                <a:solidFill>
                  <a:srgbClr val="141414"/>
                </a:solidFill>
                <a:latin typeface="Inter"/>
                <a:ea typeface="Inter"/>
                <a:cs typeface="Inter"/>
                <a:sym typeface="Inter"/>
              </a:rPr>
              <a:t>• Unsupported rationale can drive query drift.</a:t>
            </a:r>
            <a:endParaRPr/>
          </a:p>
          <a:p>
            <a:pPr indent="0" lvl="0" marL="0" marR="0" rtl="0" algn="l">
              <a:lnSpc>
                <a:spcPct val="100000"/>
              </a:lnSpc>
              <a:spcBef>
                <a:spcPts val="700"/>
              </a:spcBef>
              <a:spcAft>
                <a:spcPts val="0"/>
              </a:spcAft>
              <a:buNone/>
            </a:pPr>
            <a:r>
              <a:rPr b="0" i="0" lang="en-US" sz="1400" u="none" cap="none" strike="noStrike">
                <a:solidFill>
                  <a:srgbClr val="141414"/>
                </a:solidFill>
                <a:latin typeface="Inter"/>
                <a:ea typeface="Inter"/>
                <a:cs typeface="Inter"/>
                <a:sym typeface="Inter"/>
              </a:rPr>
              <a:t>• System may over-search or stop too early.</a:t>
            </a:r>
            <a:endParaRPr/>
          </a:p>
        </p:txBody>
      </p:sp>
      <p:sp>
        <p:nvSpPr>
          <p:cNvPr id="219" name="Google Shape;219;p26"/>
          <p:cNvSpPr txBox="1"/>
          <p:nvPr/>
        </p:nvSpPr>
        <p:spPr>
          <a:xfrm>
            <a:off x="9464040" y="2048256"/>
            <a:ext cx="4206240" cy="3017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141414"/>
                </a:solidFill>
                <a:latin typeface="Inter"/>
                <a:ea typeface="Inter"/>
                <a:cs typeface="Inter"/>
                <a:sym typeface="Inter"/>
              </a:rPr>
              <a:t>Research opportunity</a:t>
            </a:r>
            <a:endParaRPr/>
          </a:p>
        </p:txBody>
      </p:sp>
      <p:sp>
        <p:nvSpPr>
          <p:cNvPr id="220" name="Google Shape;220;p26"/>
          <p:cNvSpPr/>
          <p:nvPr/>
        </p:nvSpPr>
        <p:spPr>
          <a:xfrm>
            <a:off x="9464040" y="2578608"/>
            <a:ext cx="4251960" cy="3337560"/>
          </a:xfrm>
          <a:prstGeom prst="roundRect">
            <a:avLst>
              <a:gd fmla="val 16667" name="adj"/>
            </a:avLst>
          </a:prstGeom>
          <a:solidFill>
            <a:srgbClr val="EFF6FF"/>
          </a:solidFill>
          <a:ln cap="flat" cmpd="sng" w="12700">
            <a:solidFill>
              <a:srgbClr val="6E9D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1" name="Google Shape;221;p26"/>
          <p:cNvSpPr txBox="1"/>
          <p:nvPr/>
        </p:nvSpPr>
        <p:spPr>
          <a:xfrm>
            <a:off x="9738360" y="2834640"/>
            <a:ext cx="3703320" cy="38404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900" u="none" cap="none" strike="noStrike">
                <a:solidFill>
                  <a:srgbClr val="2B3D5B"/>
                </a:solidFill>
                <a:latin typeface="Inter"/>
                <a:ea typeface="Inter"/>
                <a:cs typeface="Inter"/>
                <a:sym typeface="Inter"/>
              </a:rPr>
              <a:t>Evidence State</a:t>
            </a:r>
            <a:endParaRPr/>
          </a:p>
        </p:txBody>
      </p:sp>
      <p:sp>
        <p:nvSpPr>
          <p:cNvPr id="222" name="Google Shape;222;p26"/>
          <p:cNvSpPr txBox="1"/>
          <p:nvPr/>
        </p:nvSpPr>
        <p:spPr>
          <a:xfrm>
            <a:off x="9802368" y="3383280"/>
            <a:ext cx="3566160" cy="16459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380" u="none" cap="none" strike="noStrike">
                <a:solidFill>
                  <a:srgbClr val="141414"/>
                </a:solidFill>
                <a:latin typeface="Inter"/>
                <a:ea typeface="Inter"/>
                <a:cs typeface="Inter"/>
                <a:sym typeface="Inter"/>
              </a:rPr>
              <a:t>• Support</a:t>
            </a:r>
            <a:endParaRPr/>
          </a:p>
          <a:p>
            <a:pPr indent="0" lvl="0" marL="0" marR="0" rtl="0" algn="l">
              <a:lnSpc>
                <a:spcPct val="100000"/>
              </a:lnSpc>
              <a:spcBef>
                <a:spcPts val="400"/>
              </a:spcBef>
              <a:spcAft>
                <a:spcPts val="0"/>
              </a:spcAft>
              <a:buNone/>
            </a:pPr>
            <a:r>
              <a:rPr b="0" i="0" lang="en-US" sz="1380" u="none" cap="none" strike="noStrike">
                <a:solidFill>
                  <a:srgbClr val="141414"/>
                </a:solidFill>
                <a:latin typeface="Inter"/>
                <a:ea typeface="Inter"/>
                <a:cs typeface="Inter"/>
                <a:sym typeface="Inter"/>
              </a:rPr>
              <a:t>• Contradiction</a:t>
            </a:r>
            <a:endParaRPr/>
          </a:p>
          <a:p>
            <a:pPr indent="0" lvl="0" marL="0" marR="0" rtl="0" algn="l">
              <a:lnSpc>
                <a:spcPct val="100000"/>
              </a:lnSpc>
              <a:spcBef>
                <a:spcPts val="400"/>
              </a:spcBef>
              <a:spcAft>
                <a:spcPts val="0"/>
              </a:spcAft>
              <a:buNone/>
            </a:pPr>
            <a:r>
              <a:rPr b="0" i="0" lang="en-US" sz="1380" u="none" cap="none" strike="noStrike">
                <a:solidFill>
                  <a:srgbClr val="141414"/>
                </a:solidFill>
                <a:latin typeface="Inter"/>
                <a:ea typeface="Inter"/>
                <a:cs typeface="Inter"/>
                <a:sym typeface="Inter"/>
              </a:rPr>
              <a:t>• Insufficiency</a:t>
            </a:r>
            <a:endParaRPr/>
          </a:p>
          <a:p>
            <a:pPr indent="0" lvl="0" marL="0" marR="0" rtl="0" algn="l">
              <a:lnSpc>
                <a:spcPct val="100000"/>
              </a:lnSpc>
              <a:spcBef>
                <a:spcPts val="400"/>
              </a:spcBef>
              <a:spcAft>
                <a:spcPts val="0"/>
              </a:spcAft>
              <a:buNone/>
            </a:pPr>
            <a:r>
              <a:rPr b="0" i="0" lang="en-US" sz="1380" u="none" cap="none" strike="noStrike">
                <a:solidFill>
                  <a:srgbClr val="141414"/>
                </a:solidFill>
                <a:latin typeface="Inter"/>
                <a:ea typeface="Inter"/>
                <a:cs typeface="Inter"/>
                <a:sym typeface="Inter"/>
              </a:rPr>
              <a:t>• Recency</a:t>
            </a:r>
            <a:endParaRPr/>
          </a:p>
          <a:p>
            <a:pPr indent="0" lvl="0" marL="0" marR="0" rtl="0" algn="l">
              <a:lnSpc>
                <a:spcPct val="100000"/>
              </a:lnSpc>
              <a:spcBef>
                <a:spcPts val="400"/>
              </a:spcBef>
              <a:spcAft>
                <a:spcPts val="0"/>
              </a:spcAft>
              <a:buNone/>
            </a:pPr>
            <a:r>
              <a:rPr b="0" i="0" lang="en-US" sz="1380" u="none" cap="none" strike="noStrike">
                <a:solidFill>
                  <a:srgbClr val="141414"/>
                </a:solidFill>
                <a:latin typeface="Inter"/>
                <a:ea typeface="Inter"/>
                <a:cs typeface="Inter"/>
                <a:sym typeface="Inter"/>
              </a:rPr>
              <a:t>• Source quality</a:t>
            </a:r>
            <a:endParaRPr/>
          </a:p>
          <a:p>
            <a:pPr indent="0" lvl="0" marL="0" marR="0" rtl="0" algn="l">
              <a:lnSpc>
                <a:spcPct val="100000"/>
              </a:lnSpc>
              <a:spcBef>
                <a:spcPts val="400"/>
              </a:spcBef>
              <a:spcAft>
                <a:spcPts val="0"/>
              </a:spcAft>
              <a:buNone/>
            </a:pPr>
            <a:r>
              <a:rPr b="0" i="0" lang="en-US" sz="1380" u="none" cap="none" strike="noStrike">
                <a:solidFill>
                  <a:srgbClr val="141414"/>
                </a:solidFill>
                <a:latin typeface="Inter"/>
                <a:ea typeface="Inter"/>
                <a:cs typeface="Inter"/>
                <a:sym typeface="Inter"/>
              </a:rPr>
              <a:t>• Clinical risk</a:t>
            </a:r>
            <a:endParaRPr/>
          </a:p>
        </p:txBody>
      </p:sp>
      <p:sp>
        <p:nvSpPr>
          <p:cNvPr id="223" name="Google Shape;223;p26"/>
          <p:cNvSpPr txBox="1"/>
          <p:nvPr/>
        </p:nvSpPr>
        <p:spPr>
          <a:xfrm>
            <a:off x="9710928" y="5532120"/>
            <a:ext cx="3794760" cy="4114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450" u="none" cap="none" strike="noStrike">
                <a:solidFill>
                  <a:srgbClr val="CD454C"/>
                </a:solidFill>
                <a:latin typeface="Inter"/>
                <a:ea typeface="Inter"/>
                <a:cs typeface="Inter"/>
                <a:sym typeface="Inter"/>
              </a:rPr>
              <a:t>→ drive the next retrieval action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8" name="Shape 228"/>
        <p:cNvGrpSpPr/>
        <p:nvPr/>
      </p:nvGrpSpPr>
      <p:grpSpPr>
        <a:xfrm>
          <a:off x="0" y="0"/>
          <a:ext cx="0" cy="0"/>
          <a:chOff x="0" y="0"/>
          <a:chExt cx="0" cy="0"/>
        </a:xfrm>
      </p:grpSpPr>
      <p:sp>
        <p:nvSpPr>
          <p:cNvPr id="229" name="Google Shape;229;p27"/>
          <p:cNvSpPr txBox="1"/>
          <p:nvPr/>
        </p:nvSpPr>
        <p:spPr>
          <a:xfrm>
            <a:off x="0" y="0"/>
            <a:ext cx="14630400" cy="910800"/>
          </a:xfrm>
          <a:prstGeom prst="rect">
            <a:avLst/>
          </a:prstGeom>
          <a:solidFill>
            <a:schemeClr val="accent5"/>
          </a:solidFill>
          <a:ln>
            <a:noFill/>
          </a:ln>
        </p:spPr>
        <p:txBody>
          <a:bodyPr anchorCtr="0" anchor="ctr" bIns="0" lIns="0" spcFirstLastPara="1" rIns="0" wrap="square" tIns="0">
            <a:noAutofit/>
          </a:bodyPr>
          <a:lstStyle/>
          <a:p>
            <a:pPr indent="0" lvl="0" marL="0" rtl="0" algn="l">
              <a:spcBef>
                <a:spcPts val="0"/>
              </a:spcBef>
              <a:spcAft>
                <a:spcPts val="0"/>
              </a:spcAft>
              <a:buClr>
                <a:schemeClr val="dk1"/>
              </a:buClr>
              <a:buFont typeface="Arial"/>
              <a:buNone/>
            </a:pPr>
            <a:r>
              <a:rPr lang="en-US" sz="3400">
                <a:solidFill>
                  <a:schemeClr val="lt1"/>
                </a:solidFill>
                <a:latin typeface="Inter"/>
                <a:ea typeface="Inter"/>
                <a:cs typeface="Inter"/>
                <a:sym typeface="Inter"/>
              </a:rPr>
              <a:t>   </a:t>
            </a:r>
            <a:r>
              <a:rPr lang="en-US" sz="3400">
                <a:solidFill>
                  <a:schemeClr val="lt1"/>
                </a:solidFill>
                <a:latin typeface="Inter"/>
                <a:ea typeface="Inter"/>
                <a:cs typeface="Inter"/>
                <a:sym typeface="Inter"/>
              </a:rPr>
              <a:t>Proposed Methodology — A 3-Phase Hybrid Architecture</a:t>
            </a:r>
            <a:endParaRPr>
              <a:solidFill>
                <a:schemeClr val="dk1"/>
              </a:solidFill>
            </a:endParaRPr>
          </a:p>
        </p:txBody>
      </p:sp>
      <p:sp>
        <p:nvSpPr>
          <p:cNvPr id="230" name="Google Shape;230;p27"/>
          <p:cNvSpPr/>
          <p:nvPr/>
        </p:nvSpPr>
        <p:spPr>
          <a:xfrm>
            <a:off x="4901002" y="1042416"/>
            <a:ext cx="4828032" cy="493776"/>
          </a:xfrm>
          <a:prstGeom prst="roundRect">
            <a:avLst>
              <a:gd fmla="val 48889" name="adj"/>
            </a:avLst>
          </a:prstGeom>
          <a:solidFill>
            <a:srgbClr val="DCE6F7"/>
          </a:solidFill>
          <a:ln cap="flat" cmpd="sng" w="19050">
            <a:solidFill>
              <a:srgbClr val="4472C4"/>
            </a:solidFill>
            <a:prstDash val="solid"/>
            <a:round/>
            <a:headEnd len="sm" w="sm" type="none"/>
            <a:tailEnd len="sm" w="sm" type="none"/>
          </a:ln>
          <a:effectLst>
            <a:outerShdw blurRad="50800" rotWithShape="0" algn="bl" dir="5400000" dist="25400">
              <a:srgbClr val="808080">
                <a:alpha val="25098"/>
              </a:srgbClr>
            </a:outerShdw>
          </a:effectLst>
        </p:spPr>
        <p:txBody>
          <a:bodyPr anchorCtr="0" anchor="ctr" bIns="109700" lIns="109700" spcFirstLastPara="1" rIns="109700" wrap="square" tIns="109700">
            <a:noAutofit/>
          </a:bodyPr>
          <a:lstStyle/>
          <a:p>
            <a:pPr indent="0" lvl="0" marL="0" rtl="0" algn="l">
              <a:spcBef>
                <a:spcPts val="0"/>
              </a:spcBef>
              <a:spcAft>
                <a:spcPts val="0"/>
              </a:spcAft>
              <a:buNone/>
            </a:pPr>
            <a:r>
              <a:t/>
            </a:r>
            <a:endParaRPr/>
          </a:p>
        </p:txBody>
      </p:sp>
      <p:sp>
        <p:nvSpPr>
          <p:cNvPr id="231" name="Google Shape;231;p27"/>
          <p:cNvSpPr txBox="1"/>
          <p:nvPr/>
        </p:nvSpPr>
        <p:spPr>
          <a:xfrm>
            <a:off x="4966838" y="1042416"/>
            <a:ext cx="4696358" cy="4937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62626"/>
              </a:buClr>
              <a:buSzPts val="1800"/>
              <a:buFont typeface="Calibri"/>
              <a:buNone/>
            </a:pPr>
            <a:r>
              <a:rPr b="1" i="0" lang="en-US" sz="1800" u="none" cap="none" strike="noStrike">
                <a:solidFill>
                  <a:srgbClr val="262626"/>
                </a:solidFill>
                <a:latin typeface="Calibri"/>
                <a:ea typeface="Calibri"/>
                <a:cs typeface="Calibri"/>
                <a:sym typeface="Calibri"/>
              </a:rPr>
              <a:t>Medical Question</a:t>
            </a:r>
            <a:endParaRPr b="0" i="0" sz="1800" u="none" cap="none" strike="noStrike">
              <a:solidFill>
                <a:schemeClr val="dk1"/>
              </a:solidFill>
              <a:latin typeface="Calibri"/>
              <a:ea typeface="Calibri"/>
              <a:cs typeface="Calibri"/>
              <a:sym typeface="Calibri"/>
            </a:endParaRPr>
          </a:p>
        </p:txBody>
      </p:sp>
      <p:sp>
        <p:nvSpPr>
          <p:cNvPr id="232" name="Google Shape;232;p27"/>
          <p:cNvSpPr/>
          <p:nvPr/>
        </p:nvSpPr>
        <p:spPr>
          <a:xfrm>
            <a:off x="4901002" y="1667866"/>
            <a:ext cx="4828032" cy="636422"/>
          </a:xfrm>
          <a:prstGeom prst="roundRect">
            <a:avLst>
              <a:gd fmla="val 15517" name="adj"/>
            </a:avLst>
          </a:prstGeom>
          <a:solidFill>
            <a:srgbClr val="E2F0D9"/>
          </a:solidFill>
          <a:ln cap="flat" cmpd="sng" w="19050">
            <a:solidFill>
              <a:srgbClr val="70AD47"/>
            </a:solidFill>
            <a:prstDash val="solid"/>
            <a:round/>
            <a:headEnd len="sm" w="sm" type="none"/>
            <a:tailEnd len="sm" w="sm" type="none"/>
          </a:ln>
          <a:effectLst>
            <a:outerShdw blurRad="50800" rotWithShape="0" algn="bl" dir="5400000" dist="25400">
              <a:srgbClr val="808080">
                <a:alpha val="25098"/>
              </a:srgbClr>
            </a:outerShdw>
          </a:effectLst>
        </p:spPr>
        <p:txBody>
          <a:bodyPr anchorCtr="0" anchor="ctr" bIns="109700" lIns="109700" spcFirstLastPara="1" rIns="109700" wrap="square" tIns="109700">
            <a:noAutofit/>
          </a:bodyPr>
          <a:lstStyle/>
          <a:p>
            <a:pPr indent="0" lvl="0" marL="0" rtl="0" algn="l">
              <a:spcBef>
                <a:spcPts val="0"/>
              </a:spcBef>
              <a:spcAft>
                <a:spcPts val="0"/>
              </a:spcAft>
              <a:buNone/>
            </a:pPr>
            <a:r>
              <a:t/>
            </a:r>
            <a:endParaRPr/>
          </a:p>
        </p:txBody>
      </p:sp>
      <p:sp>
        <p:nvSpPr>
          <p:cNvPr id="233" name="Google Shape;233;p27"/>
          <p:cNvSpPr txBox="1"/>
          <p:nvPr/>
        </p:nvSpPr>
        <p:spPr>
          <a:xfrm>
            <a:off x="4966838" y="1667866"/>
            <a:ext cx="4696358" cy="63642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62626"/>
              </a:buClr>
              <a:buSzPts val="1700"/>
              <a:buFont typeface="Calibri"/>
              <a:buNone/>
            </a:pPr>
            <a:r>
              <a:rPr b="1" i="0" lang="en-US" sz="1700" u="none" cap="none" strike="noStrike">
                <a:solidFill>
                  <a:srgbClr val="262626"/>
                </a:solidFill>
                <a:latin typeface="Calibri"/>
                <a:ea typeface="Calibri"/>
                <a:cs typeface="Calibri"/>
                <a:sym typeface="Calibri"/>
              </a:rPr>
              <a:t>Clinical Query Understanding</a:t>
            </a:r>
            <a:endParaRPr b="0" i="0" sz="17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262626"/>
              </a:buClr>
              <a:buSzPts val="1300"/>
              <a:buFont typeface="Calibri"/>
              <a:buNone/>
            </a:pPr>
            <a:r>
              <a:rPr b="0" i="0" lang="en-US" sz="1300" u="none" cap="none" strike="noStrike">
                <a:solidFill>
                  <a:srgbClr val="262626"/>
                </a:solidFill>
                <a:latin typeface="Calibri"/>
                <a:ea typeface="Calibri"/>
                <a:cs typeface="Calibri"/>
                <a:sym typeface="Calibri"/>
              </a:rPr>
              <a:t>Entity • Intent • Context</a:t>
            </a:r>
            <a:endParaRPr b="0" i="0" sz="1700" u="none" cap="none" strike="noStrike">
              <a:solidFill>
                <a:schemeClr val="dk1"/>
              </a:solidFill>
              <a:latin typeface="Calibri"/>
              <a:ea typeface="Calibri"/>
              <a:cs typeface="Calibri"/>
              <a:sym typeface="Calibri"/>
            </a:endParaRPr>
          </a:p>
        </p:txBody>
      </p:sp>
      <p:sp>
        <p:nvSpPr>
          <p:cNvPr id="234" name="Google Shape;234;p27"/>
          <p:cNvSpPr/>
          <p:nvPr/>
        </p:nvSpPr>
        <p:spPr>
          <a:xfrm>
            <a:off x="4901002" y="2435962"/>
            <a:ext cx="4828032" cy="636422"/>
          </a:xfrm>
          <a:prstGeom prst="roundRect">
            <a:avLst>
              <a:gd fmla="val 15517" name="adj"/>
            </a:avLst>
          </a:prstGeom>
          <a:solidFill>
            <a:srgbClr val="DCE6F7"/>
          </a:solidFill>
          <a:ln cap="flat" cmpd="sng" w="19050">
            <a:solidFill>
              <a:srgbClr val="4472C4"/>
            </a:solidFill>
            <a:prstDash val="solid"/>
            <a:round/>
            <a:headEnd len="sm" w="sm" type="none"/>
            <a:tailEnd len="sm" w="sm" type="none"/>
          </a:ln>
          <a:effectLst>
            <a:outerShdw blurRad="50800" rotWithShape="0" algn="bl" dir="5400000" dist="25400">
              <a:srgbClr val="808080">
                <a:alpha val="25098"/>
              </a:srgbClr>
            </a:outerShdw>
          </a:effectLst>
        </p:spPr>
        <p:txBody>
          <a:bodyPr anchorCtr="0" anchor="ctr" bIns="109700" lIns="109700" spcFirstLastPara="1" rIns="109700" wrap="square" tIns="109700">
            <a:noAutofit/>
          </a:bodyPr>
          <a:lstStyle/>
          <a:p>
            <a:pPr indent="0" lvl="0" marL="0" rtl="0" algn="l">
              <a:spcBef>
                <a:spcPts val="0"/>
              </a:spcBef>
              <a:spcAft>
                <a:spcPts val="0"/>
              </a:spcAft>
              <a:buNone/>
            </a:pPr>
            <a:r>
              <a:t/>
            </a:r>
            <a:endParaRPr/>
          </a:p>
        </p:txBody>
      </p:sp>
      <p:sp>
        <p:nvSpPr>
          <p:cNvPr id="235" name="Google Shape;235;p27"/>
          <p:cNvSpPr txBox="1"/>
          <p:nvPr/>
        </p:nvSpPr>
        <p:spPr>
          <a:xfrm>
            <a:off x="4966838" y="2435962"/>
            <a:ext cx="4696358" cy="63642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62626"/>
              </a:buClr>
              <a:buSzPts val="1700"/>
              <a:buFont typeface="Calibri"/>
              <a:buNone/>
            </a:pPr>
            <a:r>
              <a:rPr b="1" i="0" lang="en-US" sz="1700" u="none" cap="none" strike="noStrike">
                <a:solidFill>
                  <a:srgbClr val="262626"/>
                </a:solidFill>
                <a:latin typeface="Calibri"/>
                <a:ea typeface="Calibri"/>
                <a:cs typeface="Calibri"/>
                <a:sym typeface="Calibri"/>
              </a:rPr>
              <a:t>Evidence-Aware Retrieval</a:t>
            </a:r>
            <a:endParaRPr b="0" i="0" sz="17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262626"/>
              </a:buClr>
              <a:buSzPts val="1300"/>
              <a:buFont typeface="Calibri"/>
              <a:buNone/>
            </a:pPr>
            <a:r>
              <a:rPr b="0" i="0" lang="en-US" sz="1300" u="none" cap="none" strike="noStrike">
                <a:solidFill>
                  <a:srgbClr val="262626"/>
                </a:solidFill>
                <a:latin typeface="Calibri"/>
                <a:ea typeface="Calibri"/>
                <a:cs typeface="Calibri"/>
                <a:sym typeface="Calibri"/>
              </a:rPr>
              <a:t>BM25 + Dense + Reranker</a:t>
            </a:r>
            <a:endParaRPr b="0" i="0" sz="1700" u="none" cap="none" strike="noStrike">
              <a:solidFill>
                <a:schemeClr val="dk1"/>
              </a:solidFill>
              <a:latin typeface="Calibri"/>
              <a:ea typeface="Calibri"/>
              <a:cs typeface="Calibri"/>
              <a:sym typeface="Calibri"/>
            </a:endParaRPr>
          </a:p>
        </p:txBody>
      </p:sp>
      <p:sp>
        <p:nvSpPr>
          <p:cNvPr id="236" name="Google Shape;236;p27"/>
          <p:cNvSpPr/>
          <p:nvPr/>
        </p:nvSpPr>
        <p:spPr>
          <a:xfrm>
            <a:off x="4901002" y="3204058"/>
            <a:ext cx="4828032" cy="493776"/>
          </a:xfrm>
          <a:prstGeom prst="roundRect">
            <a:avLst>
              <a:gd fmla="val 22222" name="adj"/>
            </a:avLst>
          </a:prstGeom>
          <a:solidFill>
            <a:srgbClr val="FCE4D6"/>
          </a:solidFill>
          <a:ln cap="flat" cmpd="sng" w="19050">
            <a:solidFill>
              <a:srgbClr val="ED7D31"/>
            </a:solidFill>
            <a:prstDash val="solid"/>
            <a:round/>
            <a:headEnd len="sm" w="sm" type="none"/>
            <a:tailEnd len="sm" w="sm" type="none"/>
          </a:ln>
          <a:effectLst>
            <a:outerShdw blurRad="50800" rotWithShape="0" algn="bl" dir="5400000" dist="25400">
              <a:srgbClr val="808080">
                <a:alpha val="25098"/>
              </a:srgbClr>
            </a:outerShdw>
          </a:effectLst>
        </p:spPr>
        <p:txBody>
          <a:bodyPr anchorCtr="0" anchor="ctr" bIns="109700" lIns="109700" spcFirstLastPara="1" rIns="109700" wrap="square" tIns="109700">
            <a:noAutofit/>
          </a:bodyPr>
          <a:lstStyle/>
          <a:p>
            <a:pPr indent="0" lvl="0" marL="0" rtl="0" algn="l">
              <a:spcBef>
                <a:spcPts val="0"/>
              </a:spcBef>
              <a:spcAft>
                <a:spcPts val="0"/>
              </a:spcAft>
              <a:buNone/>
            </a:pPr>
            <a:r>
              <a:t/>
            </a:r>
            <a:endParaRPr/>
          </a:p>
        </p:txBody>
      </p:sp>
      <p:sp>
        <p:nvSpPr>
          <p:cNvPr id="237" name="Google Shape;237;p27"/>
          <p:cNvSpPr txBox="1"/>
          <p:nvPr/>
        </p:nvSpPr>
        <p:spPr>
          <a:xfrm>
            <a:off x="4966838" y="3204058"/>
            <a:ext cx="4696358" cy="4937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62626"/>
              </a:buClr>
              <a:buSzPts val="1700"/>
              <a:buFont typeface="Calibri"/>
              <a:buNone/>
            </a:pPr>
            <a:r>
              <a:rPr b="1" i="0" lang="en-US" sz="1700" u="none" cap="none" strike="noStrike">
                <a:solidFill>
                  <a:srgbClr val="262626"/>
                </a:solidFill>
                <a:latin typeface="Calibri"/>
                <a:ea typeface="Calibri"/>
                <a:cs typeface="Calibri"/>
                <a:sym typeface="Calibri"/>
              </a:rPr>
              <a:t>Generate Answer + Atomic Claims</a:t>
            </a:r>
            <a:endParaRPr b="0" i="0" sz="1700" u="none" cap="none" strike="noStrike">
              <a:solidFill>
                <a:schemeClr val="dk1"/>
              </a:solidFill>
              <a:latin typeface="Calibri"/>
              <a:ea typeface="Calibri"/>
              <a:cs typeface="Calibri"/>
              <a:sym typeface="Calibri"/>
            </a:endParaRPr>
          </a:p>
        </p:txBody>
      </p:sp>
      <p:sp>
        <p:nvSpPr>
          <p:cNvPr id="238" name="Google Shape;238;p27"/>
          <p:cNvSpPr/>
          <p:nvPr/>
        </p:nvSpPr>
        <p:spPr>
          <a:xfrm>
            <a:off x="4571818" y="3829507"/>
            <a:ext cx="5486400" cy="822960"/>
          </a:xfrm>
          <a:prstGeom prst="diamond">
            <a:avLst/>
          </a:prstGeom>
          <a:solidFill>
            <a:srgbClr val="EAE1F5"/>
          </a:solidFill>
          <a:ln cap="flat" cmpd="sng" w="19050">
            <a:solidFill>
              <a:srgbClr val="8064A2"/>
            </a:solidFill>
            <a:prstDash val="solid"/>
            <a:round/>
            <a:headEnd len="sm" w="sm" type="none"/>
            <a:tailEnd len="sm" w="sm" type="none"/>
          </a:ln>
          <a:effectLst>
            <a:outerShdw blurRad="50800" rotWithShape="0" algn="bl" dir="5400000" dist="25400">
              <a:srgbClr val="808080">
                <a:alpha val="25098"/>
              </a:srgbClr>
            </a:outerShdw>
          </a:effectLst>
        </p:spPr>
        <p:txBody>
          <a:bodyPr anchorCtr="0" anchor="ctr" bIns="109700" lIns="109700" spcFirstLastPara="1" rIns="109700" wrap="square" tIns="109700">
            <a:noAutofit/>
          </a:bodyPr>
          <a:lstStyle/>
          <a:p>
            <a:pPr indent="0" lvl="0" marL="0" rtl="0" algn="l">
              <a:spcBef>
                <a:spcPts val="0"/>
              </a:spcBef>
              <a:spcAft>
                <a:spcPts val="0"/>
              </a:spcAft>
              <a:buNone/>
            </a:pPr>
            <a:r>
              <a:t/>
            </a:r>
            <a:endParaRPr/>
          </a:p>
        </p:txBody>
      </p:sp>
      <p:sp>
        <p:nvSpPr>
          <p:cNvPr id="239" name="Google Shape;239;p27"/>
          <p:cNvSpPr txBox="1"/>
          <p:nvPr/>
        </p:nvSpPr>
        <p:spPr>
          <a:xfrm>
            <a:off x="4571818" y="4092854"/>
            <a:ext cx="5486400" cy="29626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62626"/>
              </a:buClr>
              <a:buSzPts val="1700"/>
              <a:buFont typeface="Calibri"/>
              <a:buNone/>
            </a:pPr>
            <a:r>
              <a:rPr b="1" i="0" lang="en-US" sz="1700" u="none" cap="none" strike="noStrike">
                <a:solidFill>
                  <a:srgbClr val="262626"/>
                </a:solidFill>
                <a:latin typeface="Calibri"/>
                <a:ea typeface="Calibri"/>
                <a:cs typeface="Calibri"/>
                <a:sym typeface="Calibri"/>
              </a:rPr>
              <a:t>Claim-Level Verification</a:t>
            </a:r>
            <a:endParaRPr b="0" i="0" sz="1700" u="none" cap="none" strike="noStrike">
              <a:solidFill>
                <a:schemeClr val="dk1"/>
              </a:solidFill>
              <a:latin typeface="Calibri"/>
              <a:ea typeface="Calibri"/>
              <a:cs typeface="Calibri"/>
              <a:sym typeface="Calibri"/>
            </a:endParaRPr>
          </a:p>
        </p:txBody>
      </p:sp>
      <p:sp>
        <p:nvSpPr>
          <p:cNvPr id="240" name="Google Shape;240;p27"/>
          <p:cNvSpPr/>
          <p:nvPr/>
        </p:nvSpPr>
        <p:spPr>
          <a:xfrm>
            <a:off x="4791274" y="4784141"/>
            <a:ext cx="5047488" cy="822960"/>
          </a:xfrm>
          <a:prstGeom prst="roundRect">
            <a:avLst>
              <a:gd fmla="val 13333" name="adj"/>
            </a:avLst>
          </a:prstGeom>
          <a:solidFill>
            <a:srgbClr val="EAE1F5"/>
          </a:solidFill>
          <a:ln cap="flat" cmpd="sng" w="19050">
            <a:solidFill>
              <a:srgbClr val="8064A2"/>
            </a:solidFill>
            <a:prstDash val="solid"/>
            <a:round/>
            <a:headEnd len="sm" w="sm" type="none"/>
            <a:tailEnd len="sm" w="sm" type="none"/>
          </a:ln>
          <a:effectLst>
            <a:outerShdw blurRad="50800" rotWithShape="0" algn="bl" dir="5400000" dist="25400">
              <a:srgbClr val="808080">
                <a:alpha val="25098"/>
              </a:srgbClr>
            </a:outerShdw>
          </a:effectLst>
        </p:spPr>
        <p:txBody>
          <a:bodyPr anchorCtr="0" anchor="ctr" bIns="109700" lIns="109700" spcFirstLastPara="1" rIns="109700" wrap="square" tIns="109700">
            <a:noAutofit/>
          </a:bodyPr>
          <a:lstStyle/>
          <a:p>
            <a:pPr indent="0" lvl="0" marL="0" rtl="0" algn="l">
              <a:spcBef>
                <a:spcPts val="0"/>
              </a:spcBef>
              <a:spcAft>
                <a:spcPts val="0"/>
              </a:spcAft>
              <a:buNone/>
            </a:pPr>
            <a:r>
              <a:t/>
            </a:r>
            <a:endParaRPr/>
          </a:p>
        </p:txBody>
      </p:sp>
      <p:sp>
        <p:nvSpPr>
          <p:cNvPr id="241" name="Google Shape;241;p27"/>
          <p:cNvSpPr txBox="1"/>
          <p:nvPr/>
        </p:nvSpPr>
        <p:spPr>
          <a:xfrm>
            <a:off x="4857110" y="4784141"/>
            <a:ext cx="4915814"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62626"/>
              </a:buClr>
              <a:buSzPts val="1700"/>
              <a:buFont typeface="Calibri"/>
              <a:buNone/>
            </a:pPr>
            <a:r>
              <a:rPr b="1" i="0" lang="en-US" sz="1700" u="none" cap="none" strike="noStrike">
                <a:solidFill>
                  <a:srgbClr val="262626"/>
                </a:solidFill>
                <a:latin typeface="Calibri"/>
                <a:ea typeface="Calibri"/>
                <a:cs typeface="Calibri"/>
                <a:sym typeface="Calibri"/>
              </a:rPr>
              <a:t>Evidence State</a:t>
            </a:r>
            <a:endParaRPr b="0" i="0" sz="17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262626"/>
              </a:buClr>
              <a:buSzPts val="1300"/>
              <a:buFont typeface="Calibri"/>
              <a:buNone/>
            </a:pPr>
            <a:r>
              <a:rPr b="0" i="0" lang="en-US" sz="1300" u="none" cap="none" strike="noStrike">
                <a:solidFill>
                  <a:srgbClr val="262626"/>
                </a:solidFill>
                <a:latin typeface="Calibri"/>
                <a:ea typeface="Calibri"/>
                <a:cs typeface="Calibri"/>
                <a:sym typeface="Calibri"/>
              </a:rPr>
              <a:t>Support • Conflict • Missing</a:t>
            </a:r>
            <a:endParaRPr b="0" i="0" sz="17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262626"/>
              </a:buClr>
              <a:buSzPts val="1300"/>
              <a:buFont typeface="Calibri"/>
              <a:buNone/>
            </a:pPr>
            <a:r>
              <a:rPr b="0" i="0" lang="en-US" sz="1300" u="none" cap="none" strike="noStrike">
                <a:solidFill>
                  <a:srgbClr val="262626"/>
                </a:solidFill>
                <a:latin typeface="Calibri"/>
                <a:ea typeface="Calibri"/>
                <a:cs typeface="Calibri"/>
                <a:sym typeface="Calibri"/>
              </a:rPr>
              <a:t>Recency • Source Quality • Risk</a:t>
            </a:r>
            <a:endParaRPr b="0" i="0" sz="1700" u="none" cap="none" strike="noStrike">
              <a:solidFill>
                <a:schemeClr val="dk1"/>
              </a:solidFill>
              <a:latin typeface="Calibri"/>
              <a:ea typeface="Calibri"/>
              <a:cs typeface="Calibri"/>
              <a:sym typeface="Calibri"/>
            </a:endParaRPr>
          </a:p>
        </p:txBody>
      </p:sp>
      <p:sp>
        <p:nvSpPr>
          <p:cNvPr id="242" name="Google Shape;242;p27"/>
          <p:cNvSpPr/>
          <p:nvPr/>
        </p:nvSpPr>
        <p:spPr>
          <a:xfrm>
            <a:off x="4571818" y="5738774"/>
            <a:ext cx="5486400" cy="822960"/>
          </a:xfrm>
          <a:prstGeom prst="diamond">
            <a:avLst/>
          </a:prstGeom>
          <a:solidFill>
            <a:srgbClr val="FCE4D6"/>
          </a:solidFill>
          <a:ln cap="flat" cmpd="sng" w="19050">
            <a:solidFill>
              <a:srgbClr val="ED7D31"/>
            </a:solidFill>
            <a:prstDash val="solid"/>
            <a:round/>
            <a:headEnd len="sm" w="sm" type="none"/>
            <a:tailEnd len="sm" w="sm" type="none"/>
          </a:ln>
          <a:effectLst>
            <a:outerShdw blurRad="50800" rotWithShape="0" algn="bl" dir="5400000" dist="25400">
              <a:srgbClr val="808080">
                <a:alpha val="25098"/>
              </a:srgbClr>
            </a:outerShdw>
          </a:effectLst>
        </p:spPr>
        <p:txBody>
          <a:bodyPr anchorCtr="0" anchor="ctr" bIns="109700" lIns="109700" spcFirstLastPara="1" rIns="109700" wrap="square" tIns="109700">
            <a:noAutofit/>
          </a:bodyPr>
          <a:lstStyle/>
          <a:p>
            <a:pPr indent="0" lvl="0" marL="0" rtl="0" algn="l">
              <a:spcBef>
                <a:spcPts val="0"/>
              </a:spcBef>
              <a:spcAft>
                <a:spcPts val="0"/>
              </a:spcAft>
              <a:buNone/>
            </a:pPr>
            <a:r>
              <a:t/>
            </a:r>
            <a:endParaRPr/>
          </a:p>
        </p:txBody>
      </p:sp>
      <p:sp>
        <p:nvSpPr>
          <p:cNvPr id="243" name="Google Shape;243;p27"/>
          <p:cNvSpPr txBox="1"/>
          <p:nvPr/>
        </p:nvSpPr>
        <p:spPr>
          <a:xfrm>
            <a:off x="4571818" y="6002122"/>
            <a:ext cx="5486400" cy="29626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62626"/>
              </a:buClr>
              <a:buSzPts val="1700"/>
              <a:buFont typeface="Calibri"/>
              <a:buNone/>
            </a:pPr>
            <a:r>
              <a:rPr b="1" i="0" lang="en-US" sz="1700" u="none" cap="none" strike="noStrike">
                <a:solidFill>
                  <a:srgbClr val="262626"/>
                </a:solidFill>
                <a:latin typeface="Calibri"/>
                <a:ea typeface="Calibri"/>
                <a:cs typeface="Calibri"/>
                <a:sym typeface="Calibri"/>
              </a:rPr>
              <a:t>Next-Action Decision</a:t>
            </a:r>
            <a:endParaRPr b="0" i="0" sz="1700" u="none" cap="none" strike="noStrike">
              <a:solidFill>
                <a:schemeClr val="dk1"/>
              </a:solidFill>
              <a:latin typeface="Calibri"/>
              <a:ea typeface="Calibri"/>
              <a:cs typeface="Calibri"/>
              <a:sym typeface="Calibri"/>
            </a:endParaRPr>
          </a:p>
        </p:txBody>
      </p:sp>
      <p:sp>
        <p:nvSpPr>
          <p:cNvPr id="244" name="Google Shape;244;p27"/>
          <p:cNvSpPr/>
          <p:nvPr/>
        </p:nvSpPr>
        <p:spPr>
          <a:xfrm>
            <a:off x="1005658" y="6945782"/>
            <a:ext cx="3950208" cy="548640"/>
          </a:xfrm>
          <a:prstGeom prst="roundRect">
            <a:avLst>
              <a:gd fmla="val 20000" name="adj"/>
            </a:avLst>
          </a:prstGeom>
          <a:solidFill>
            <a:srgbClr val="E2F0D9"/>
          </a:solidFill>
          <a:ln cap="flat" cmpd="sng" w="19050">
            <a:solidFill>
              <a:srgbClr val="70AD47"/>
            </a:solidFill>
            <a:prstDash val="solid"/>
            <a:round/>
            <a:headEnd len="sm" w="sm" type="none"/>
            <a:tailEnd len="sm" w="sm" type="none"/>
          </a:ln>
          <a:effectLst>
            <a:outerShdw blurRad="50800" rotWithShape="0" algn="bl" dir="5400000" dist="25400">
              <a:srgbClr val="808080">
                <a:alpha val="25098"/>
              </a:srgbClr>
            </a:outerShdw>
          </a:effectLst>
        </p:spPr>
        <p:txBody>
          <a:bodyPr anchorCtr="0" anchor="ctr" bIns="109700" lIns="109700" spcFirstLastPara="1" rIns="109700" wrap="square" tIns="109700">
            <a:noAutofit/>
          </a:bodyPr>
          <a:lstStyle/>
          <a:p>
            <a:pPr indent="0" lvl="0" marL="0" rtl="0" algn="l">
              <a:spcBef>
                <a:spcPts val="0"/>
              </a:spcBef>
              <a:spcAft>
                <a:spcPts val="0"/>
              </a:spcAft>
              <a:buNone/>
            </a:pPr>
            <a:r>
              <a:t/>
            </a:r>
            <a:endParaRPr/>
          </a:p>
        </p:txBody>
      </p:sp>
      <p:sp>
        <p:nvSpPr>
          <p:cNvPr id="245" name="Google Shape;245;p27"/>
          <p:cNvSpPr txBox="1"/>
          <p:nvPr/>
        </p:nvSpPr>
        <p:spPr>
          <a:xfrm>
            <a:off x="1071494" y="6945782"/>
            <a:ext cx="3818400" cy="54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0AD47"/>
              </a:buClr>
              <a:buSzPts val="1700"/>
              <a:buFont typeface="Calibri"/>
              <a:buNone/>
            </a:pPr>
            <a:r>
              <a:rPr b="1" i="0" lang="en-US" sz="1700" u="none" cap="none" strike="noStrike">
                <a:solidFill>
                  <a:srgbClr val="70AD47"/>
                </a:solidFill>
                <a:latin typeface="Calibri"/>
                <a:ea typeface="Calibri"/>
                <a:cs typeface="Calibri"/>
                <a:sym typeface="Calibri"/>
              </a:rPr>
              <a:t>STOP</a:t>
            </a:r>
            <a:endParaRPr b="0" i="0" sz="17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262626"/>
              </a:buClr>
              <a:buSzPts val="1300"/>
              <a:buFont typeface="Calibri"/>
              <a:buNone/>
            </a:pPr>
            <a:r>
              <a:rPr b="0" i="0" lang="en-US" sz="1300" u="none" cap="none" strike="noStrike">
                <a:solidFill>
                  <a:srgbClr val="262626"/>
                </a:solidFill>
                <a:latin typeface="Calibri"/>
                <a:ea typeface="Calibri"/>
                <a:cs typeface="Calibri"/>
                <a:sym typeface="Calibri"/>
              </a:rPr>
              <a:t>Evidence Sufficient</a:t>
            </a:r>
            <a:endParaRPr b="0" i="0" sz="1700" u="none" cap="none" strike="noStrike">
              <a:solidFill>
                <a:schemeClr val="dk1"/>
              </a:solidFill>
              <a:latin typeface="Calibri"/>
              <a:ea typeface="Calibri"/>
              <a:cs typeface="Calibri"/>
              <a:sym typeface="Calibri"/>
            </a:endParaRPr>
          </a:p>
        </p:txBody>
      </p:sp>
      <p:sp>
        <p:nvSpPr>
          <p:cNvPr id="246" name="Google Shape;246;p27"/>
          <p:cNvSpPr/>
          <p:nvPr/>
        </p:nvSpPr>
        <p:spPr>
          <a:xfrm>
            <a:off x="5339914" y="6945782"/>
            <a:ext cx="3950208" cy="548640"/>
          </a:xfrm>
          <a:prstGeom prst="roundRect">
            <a:avLst>
              <a:gd fmla="val 20000" name="adj"/>
            </a:avLst>
          </a:prstGeom>
          <a:solidFill>
            <a:srgbClr val="FADBD8"/>
          </a:solidFill>
          <a:ln cap="flat" cmpd="sng" w="19050">
            <a:solidFill>
              <a:srgbClr val="C00000"/>
            </a:solidFill>
            <a:prstDash val="solid"/>
            <a:round/>
            <a:headEnd len="sm" w="sm" type="none"/>
            <a:tailEnd len="sm" w="sm" type="none"/>
          </a:ln>
          <a:effectLst>
            <a:outerShdw blurRad="50800" rotWithShape="0" algn="bl" dir="5400000" dist="25400">
              <a:srgbClr val="808080">
                <a:alpha val="25098"/>
              </a:srgbClr>
            </a:outerShdw>
          </a:effectLst>
        </p:spPr>
        <p:txBody>
          <a:bodyPr anchorCtr="0" anchor="ctr" bIns="109700" lIns="109700" spcFirstLastPara="1" rIns="109700" wrap="square" tIns="109700">
            <a:noAutofit/>
          </a:bodyPr>
          <a:lstStyle/>
          <a:p>
            <a:pPr indent="0" lvl="0" marL="0" rtl="0" algn="l">
              <a:spcBef>
                <a:spcPts val="0"/>
              </a:spcBef>
              <a:spcAft>
                <a:spcPts val="0"/>
              </a:spcAft>
              <a:buNone/>
            </a:pPr>
            <a:r>
              <a:t/>
            </a:r>
            <a:endParaRPr/>
          </a:p>
        </p:txBody>
      </p:sp>
      <p:sp>
        <p:nvSpPr>
          <p:cNvPr id="247" name="Google Shape;247;p27"/>
          <p:cNvSpPr txBox="1"/>
          <p:nvPr/>
        </p:nvSpPr>
        <p:spPr>
          <a:xfrm>
            <a:off x="5405750" y="6945782"/>
            <a:ext cx="3818534"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00000"/>
              </a:buClr>
              <a:buSzPts val="1700"/>
              <a:buFont typeface="Calibri"/>
              <a:buNone/>
            </a:pPr>
            <a:r>
              <a:rPr b="1" i="0" lang="en-US" sz="1700" u="none" cap="none" strike="noStrike">
                <a:solidFill>
                  <a:srgbClr val="C00000"/>
                </a:solidFill>
                <a:latin typeface="Calibri"/>
                <a:ea typeface="Calibri"/>
                <a:cs typeface="Calibri"/>
                <a:sym typeface="Calibri"/>
              </a:rPr>
              <a:t>ABSTAIN</a:t>
            </a:r>
            <a:endParaRPr b="0" i="0" sz="17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262626"/>
              </a:buClr>
              <a:buSzPts val="1300"/>
              <a:buFont typeface="Calibri"/>
              <a:buNone/>
            </a:pPr>
            <a:r>
              <a:rPr b="0" i="0" lang="en-US" sz="1300" u="none" cap="none" strike="noStrike">
                <a:solidFill>
                  <a:srgbClr val="262626"/>
                </a:solidFill>
                <a:latin typeface="Calibri"/>
                <a:ea typeface="Calibri"/>
                <a:cs typeface="Calibri"/>
                <a:sym typeface="Calibri"/>
              </a:rPr>
              <a:t>Evidence Still Insufficient</a:t>
            </a:r>
            <a:endParaRPr b="0" i="0" sz="1700" u="none" cap="none" strike="noStrike">
              <a:solidFill>
                <a:schemeClr val="dk1"/>
              </a:solidFill>
              <a:latin typeface="Calibri"/>
              <a:ea typeface="Calibri"/>
              <a:cs typeface="Calibri"/>
              <a:sym typeface="Calibri"/>
            </a:endParaRPr>
          </a:p>
        </p:txBody>
      </p:sp>
      <p:sp>
        <p:nvSpPr>
          <p:cNvPr id="248" name="Google Shape;248;p27"/>
          <p:cNvSpPr/>
          <p:nvPr/>
        </p:nvSpPr>
        <p:spPr>
          <a:xfrm>
            <a:off x="9674170" y="6945782"/>
            <a:ext cx="3950208" cy="548640"/>
          </a:xfrm>
          <a:prstGeom prst="roundRect">
            <a:avLst>
              <a:gd fmla="val 20000" name="adj"/>
            </a:avLst>
          </a:prstGeom>
          <a:solidFill>
            <a:srgbClr val="DCE6F7"/>
          </a:solidFill>
          <a:ln cap="flat" cmpd="sng" w="19050">
            <a:solidFill>
              <a:srgbClr val="4472C4"/>
            </a:solidFill>
            <a:prstDash val="solid"/>
            <a:round/>
            <a:headEnd len="sm" w="sm" type="none"/>
            <a:tailEnd len="sm" w="sm" type="none"/>
          </a:ln>
          <a:effectLst>
            <a:outerShdw blurRad="50800" rotWithShape="0" algn="bl" dir="5400000" dist="25400">
              <a:srgbClr val="808080">
                <a:alpha val="25098"/>
              </a:srgbClr>
            </a:outerShdw>
          </a:effectLst>
        </p:spPr>
        <p:txBody>
          <a:bodyPr anchorCtr="0" anchor="ctr" bIns="109700" lIns="109700" spcFirstLastPara="1" rIns="109700" wrap="square" tIns="109700">
            <a:noAutofit/>
          </a:bodyPr>
          <a:lstStyle/>
          <a:p>
            <a:pPr indent="0" lvl="0" marL="0" rtl="0" algn="l">
              <a:spcBef>
                <a:spcPts val="0"/>
              </a:spcBef>
              <a:spcAft>
                <a:spcPts val="0"/>
              </a:spcAft>
              <a:buNone/>
            </a:pPr>
            <a:r>
              <a:t/>
            </a:r>
            <a:endParaRPr/>
          </a:p>
        </p:txBody>
      </p:sp>
      <p:sp>
        <p:nvSpPr>
          <p:cNvPr id="249" name="Google Shape;249;p27"/>
          <p:cNvSpPr txBox="1"/>
          <p:nvPr/>
        </p:nvSpPr>
        <p:spPr>
          <a:xfrm>
            <a:off x="9740006" y="6945782"/>
            <a:ext cx="3818534"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472C4"/>
              </a:buClr>
              <a:buSzPts val="1700"/>
              <a:buFont typeface="Calibri"/>
              <a:buNone/>
            </a:pPr>
            <a:r>
              <a:rPr b="1" i="0" lang="en-US" sz="1700" u="none" cap="none" strike="noStrike">
                <a:solidFill>
                  <a:srgbClr val="4472C4"/>
                </a:solidFill>
                <a:latin typeface="Calibri"/>
                <a:ea typeface="Calibri"/>
                <a:cs typeface="Calibri"/>
                <a:sym typeface="Calibri"/>
              </a:rPr>
              <a:t>SEARCH</a:t>
            </a:r>
            <a:endParaRPr b="0" i="0" sz="17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262626"/>
              </a:buClr>
              <a:buSzPts val="1300"/>
              <a:buFont typeface="Calibri"/>
              <a:buNone/>
            </a:pPr>
            <a:r>
              <a:rPr b="0" i="0" lang="en-US" sz="1300" u="none" cap="none" strike="noStrike">
                <a:solidFill>
                  <a:srgbClr val="262626"/>
                </a:solidFill>
                <a:latin typeface="Calibri"/>
                <a:ea typeface="Calibri"/>
                <a:cs typeface="Calibri"/>
                <a:sym typeface="Calibri"/>
              </a:rPr>
              <a:t>Targeted Evidence-Gap Query</a:t>
            </a:r>
            <a:endParaRPr b="0" i="0" sz="1700" u="none" cap="none" strike="noStrike">
              <a:solidFill>
                <a:schemeClr val="dk1"/>
              </a:solidFill>
              <a:latin typeface="Calibri"/>
              <a:ea typeface="Calibri"/>
              <a:cs typeface="Calibri"/>
              <a:sym typeface="Calibri"/>
            </a:endParaRPr>
          </a:p>
        </p:txBody>
      </p:sp>
      <p:cxnSp>
        <p:nvCxnSpPr>
          <p:cNvPr id="250" name="Google Shape;250;p27"/>
          <p:cNvCxnSpPr/>
          <p:nvPr/>
        </p:nvCxnSpPr>
        <p:spPr>
          <a:xfrm>
            <a:off x="7315018" y="1536192"/>
            <a:ext cx="0" cy="131674"/>
          </a:xfrm>
          <a:prstGeom prst="straightConnector1">
            <a:avLst/>
          </a:prstGeom>
          <a:noFill/>
          <a:ln cap="flat" cmpd="sng" w="19050">
            <a:solidFill>
              <a:srgbClr val="595959"/>
            </a:solidFill>
            <a:prstDash val="solid"/>
            <a:round/>
            <a:headEnd len="sm" w="sm" type="none"/>
            <a:tailEnd len="med" w="med" type="triangle"/>
          </a:ln>
        </p:spPr>
      </p:cxnSp>
      <p:cxnSp>
        <p:nvCxnSpPr>
          <p:cNvPr id="251" name="Google Shape;251;p27"/>
          <p:cNvCxnSpPr/>
          <p:nvPr/>
        </p:nvCxnSpPr>
        <p:spPr>
          <a:xfrm>
            <a:off x="7315018" y="2304288"/>
            <a:ext cx="0" cy="131674"/>
          </a:xfrm>
          <a:prstGeom prst="straightConnector1">
            <a:avLst/>
          </a:prstGeom>
          <a:noFill/>
          <a:ln cap="flat" cmpd="sng" w="19050">
            <a:solidFill>
              <a:srgbClr val="595959"/>
            </a:solidFill>
            <a:prstDash val="solid"/>
            <a:round/>
            <a:headEnd len="sm" w="sm" type="none"/>
            <a:tailEnd len="med" w="med" type="triangle"/>
          </a:ln>
        </p:spPr>
      </p:cxnSp>
      <p:cxnSp>
        <p:nvCxnSpPr>
          <p:cNvPr id="252" name="Google Shape;252;p27"/>
          <p:cNvCxnSpPr/>
          <p:nvPr/>
        </p:nvCxnSpPr>
        <p:spPr>
          <a:xfrm>
            <a:off x="7315018" y="3072384"/>
            <a:ext cx="0" cy="131674"/>
          </a:xfrm>
          <a:prstGeom prst="straightConnector1">
            <a:avLst/>
          </a:prstGeom>
          <a:noFill/>
          <a:ln cap="flat" cmpd="sng" w="19050">
            <a:solidFill>
              <a:srgbClr val="595959"/>
            </a:solidFill>
            <a:prstDash val="solid"/>
            <a:round/>
            <a:headEnd len="sm" w="sm" type="none"/>
            <a:tailEnd len="med" w="med" type="triangle"/>
          </a:ln>
        </p:spPr>
      </p:cxnSp>
      <p:cxnSp>
        <p:nvCxnSpPr>
          <p:cNvPr id="253" name="Google Shape;253;p27"/>
          <p:cNvCxnSpPr/>
          <p:nvPr/>
        </p:nvCxnSpPr>
        <p:spPr>
          <a:xfrm>
            <a:off x="7315018" y="3697834"/>
            <a:ext cx="0" cy="131674"/>
          </a:xfrm>
          <a:prstGeom prst="straightConnector1">
            <a:avLst/>
          </a:prstGeom>
          <a:noFill/>
          <a:ln cap="flat" cmpd="sng" w="19050">
            <a:solidFill>
              <a:srgbClr val="595959"/>
            </a:solidFill>
            <a:prstDash val="solid"/>
            <a:round/>
            <a:headEnd len="sm" w="sm" type="none"/>
            <a:tailEnd len="med" w="med" type="triangle"/>
          </a:ln>
        </p:spPr>
      </p:cxnSp>
      <p:cxnSp>
        <p:nvCxnSpPr>
          <p:cNvPr id="254" name="Google Shape;254;p27"/>
          <p:cNvCxnSpPr/>
          <p:nvPr/>
        </p:nvCxnSpPr>
        <p:spPr>
          <a:xfrm>
            <a:off x="7315018" y="4652467"/>
            <a:ext cx="0" cy="131674"/>
          </a:xfrm>
          <a:prstGeom prst="straightConnector1">
            <a:avLst/>
          </a:prstGeom>
          <a:noFill/>
          <a:ln cap="flat" cmpd="sng" w="19050">
            <a:solidFill>
              <a:srgbClr val="595959"/>
            </a:solidFill>
            <a:prstDash val="solid"/>
            <a:round/>
            <a:headEnd len="sm" w="sm" type="none"/>
            <a:tailEnd len="med" w="med" type="triangle"/>
          </a:ln>
        </p:spPr>
      </p:cxnSp>
      <p:cxnSp>
        <p:nvCxnSpPr>
          <p:cNvPr id="255" name="Google Shape;255;p27"/>
          <p:cNvCxnSpPr/>
          <p:nvPr/>
        </p:nvCxnSpPr>
        <p:spPr>
          <a:xfrm>
            <a:off x="7315018" y="5607101"/>
            <a:ext cx="0" cy="131674"/>
          </a:xfrm>
          <a:prstGeom prst="straightConnector1">
            <a:avLst/>
          </a:prstGeom>
          <a:noFill/>
          <a:ln cap="flat" cmpd="sng" w="19050">
            <a:solidFill>
              <a:srgbClr val="595959"/>
            </a:solidFill>
            <a:prstDash val="solid"/>
            <a:round/>
            <a:headEnd len="sm" w="sm" type="none"/>
            <a:tailEnd len="med" w="med" type="triangle"/>
          </a:ln>
        </p:spPr>
      </p:cxnSp>
      <p:cxnSp>
        <p:nvCxnSpPr>
          <p:cNvPr id="256" name="Google Shape;256;p27"/>
          <p:cNvCxnSpPr/>
          <p:nvPr/>
        </p:nvCxnSpPr>
        <p:spPr>
          <a:xfrm flipH="1">
            <a:off x="2980762" y="6561734"/>
            <a:ext cx="4334256" cy="384048"/>
          </a:xfrm>
          <a:prstGeom prst="straightConnector1">
            <a:avLst/>
          </a:prstGeom>
          <a:noFill/>
          <a:ln cap="flat" cmpd="sng" w="22225">
            <a:solidFill>
              <a:srgbClr val="70AD47"/>
            </a:solidFill>
            <a:prstDash val="solid"/>
            <a:round/>
            <a:headEnd len="sm" w="sm" type="none"/>
            <a:tailEnd len="med" w="med" type="triangle"/>
          </a:ln>
        </p:spPr>
      </p:cxnSp>
      <p:cxnSp>
        <p:nvCxnSpPr>
          <p:cNvPr id="257" name="Google Shape;257;p27"/>
          <p:cNvCxnSpPr/>
          <p:nvPr/>
        </p:nvCxnSpPr>
        <p:spPr>
          <a:xfrm>
            <a:off x="7315018" y="6561734"/>
            <a:ext cx="0" cy="384048"/>
          </a:xfrm>
          <a:prstGeom prst="straightConnector1">
            <a:avLst/>
          </a:prstGeom>
          <a:noFill/>
          <a:ln cap="flat" cmpd="sng" w="22225">
            <a:solidFill>
              <a:srgbClr val="C00000"/>
            </a:solidFill>
            <a:prstDash val="solid"/>
            <a:round/>
            <a:headEnd len="sm" w="sm" type="none"/>
            <a:tailEnd len="med" w="med" type="triangle"/>
          </a:ln>
        </p:spPr>
      </p:cxnSp>
      <p:cxnSp>
        <p:nvCxnSpPr>
          <p:cNvPr id="258" name="Google Shape;258;p27"/>
          <p:cNvCxnSpPr/>
          <p:nvPr/>
        </p:nvCxnSpPr>
        <p:spPr>
          <a:xfrm>
            <a:off x="7315018" y="6561734"/>
            <a:ext cx="4334256" cy="384048"/>
          </a:xfrm>
          <a:prstGeom prst="straightConnector1">
            <a:avLst/>
          </a:prstGeom>
          <a:noFill/>
          <a:ln cap="flat" cmpd="sng" w="22225">
            <a:solidFill>
              <a:schemeClr val="accent5"/>
            </a:solidFill>
            <a:prstDash val="solid"/>
            <a:round/>
            <a:headEnd len="sm" w="sm" type="none"/>
            <a:tailEnd len="med" w="med" type="triangle"/>
          </a:ln>
        </p:spPr>
      </p:cxnSp>
      <p:sp>
        <p:nvSpPr>
          <p:cNvPr id="259" name="Google Shape;259;p27"/>
          <p:cNvSpPr txBox="1"/>
          <p:nvPr/>
        </p:nvSpPr>
        <p:spPr>
          <a:xfrm>
            <a:off x="2871034" y="6660490"/>
            <a:ext cx="186537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0AD47"/>
              </a:buClr>
              <a:buSzPts val="1300"/>
              <a:buFont typeface="Calibri"/>
              <a:buNone/>
            </a:pPr>
            <a:r>
              <a:rPr b="1" i="1" lang="en-US" sz="1300" u="none" cap="none" strike="noStrike">
                <a:solidFill>
                  <a:srgbClr val="70AD47"/>
                </a:solidFill>
                <a:latin typeface="Calibri"/>
                <a:ea typeface="Calibri"/>
                <a:cs typeface="Calibri"/>
                <a:sym typeface="Calibri"/>
              </a:rPr>
              <a:t>Sufficient</a:t>
            </a:r>
            <a:endParaRPr b="0" i="0" sz="1300" u="none" cap="none" strike="noStrike">
              <a:solidFill>
                <a:schemeClr val="dk1"/>
              </a:solidFill>
              <a:latin typeface="Calibri"/>
              <a:ea typeface="Calibri"/>
              <a:cs typeface="Calibri"/>
              <a:sym typeface="Calibri"/>
            </a:endParaRPr>
          </a:p>
        </p:txBody>
      </p:sp>
      <p:sp>
        <p:nvSpPr>
          <p:cNvPr id="260" name="Google Shape;260;p27"/>
          <p:cNvSpPr txBox="1"/>
          <p:nvPr/>
        </p:nvSpPr>
        <p:spPr>
          <a:xfrm>
            <a:off x="7098610" y="6693390"/>
            <a:ext cx="23043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00000"/>
              </a:buClr>
              <a:buSzPts val="1300"/>
              <a:buFont typeface="Calibri"/>
              <a:buNone/>
            </a:pPr>
            <a:r>
              <a:rPr b="1" i="1" lang="en-US" sz="1300" u="none" cap="none" strike="noStrike">
                <a:solidFill>
                  <a:srgbClr val="C00000"/>
                </a:solidFill>
                <a:latin typeface="Calibri"/>
                <a:ea typeface="Calibri"/>
                <a:cs typeface="Calibri"/>
                <a:sym typeface="Calibri"/>
              </a:rPr>
              <a:t>After retrieval limit</a:t>
            </a:r>
            <a:endParaRPr b="0" i="0" sz="1300" u="none" cap="none" strike="noStrike">
              <a:solidFill>
                <a:schemeClr val="dk1"/>
              </a:solidFill>
              <a:latin typeface="Calibri"/>
              <a:ea typeface="Calibri"/>
              <a:cs typeface="Calibri"/>
              <a:sym typeface="Calibri"/>
            </a:endParaRPr>
          </a:p>
        </p:txBody>
      </p:sp>
      <p:sp>
        <p:nvSpPr>
          <p:cNvPr id="261" name="Google Shape;261;p27"/>
          <p:cNvSpPr txBox="1"/>
          <p:nvPr/>
        </p:nvSpPr>
        <p:spPr>
          <a:xfrm>
            <a:off x="10923840" y="6660415"/>
            <a:ext cx="23043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00000"/>
              </a:buClr>
              <a:buSzPts val="1300"/>
              <a:buFont typeface="Calibri"/>
              <a:buNone/>
            </a:pPr>
            <a:r>
              <a:rPr b="1" i="1" lang="en-US" sz="1300" u="none" cap="none" strike="noStrike">
                <a:solidFill>
                  <a:schemeClr val="accent5"/>
                </a:solidFill>
                <a:latin typeface="Calibri"/>
                <a:ea typeface="Calibri"/>
                <a:cs typeface="Calibri"/>
                <a:sym typeface="Calibri"/>
              </a:rPr>
              <a:t>Unresolved</a:t>
            </a:r>
            <a:r>
              <a:rPr b="1" i="1" lang="en-US" sz="1300" u="none" cap="none" strike="noStrike">
                <a:solidFill>
                  <a:schemeClr val="accent5"/>
                </a:solidFill>
                <a:latin typeface="Calibri"/>
                <a:ea typeface="Calibri"/>
                <a:cs typeface="Calibri"/>
                <a:sym typeface="Calibri"/>
              </a:rPr>
              <a:t> / hig</a:t>
            </a:r>
            <a:r>
              <a:rPr b="1" i="1" lang="en-US" sz="1300">
                <a:solidFill>
                  <a:schemeClr val="accent5"/>
                </a:solidFill>
                <a:latin typeface="Calibri"/>
                <a:ea typeface="Calibri"/>
                <a:cs typeface="Calibri"/>
                <a:sym typeface="Calibri"/>
              </a:rPr>
              <a:t>h</a:t>
            </a:r>
            <a:r>
              <a:rPr b="1" i="1" lang="en-US" sz="1300" u="none" cap="none" strike="noStrike">
                <a:solidFill>
                  <a:schemeClr val="accent5"/>
                </a:solidFill>
                <a:latin typeface="Calibri"/>
                <a:ea typeface="Calibri"/>
                <a:cs typeface="Calibri"/>
                <a:sym typeface="Calibri"/>
              </a:rPr>
              <a:t>-</a:t>
            </a:r>
            <a:r>
              <a:rPr b="1" i="1" lang="en-US" sz="1300" u="none" cap="none" strike="noStrike">
                <a:solidFill>
                  <a:schemeClr val="accent5"/>
                </a:solidFill>
                <a:latin typeface="Calibri"/>
                <a:ea typeface="Calibri"/>
                <a:cs typeface="Calibri"/>
                <a:sym typeface="Calibri"/>
              </a:rPr>
              <a:t>risk</a:t>
            </a:r>
            <a:endParaRPr b="0" i="0" sz="1300" u="none" cap="none" strike="noStrike">
              <a:solidFill>
                <a:schemeClr val="accent5"/>
              </a:solidFill>
              <a:latin typeface="Calibri"/>
              <a:ea typeface="Calibri"/>
              <a:cs typeface="Calibri"/>
              <a:sym typeface="Calibri"/>
            </a:endParaRPr>
          </a:p>
        </p:txBody>
      </p:sp>
      <p:cxnSp>
        <p:nvCxnSpPr>
          <p:cNvPr id="262" name="Google Shape;262;p27"/>
          <p:cNvCxnSpPr/>
          <p:nvPr/>
        </p:nvCxnSpPr>
        <p:spPr>
          <a:xfrm>
            <a:off x="13075738" y="2754173"/>
            <a:ext cx="0" cy="4191610"/>
          </a:xfrm>
          <a:prstGeom prst="straightConnector1">
            <a:avLst/>
          </a:prstGeom>
          <a:noFill/>
          <a:ln cap="flat" cmpd="sng" w="22225">
            <a:solidFill>
              <a:schemeClr val="accent5"/>
            </a:solidFill>
            <a:prstDash val="solid"/>
            <a:round/>
            <a:headEnd len="sm" w="sm" type="none"/>
            <a:tailEnd len="sm" w="sm" type="none"/>
          </a:ln>
        </p:spPr>
      </p:cxnSp>
      <p:cxnSp>
        <p:nvCxnSpPr>
          <p:cNvPr id="263" name="Google Shape;263;p27"/>
          <p:cNvCxnSpPr/>
          <p:nvPr/>
        </p:nvCxnSpPr>
        <p:spPr>
          <a:xfrm rot="10800000">
            <a:off x="9729034" y="2754173"/>
            <a:ext cx="3346704" cy="0"/>
          </a:xfrm>
          <a:prstGeom prst="straightConnector1">
            <a:avLst/>
          </a:prstGeom>
          <a:noFill/>
          <a:ln cap="flat" cmpd="sng" w="22225">
            <a:solidFill>
              <a:schemeClr val="accent5"/>
            </a:solidFill>
            <a:prstDash val="solid"/>
            <a:round/>
            <a:headEnd len="sm" w="sm" type="none"/>
            <a:tailEnd len="med" w="med" type="triangle"/>
          </a:ln>
        </p:spPr>
      </p:cxnSp>
      <p:sp>
        <p:nvSpPr>
          <p:cNvPr id="264" name="Google Shape;264;p27"/>
          <p:cNvSpPr txBox="1"/>
          <p:nvPr/>
        </p:nvSpPr>
        <p:spPr>
          <a:xfrm>
            <a:off x="13731127" y="7726675"/>
            <a:ext cx="670800" cy="2463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lang="en-US" sz="1000">
                <a:solidFill>
                  <a:srgbClr val="141414"/>
                </a:solidFill>
                <a:latin typeface="Inter"/>
                <a:ea typeface="Inter"/>
                <a:cs typeface="Inter"/>
                <a:sym typeface="Inter"/>
              </a:rPr>
              <a:t>8</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8"/>
          <p:cNvSpPr/>
          <p:nvPr/>
        </p:nvSpPr>
        <p:spPr>
          <a:xfrm>
            <a:off x="0" y="0"/>
            <a:ext cx="14630400" cy="1810512"/>
          </a:xfrm>
          <a:prstGeom prst="rect">
            <a:avLst/>
          </a:prstGeom>
          <a:solidFill>
            <a:srgbClr val="6E9DE1"/>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28"/>
          <p:cNvSpPr txBox="1"/>
          <p:nvPr/>
        </p:nvSpPr>
        <p:spPr>
          <a:xfrm>
            <a:off x="146304" y="228600"/>
            <a:ext cx="13944600" cy="132588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0" i="0" lang="en-US" sz="3400" u="none" cap="none" strike="noStrike">
                <a:solidFill>
                  <a:srgbClr val="FFFFFF"/>
                </a:solidFill>
                <a:latin typeface="Inter"/>
                <a:ea typeface="Inter"/>
                <a:cs typeface="Inter"/>
                <a:sym typeface="Inter"/>
              </a:rPr>
              <a:t>Evidence State &amp; Performance Evaluation</a:t>
            </a:r>
            <a:endParaRPr/>
          </a:p>
        </p:txBody>
      </p:sp>
      <p:sp>
        <p:nvSpPr>
          <p:cNvPr id="271" name="Google Shape;271;p28"/>
          <p:cNvSpPr txBox="1"/>
          <p:nvPr/>
        </p:nvSpPr>
        <p:spPr>
          <a:xfrm>
            <a:off x="13853577" y="7726675"/>
            <a:ext cx="548400" cy="2463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lang="en-US" sz="1000">
                <a:solidFill>
                  <a:srgbClr val="141414"/>
                </a:solidFill>
                <a:latin typeface="Inter"/>
                <a:ea typeface="Inter"/>
                <a:cs typeface="Inter"/>
                <a:sym typeface="Inter"/>
              </a:rPr>
              <a:t>9</a:t>
            </a:r>
            <a:endParaRPr/>
          </a:p>
        </p:txBody>
      </p:sp>
      <p:sp>
        <p:nvSpPr>
          <p:cNvPr id="272" name="Google Shape;272;p28"/>
          <p:cNvSpPr txBox="1"/>
          <p:nvPr/>
        </p:nvSpPr>
        <p:spPr>
          <a:xfrm>
            <a:off x="548640" y="2029968"/>
            <a:ext cx="64008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141414"/>
                </a:solidFill>
                <a:latin typeface="Inter"/>
                <a:ea typeface="Inter"/>
                <a:cs typeface="Inter"/>
                <a:sym typeface="Inter"/>
              </a:rPr>
              <a:t>Example</a:t>
            </a:r>
            <a:r>
              <a:rPr b="1" lang="en-US" sz="1600">
                <a:solidFill>
                  <a:srgbClr val="141414"/>
                </a:solidFill>
                <a:latin typeface="Inter"/>
                <a:ea typeface="Inter"/>
                <a:cs typeface="Inter"/>
                <a:sym typeface="Inter"/>
              </a:rPr>
              <a:t>: </a:t>
            </a:r>
            <a:r>
              <a:rPr b="1" i="0" lang="en-US" sz="1600" u="none" cap="none" strike="noStrike">
                <a:solidFill>
                  <a:srgbClr val="141414"/>
                </a:solidFill>
                <a:latin typeface="Inter"/>
                <a:ea typeface="Inter"/>
                <a:cs typeface="Inter"/>
                <a:sym typeface="Inter"/>
              </a:rPr>
              <a:t>claim-level evidence state</a:t>
            </a:r>
            <a:endParaRPr/>
          </a:p>
        </p:txBody>
      </p:sp>
      <p:sp>
        <p:nvSpPr>
          <p:cNvPr id="273" name="Google Shape;273;p28"/>
          <p:cNvSpPr/>
          <p:nvPr/>
        </p:nvSpPr>
        <p:spPr>
          <a:xfrm>
            <a:off x="548640" y="2514600"/>
            <a:ext cx="2240280" cy="438912"/>
          </a:xfrm>
          <a:prstGeom prst="rect">
            <a:avLst/>
          </a:prstGeom>
          <a:solidFill>
            <a:srgbClr val="6E9DE1"/>
          </a:solidFill>
          <a:ln cap="flat" cmpd="sng" w="12700">
            <a:solidFill>
              <a:srgbClr val="6E9D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28"/>
          <p:cNvSpPr txBox="1"/>
          <p:nvPr/>
        </p:nvSpPr>
        <p:spPr>
          <a:xfrm>
            <a:off x="566928" y="2615184"/>
            <a:ext cx="2203704"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930" u="none" cap="none" strike="noStrike">
                <a:solidFill>
                  <a:srgbClr val="FFFFFF"/>
                </a:solidFill>
                <a:latin typeface="Inter"/>
                <a:ea typeface="Inter"/>
                <a:cs typeface="Inter"/>
                <a:sym typeface="Inter"/>
              </a:rPr>
              <a:t>Claim</a:t>
            </a:r>
            <a:endParaRPr/>
          </a:p>
        </p:txBody>
      </p:sp>
      <p:sp>
        <p:nvSpPr>
          <p:cNvPr id="275" name="Google Shape;275;p28"/>
          <p:cNvSpPr/>
          <p:nvPr/>
        </p:nvSpPr>
        <p:spPr>
          <a:xfrm>
            <a:off x="2788920" y="2514600"/>
            <a:ext cx="777240" cy="438912"/>
          </a:xfrm>
          <a:prstGeom prst="rect">
            <a:avLst/>
          </a:prstGeom>
          <a:solidFill>
            <a:srgbClr val="6E9DE1"/>
          </a:solidFill>
          <a:ln cap="flat" cmpd="sng" w="12700">
            <a:solidFill>
              <a:srgbClr val="6E9D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6" name="Google Shape;276;p28"/>
          <p:cNvSpPr txBox="1"/>
          <p:nvPr/>
        </p:nvSpPr>
        <p:spPr>
          <a:xfrm>
            <a:off x="2807208" y="2615184"/>
            <a:ext cx="740664"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930" u="none" cap="none" strike="noStrike">
                <a:solidFill>
                  <a:srgbClr val="FFFFFF"/>
                </a:solidFill>
                <a:latin typeface="Inter"/>
                <a:ea typeface="Inter"/>
                <a:cs typeface="Inter"/>
                <a:sym typeface="Inter"/>
              </a:rPr>
              <a:t>Support</a:t>
            </a:r>
            <a:endParaRPr/>
          </a:p>
        </p:txBody>
      </p:sp>
      <p:sp>
        <p:nvSpPr>
          <p:cNvPr id="277" name="Google Shape;277;p28"/>
          <p:cNvSpPr/>
          <p:nvPr/>
        </p:nvSpPr>
        <p:spPr>
          <a:xfrm>
            <a:off x="3566160" y="2514600"/>
            <a:ext cx="777240" cy="438912"/>
          </a:xfrm>
          <a:prstGeom prst="rect">
            <a:avLst/>
          </a:prstGeom>
          <a:solidFill>
            <a:srgbClr val="6E9DE1"/>
          </a:solidFill>
          <a:ln cap="flat" cmpd="sng" w="12700">
            <a:solidFill>
              <a:srgbClr val="6E9D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8" name="Google Shape;278;p28"/>
          <p:cNvSpPr txBox="1"/>
          <p:nvPr/>
        </p:nvSpPr>
        <p:spPr>
          <a:xfrm>
            <a:off x="3584448" y="2615184"/>
            <a:ext cx="740664"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930" u="none" cap="none" strike="noStrike">
                <a:solidFill>
                  <a:srgbClr val="FFFFFF"/>
                </a:solidFill>
                <a:latin typeface="Inter"/>
                <a:ea typeface="Inter"/>
                <a:cs typeface="Inter"/>
                <a:sym typeface="Inter"/>
              </a:rPr>
              <a:t>Conflict</a:t>
            </a:r>
            <a:endParaRPr/>
          </a:p>
        </p:txBody>
      </p:sp>
      <p:sp>
        <p:nvSpPr>
          <p:cNvPr id="279" name="Google Shape;279;p28"/>
          <p:cNvSpPr/>
          <p:nvPr/>
        </p:nvSpPr>
        <p:spPr>
          <a:xfrm>
            <a:off x="4343400" y="2514600"/>
            <a:ext cx="868680" cy="438912"/>
          </a:xfrm>
          <a:prstGeom prst="rect">
            <a:avLst/>
          </a:prstGeom>
          <a:solidFill>
            <a:srgbClr val="6E9DE1"/>
          </a:solidFill>
          <a:ln cap="flat" cmpd="sng" w="12700">
            <a:solidFill>
              <a:srgbClr val="6E9D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28"/>
          <p:cNvSpPr txBox="1"/>
          <p:nvPr/>
        </p:nvSpPr>
        <p:spPr>
          <a:xfrm>
            <a:off x="4361688" y="2615184"/>
            <a:ext cx="832103"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930" u="none" cap="none" strike="noStrike">
                <a:solidFill>
                  <a:srgbClr val="FFFFFF"/>
                </a:solidFill>
                <a:latin typeface="Inter"/>
                <a:ea typeface="Inter"/>
                <a:cs typeface="Inter"/>
                <a:sym typeface="Inter"/>
              </a:rPr>
              <a:t>Recency</a:t>
            </a:r>
            <a:endParaRPr/>
          </a:p>
        </p:txBody>
      </p:sp>
      <p:sp>
        <p:nvSpPr>
          <p:cNvPr id="281" name="Google Shape;281;p28"/>
          <p:cNvSpPr/>
          <p:nvPr/>
        </p:nvSpPr>
        <p:spPr>
          <a:xfrm>
            <a:off x="5212080" y="2514600"/>
            <a:ext cx="960120" cy="438912"/>
          </a:xfrm>
          <a:prstGeom prst="rect">
            <a:avLst/>
          </a:prstGeom>
          <a:solidFill>
            <a:srgbClr val="6E9DE1"/>
          </a:solidFill>
          <a:ln cap="flat" cmpd="sng" w="12700">
            <a:solidFill>
              <a:srgbClr val="6E9D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2" name="Google Shape;282;p28"/>
          <p:cNvSpPr txBox="1"/>
          <p:nvPr/>
        </p:nvSpPr>
        <p:spPr>
          <a:xfrm>
            <a:off x="5230368" y="2615184"/>
            <a:ext cx="923544"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930" u="none" cap="none" strike="noStrike">
                <a:solidFill>
                  <a:srgbClr val="FFFFFF"/>
                </a:solidFill>
                <a:latin typeface="Inter"/>
                <a:ea typeface="Inter"/>
                <a:cs typeface="Inter"/>
                <a:sym typeface="Inter"/>
              </a:rPr>
              <a:t>Quality</a:t>
            </a:r>
            <a:endParaRPr/>
          </a:p>
        </p:txBody>
      </p:sp>
      <p:sp>
        <p:nvSpPr>
          <p:cNvPr id="283" name="Google Shape;283;p28"/>
          <p:cNvSpPr/>
          <p:nvPr/>
        </p:nvSpPr>
        <p:spPr>
          <a:xfrm>
            <a:off x="6172200" y="2514600"/>
            <a:ext cx="868680" cy="438912"/>
          </a:xfrm>
          <a:prstGeom prst="rect">
            <a:avLst/>
          </a:prstGeom>
          <a:solidFill>
            <a:srgbClr val="6E9DE1"/>
          </a:solidFill>
          <a:ln cap="flat" cmpd="sng" w="12700">
            <a:solidFill>
              <a:srgbClr val="6E9D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4" name="Google Shape;284;p28"/>
          <p:cNvSpPr txBox="1"/>
          <p:nvPr/>
        </p:nvSpPr>
        <p:spPr>
          <a:xfrm>
            <a:off x="6190488" y="2615184"/>
            <a:ext cx="832103" cy="2011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930" u="none" cap="none" strike="noStrike">
                <a:solidFill>
                  <a:srgbClr val="FFFFFF"/>
                </a:solidFill>
                <a:latin typeface="Inter"/>
                <a:ea typeface="Inter"/>
                <a:cs typeface="Inter"/>
                <a:sym typeface="Inter"/>
              </a:rPr>
              <a:t>Risk</a:t>
            </a:r>
            <a:endParaRPr/>
          </a:p>
        </p:txBody>
      </p:sp>
      <p:sp>
        <p:nvSpPr>
          <p:cNvPr id="285" name="Google Shape;285;p28"/>
          <p:cNvSpPr/>
          <p:nvPr/>
        </p:nvSpPr>
        <p:spPr>
          <a:xfrm>
            <a:off x="548640" y="2953512"/>
            <a:ext cx="2240280" cy="493776"/>
          </a:xfrm>
          <a:prstGeom prst="rect">
            <a:avLst/>
          </a:prstGeom>
          <a:solidFill>
            <a:srgbClr val="FFFFFF"/>
          </a:solidFill>
          <a:ln cap="flat" cmpd="sng" w="12700">
            <a:solidFill>
              <a:srgbClr val="D6E0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28"/>
          <p:cNvSpPr txBox="1"/>
          <p:nvPr/>
        </p:nvSpPr>
        <p:spPr>
          <a:xfrm>
            <a:off x="566928" y="3044952"/>
            <a:ext cx="2203704" cy="301752"/>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rPr b="0" i="0" lang="en-US" sz="880" u="none" cap="none" strike="noStrike">
                <a:solidFill>
                  <a:srgbClr val="141414"/>
                </a:solidFill>
                <a:latin typeface="Inter"/>
                <a:ea typeface="Inter"/>
                <a:cs typeface="Inter"/>
                <a:sym typeface="Inter"/>
              </a:rPr>
              <a:t>Drug X reduces recurrence</a:t>
            </a:r>
            <a:endParaRPr/>
          </a:p>
        </p:txBody>
      </p:sp>
      <p:sp>
        <p:nvSpPr>
          <p:cNvPr id="287" name="Google Shape;287;p28"/>
          <p:cNvSpPr/>
          <p:nvPr/>
        </p:nvSpPr>
        <p:spPr>
          <a:xfrm>
            <a:off x="2788920" y="2953512"/>
            <a:ext cx="777240" cy="493776"/>
          </a:xfrm>
          <a:prstGeom prst="rect">
            <a:avLst/>
          </a:prstGeom>
          <a:solidFill>
            <a:srgbClr val="FFFFFF"/>
          </a:solidFill>
          <a:ln cap="flat" cmpd="sng" w="12700">
            <a:solidFill>
              <a:srgbClr val="D6E0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8" name="Google Shape;288;p28"/>
          <p:cNvSpPr txBox="1"/>
          <p:nvPr/>
        </p:nvSpPr>
        <p:spPr>
          <a:xfrm>
            <a:off x="2807208" y="3044952"/>
            <a:ext cx="740664" cy="301752"/>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rPr b="0" i="0" lang="en-US" sz="880" u="none" cap="none" strike="noStrike">
                <a:solidFill>
                  <a:srgbClr val="141414"/>
                </a:solidFill>
                <a:latin typeface="Inter"/>
                <a:ea typeface="Inter"/>
                <a:cs typeface="Inter"/>
                <a:sym typeface="Inter"/>
              </a:rPr>
              <a:t>0.91</a:t>
            </a:r>
            <a:endParaRPr/>
          </a:p>
        </p:txBody>
      </p:sp>
      <p:sp>
        <p:nvSpPr>
          <p:cNvPr id="289" name="Google Shape;289;p28"/>
          <p:cNvSpPr/>
          <p:nvPr/>
        </p:nvSpPr>
        <p:spPr>
          <a:xfrm>
            <a:off x="3566160" y="2953512"/>
            <a:ext cx="777240" cy="493776"/>
          </a:xfrm>
          <a:prstGeom prst="rect">
            <a:avLst/>
          </a:prstGeom>
          <a:solidFill>
            <a:srgbClr val="FFFFFF"/>
          </a:solidFill>
          <a:ln cap="flat" cmpd="sng" w="12700">
            <a:solidFill>
              <a:srgbClr val="D6E0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28"/>
          <p:cNvSpPr txBox="1"/>
          <p:nvPr/>
        </p:nvSpPr>
        <p:spPr>
          <a:xfrm>
            <a:off x="3584448" y="3044952"/>
            <a:ext cx="740664" cy="301752"/>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rPr b="0" i="0" lang="en-US" sz="880" u="none" cap="none" strike="noStrike">
                <a:solidFill>
                  <a:srgbClr val="141414"/>
                </a:solidFill>
                <a:latin typeface="Inter"/>
                <a:ea typeface="Inter"/>
                <a:cs typeface="Inter"/>
                <a:sym typeface="Inter"/>
              </a:rPr>
              <a:t>0.22</a:t>
            </a:r>
            <a:endParaRPr/>
          </a:p>
        </p:txBody>
      </p:sp>
      <p:sp>
        <p:nvSpPr>
          <p:cNvPr id="291" name="Google Shape;291;p28"/>
          <p:cNvSpPr/>
          <p:nvPr/>
        </p:nvSpPr>
        <p:spPr>
          <a:xfrm>
            <a:off x="4343400" y="2953512"/>
            <a:ext cx="868680" cy="493776"/>
          </a:xfrm>
          <a:prstGeom prst="rect">
            <a:avLst/>
          </a:prstGeom>
          <a:solidFill>
            <a:srgbClr val="FFFFFF"/>
          </a:solidFill>
          <a:ln cap="flat" cmpd="sng" w="12700">
            <a:solidFill>
              <a:srgbClr val="D6E0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2" name="Google Shape;292;p28"/>
          <p:cNvSpPr txBox="1"/>
          <p:nvPr/>
        </p:nvSpPr>
        <p:spPr>
          <a:xfrm>
            <a:off x="4361688" y="3044952"/>
            <a:ext cx="832103" cy="301752"/>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rPr b="0" i="0" lang="en-US" sz="880" u="none" cap="none" strike="noStrike">
                <a:solidFill>
                  <a:srgbClr val="141414"/>
                </a:solidFill>
                <a:latin typeface="Inter"/>
                <a:ea typeface="Inter"/>
                <a:cs typeface="Inter"/>
                <a:sym typeface="Inter"/>
              </a:rPr>
              <a:t>2026</a:t>
            </a:r>
            <a:endParaRPr/>
          </a:p>
        </p:txBody>
      </p:sp>
      <p:sp>
        <p:nvSpPr>
          <p:cNvPr id="293" name="Google Shape;293;p28"/>
          <p:cNvSpPr/>
          <p:nvPr/>
        </p:nvSpPr>
        <p:spPr>
          <a:xfrm>
            <a:off x="5212080" y="2953512"/>
            <a:ext cx="960120" cy="493776"/>
          </a:xfrm>
          <a:prstGeom prst="rect">
            <a:avLst/>
          </a:prstGeom>
          <a:solidFill>
            <a:srgbClr val="FFFFFF"/>
          </a:solidFill>
          <a:ln cap="flat" cmpd="sng" w="12700">
            <a:solidFill>
              <a:srgbClr val="D6E0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4" name="Google Shape;294;p28"/>
          <p:cNvSpPr txBox="1"/>
          <p:nvPr/>
        </p:nvSpPr>
        <p:spPr>
          <a:xfrm>
            <a:off x="5230368" y="3044952"/>
            <a:ext cx="923544" cy="301752"/>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rPr b="0" i="0" lang="en-US" sz="880" u="none" cap="none" strike="noStrike">
                <a:solidFill>
                  <a:srgbClr val="141414"/>
                </a:solidFill>
                <a:latin typeface="Inter"/>
                <a:ea typeface="Inter"/>
                <a:cs typeface="Inter"/>
                <a:sym typeface="Inter"/>
              </a:rPr>
              <a:t>High</a:t>
            </a:r>
            <a:endParaRPr/>
          </a:p>
        </p:txBody>
      </p:sp>
      <p:sp>
        <p:nvSpPr>
          <p:cNvPr id="295" name="Google Shape;295;p28"/>
          <p:cNvSpPr/>
          <p:nvPr/>
        </p:nvSpPr>
        <p:spPr>
          <a:xfrm>
            <a:off x="6172200" y="2953512"/>
            <a:ext cx="868680" cy="493776"/>
          </a:xfrm>
          <a:prstGeom prst="rect">
            <a:avLst/>
          </a:prstGeom>
          <a:solidFill>
            <a:srgbClr val="FFFFFF"/>
          </a:solidFill>
          <a:ln cap="flat" cmpd="sng" w="12700">
            <a:solidFill>
              <a:srgbClr val="D6E0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28"/>
          <p:cNvSpPr txBox="1"/>
          <p:nvPr/>
        </p:nvSpPr>
        <p:spPr>
          <a:xfrm>
            <a:off x="6190488" y="3044952"/>
            <a:ext cx="832200" cy="2277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rPr lang="en-US" sz="880">
                <a:solidFill>
                  <a:srgbClr val="141414"/>
                </a:solidFill>
                <a:latin typeface="Inter"/>
                <a:ea typeface="Inter"/>
                <a:cs typeface="Inter"/>
                <a:sym typeface="Inter"/>
              </a:rPr>
              <a:t>Low</a:t>
            </a:r>
            <a:endParaRPr/>
          </a:p>
        </p:txBody>
      </p:sp>
      <p:sp>
        <p:nvSpPr>
          <p:cNvPr id="297" name="Google Shape;297;p28"/>
          <p:cNvSpPr/>
          <p:nvPr/>
        </p:nvSpPr>
        <p:spPr>
          <a:xfrm>
            <a:off x="548640" y="3447288"/>
            <a:ext cx="2240280" cy="493776"/>
          </a:xfrm>
          <a:prstGeom prst="rect">
            <a:avLst/>
          </a:prstGeom>
          <a:solidFill>
            <a:srgbClr val="FFFFFF"/>
          </a:solidFill>
          <a:ln cap="flat" cmpd="sng" w="12700">
            <a:solidFill>
              <a:srgbClr val="D6E0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8" name="Google Shape;298;p28"/>
          <p:cNvSpPr txBox="1"/>
          <p:nvPr/>
        </p:nvSpPr>
        <p:spPr>
          <a:xfrm>
            <a:off x="566928" y="3538728"/>
            <a:ext cx="2203704" cy="301752"/>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rPr b="0" i="0" lang="en-US" sz="880" u="none" cap="none" strike="noStrike">
                <a:solidFill>
                  <a:srgbClr val="141414"/>
                </a:solidFill>
                <a:latin typeface="Inter"/>
                <a:ea typeface="Inter"/>
                <a:cs typeface="Inter"/>
                <a:sym typeface="Inter"/>
              </a:rPr>
              <a:t>Drug X is first-line</a:t>
            </a:r>
            <a:endParaRPr/>
          </a:p>
        </p:txBody>
      </p:sp>
      <p:sp>
        <p:nvSpPr>
          <p:cNvPr id="299" name="Google Shape;299;p28"/>
          <p:cNvSpPr/>
          <p:nvPr/>
        </p:nvSpPr>
        <p:spPr>
          <a:xfrm>
            <a:off x="2788920" y="3447288"/>
            <a:ext cx="777240" cy="493776"/>
          </a:xfrm>
          <a:prstGeom prst="rect">
            <a:avLst/>
          </a:prstGeom>
          <a:solidFill>
            <a:srgbClr val="FFFFFF"/>
          </a:solidFill>
          <a:ln cap="flat" cmpd="sng" w="12700">
            <a:solidFill>
              <a:srgbClr val="D6E0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0" name="Google Shape;300;p28"/>
          <p:cNvSpPr txBox="1"/>
          <p:nvPr/>
        </p:nvSpPr>
        <p:spPr>
          <a:xfrm>
            <a:off x="2807208" y="3538728"/>
            <a:ext cx="740664" cy="301752"/>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rPr b="0" i="0" lang="en-US" sz="880" u="none" cap="none" strike="noStrike">
                <a:solidFill>
                  <a:srgbClr val="141414"/>
                </a:solidFill>
                <a:latin typeface="Inter"/>
                <a:ea typeface="Inter"/>
                <a:cs typeface="Inter"/>
                <a:sym typeface="Inter"/>
              </a:rPr>
              <a:t>0.78</a:t>
            </a:r>
            <a:endParaRPr/>
          </a:p>
        </p:txBody>
      </p:sp>
      <p:sp>
        <p:nvSpPr>
          <p:cNvPr id="301" name="Google Shape;301;p28"/>
          <p:cNvSpPr/>
          <p:nvPr/>
        </p:nvSpPr>
        <p:spPr>
          <a:xfrm>
            <a:off x="3566160" y="3447288"/>
            <a:ext cx="777240" cy="493776"/>
          </a:xfrm>
          <a:prstGeom prst="rect">
            <a:avLst/>
          </a:prstGeom>
          <a:solidFill>
            <a:srgbClr val="FFFFFF"/>
          </a:solidFill>
          <a:ln cap="flat" cmpd="sng" w="12700">
            <a:solidFill>
              <a:srgbClr val="D6E0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28"/>
          <p:cNvSpPr txBox="1"/>
          <p:nvPr/>
        </p:nvSpPr>
        <p:spPr>
          <a:xfrm>
            <a:off x="3584448" y="3538728"/>
            <a:ext cx="740664" cy="301752"/>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rPr b="0" i="0" lang="en-US" sz="880" u="none" cap="none" strike="noStrike">
                <a:solidFill>
                  <a:srgbClr val="141414"/>
                </a:solidFill>
                <a:latin typeface="Inter"/>
                <a:ea typeface="Inter"/>
                <a:cs typeface="Inter"/>
                <a:sym typeface="Inter"/>
              </a:rPr>
              <a:t>0.71</a:t>
            </a:r>
            <a:endParaRPr/>
          </a:p>
        </p:txBody>
      </p:sp>
      <p:sp>
        <p:nvSpPr>
          <p:cNvPr id="303" name="Google Shape;303;p28"/>
          <p:cNvSpPr/>
          <p:nvPr/>
        </p:nvSpPr>
        <p:spPr>
          <a:xfrm>
            <a:off x="4343400" y="3447288"/>
            <a:ext cx="868680" cy="493776"/>
          </a:xfrm>
          <a:prstGeom prst="rect">
            <a:avLst/>
          </a:prstGeom>
          <a:solidFill>
            <a:srgbClr val="FFFFFF"/>
          </a:solidFill>
          <a:ln cap="flat" cmpd="sng" w="12700">
            <a:solidFill>
              <a:srgbClr val="D6E0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4" name="Google Shape;304;p28"/>
          <p:cNvSpPr txBox="1"/>
          <p:nvPr/>
        </p:nvSpPr>
        <p:spPr>
          <a:xfrm>
            <a:off x="4361688" y="3538728"/>
            <a:ext cx="832103" cy="301752"/>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rPr b="0" i="0" lang="en-US" sz="880" u="none" cap="none" strike="noStrike">
                <a:solidFill>
                  <a:srgbClr val="141414"/>
                </a:solidFill>
                <a:latin typeface="Inter"/>
                <a:ea typeface="Inter"/>
                <a:cs typeface="Inter"/>
                <a:sym typeface="Inter"/>
              </a:rPr>
              <a:t>2024</a:t>
            </a:r>
            <a:endParaRPr/>
          </a:p>
        </p:txBody>
      </p:sp>
      <p:sp>
        <p:nvSpPr>
          <p:cNvPr id="305" name="Google Shape;305;p28"/>
          <p:cNvSpPr/>
          <p:nvPr/>
        </p:nvSpPr>
        <p:spPr>
          <a:xfrm>
            <a:off x="5212080" y="3447288"/>
            <a:ext cx="960120" cy="493776"/>
          </a:xfrm>
          <a:prstGeom prst="rect">
            <a:avLst/>
          </a:prstGeom>
          <a:solidFill>
            <a:srgbClr val="FFFFFF"/>
          </a:solidFill>
          <a:ln cap="flat" cmpd="sng" w="12700">
            <a:solidFill>
              <a:srgbClr val="D6E0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28"/>
          <p:cNvSpPr txBox="1"/>
          <p:nvPr/>
        </p:nvSpPr>
        <p:spPr>
          <a:xfrm>
            <a:off x="5230368" y="3538728"/>
            <a:ext cx="923544" cy="301752"/>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rPr b="0" i="0" lang="en-US" sz="880" u="none" cap="none" strike="noStrike">
                <a:solidFill>
                  <a:srgbClr val="141414"/>
                </a:solidFill>
                <a:latin typeface="Inter"/>
                <a:ea typeface="Inter"/>
                <a:cs typeface="Inter"/>
                <a:sym typeface="Inter"/>
              </a:rPr>
              <a:t>Med</a:t>
            </a:r>
            <a:endParaRPr/>
          </a:p>
        </p:txBody>
      </p:sp>
      <p:sp>
        <p:nvSpPr>
          <p:cNvPr id="307" name="Google Shape;307;p28"/>
          <p:cNvSpPr/>
          <p:nvPr/>
        </p:nvSpPr>
        <p:spPr>
          <a:xfrm>
            <a:off x="6172200" y="3447288"/>
            <a:ext cx="868680" cy="493776"/>
          </a:xfrm>
          <a:prstGeom prst="rect">
            <a:avLst/>
          </a:prstGeom>
          <a:solidFill>
            <a:srgbClr val="FFFFFF"/>
          </a:solidFill>
          <a:ln cap="flat" cmpd="sng" w="12700">
            <a:solidFill>
              <a:srgbClr val="D6E0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8" name="Google Shape;308;p28"/>
          <p:cNvSpPr txBox="1"/>
          <p:nvPr/>
        </p:nvSpPr>
        <p:spPr>
          <a:xfrm>
            <a:off x="6190488" y="3538728"/>
            <a:ext cx="832103" cy="301752"/>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rPr b="0" i="0" lang="en-US" sz="880" u="none" cap="none" strike="noStrike">
                <a:solidFill>
                  <a:srgbClr val="141414"/>
                </a:solidFill>
                <a:latin typeface="Inter"/>
                <a:ea typeface="Inter"/>
                <a:cs typeface="Inter"/>
                <a:sym typeface="Inter"/>
              </a:rPr>
              <a:t>High</a:t>
            </a:r>
            <a:endParaRPr/>
          </a:p>
        </p:txBody>
      </p:sp>
      <p:sp>
        <p:nvSpPr>
          <p:cNvPr id="309" name="Google Shape;309;p28"/>
          <p:cNvSpPr/>
          <p:nvPr/>
        </p:nvSpPr>
        <p:spPr>
          <a:xfrm>
            <a:off x="548640" y="3941064"/>
            <a:ext cx="2240280" cy="493776"/>
          </a:xfrm>
          <a:prstGeom prst="rect">
            <a:avLst/>
          </a:prstGeom>
          <a:solidFill>
            <a:srgbClr val="FFFFFF"/>
          </a:solidFill>
          <a:ln cap="flat" cmpd="sng" w="12700">
            <a:solidFill>
              <a:srgbClr val="D6E0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0" name="Google Shape;310;p28"/>
          <p:cNvSpPr txBox="1"/>
          <p:nvPr/>
        </p:nvSpPr>
        <p:spPr>
          <a:xfrm>
            <a:off x="566928" y="4032504"/>
            <a:ext cx="2203704" cy="301752"/>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rPr b="0" i="0" lang="en-US" sz="880" u="none" cap="none" strike="noStrike">
                <a:solidFill>
                  <a:srgbClr val="141414"/>
                </a:solidFill>
                <a:latin typeface="Inter"/>
                <a:ea typeface="Inter"/>
                <a:cs typeface="Inter"/>
                <a:sym typeface="Inter"/>
              </a:rPr>
              <a:t>Safe in pregnancy</a:t>
            </a:r>
            <a:endParaRPr/>
          </a:p>
        </p:txBody>
      </p:sp>
      <p:sp>
        <p:nvSpPr>
          <p:cNvPr id="311" name="Google Shape;311;p28"/>
          <p:cNvSpPr/>
          <p:nvPr/>
        </p:nvSpPr>
        <p:spPr>
          <a:xfrm>
            <a:off x="2788920" y="3941064"/>
            <a:ext cx="777240" cy="493776"/>
          </a:xfrm>
          <a:prstGeom prst="rect">
            <a:avLst/>
          </a:prstGeom>
          <a:solidFill>
            <a:srgbClr val="FFFFFF"/>
          </a:solidFill>
          <a:ln cap="flat" cmpd="sng" w="12700">
            <a:solidFill>
              <a:srgbClr val="D6E0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28"/>
          <p:cNvSpPr txBox="1"/>
          <p:nvPr/>
        </p:nvSpPr>
        <p:spPr>
          <a:xfrm>
            <a:off x="2807208" y="4032504"/>
            <a:ext cx="740664" cy="301752"/>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rPr b="0" i="0" lang="en-US" sz="880" u="none" cap="none" strike="noStrike">
                <a:solidFill>
                  <a:srgbClr val="141414"/>
                </a:solidFill>
                <a:latin typeface="Inter"/>
                <a:ea typeface="Inter"/>
                <a:cs typeface="Inter"/>
                <a:sym typeface="Inter"/>
              </a:rPr>
              <a:t>0.35</a:t>
            </a:r>
            <a:endParaRPr/>
          </a:p>
        </p:txBody>
      </p:sp>
      <p:sp>
        <p:nvSpPr>
          <p:cNvPr id="313" name="Google Shape;313;p28"/>
          <p:cNvSpPr/>
          <p:nvPr/>
        </p:nvSpPr>
        <p:spPr>
          <a:xfrm>
            <a:off x="3566160" y="3941064"/>
            <a:ext cx="777240" cy="493776"/>
          </a:xfrm>
          <a:prstGeom prst="rect">
            <a:avLst/>
          </a:prstGeom>
          <a:solidFill>
            <a:srgbClr val="FFFFFF"/>
          </a:solidFill>
          <a:ln cap="flat" cmpd="sng" w="12700">
            <a:solidFill>
              <a:srgbClr val="D6E0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4" name="Google Shape;314;p28"/>
          <p:cNvSpPr txBox="1"/>
          <p:nvPr/>
        </p:nvSpPr>
        <p:spPr>
          <a:xfrm>
            <a:off x="3584448" y="4032504"/>
            <a:ext cx="740664" cy="301752"/>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rPr b="0" i="0" lang="en-US" sz="880" u="none" cap="none" strike="noStrike">
                <a:solidFill>
                  <a:srgbClr val="141414"/>
                </a:solidFill>
                <a:latin typeface="Inter"/>
                <a:ea typeface="Inter"/>
                <a:cs typeface="Inter"/>
                <a:sym typeface="Inter"/>
              </a:rPr>
              <a:t>0.87</a:t>
            </a:r>
            <a:endParaRPr/>
          </a:p>
        </p:txBody>
      </p:sp>
      <p:sp>
        <p:nvSpPr>
          <p:cNvPr id="315" name="Google Shape;315;p28"/>
          <p:cNvSpPr/>
          <p:nvPr/>
        </p:nvSpPr>
        <p:spPr>
          <a:xfrm>
            <a:off x="4343400" y="3941064"/>
            <a:ext cx="868680" cy="493776"/>
          </a:xfrm>
          <a:prstGeom prst="rect">
            <a:avLst/>
          </a:prstGeom>
          <a:solidFill>
            <a:srgbClr val="FFFFFF"/>
          </a:solidFill>
          <a:ln cap="flat" cmpd="sng" w="12700">
            <a:solidFill>
              <a:srgbClr val="D6E0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6" name="Google Shape;316;p28"/>
          <p:cNvSpPr txBox="1"/>
          <p:nvPr/>
        </p:nvSpPr>
        <p:spPr>
          <a:xfrm>
            <a:off x="4361688" y="4032504"/>
            <a:ext cx="832103" cy="301752"/>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rPr b="0" i="0" lang="en-US" sz="880" u="none" cap="none" strike="noStrike">
                <a:solidFill>
                  <a:srgbClr val="141414"/>
                </a:solidFill>
                <a:latin typeface="Inter"/>
                <a:ea typeface="Inter"/>
                <a:cs typeface="Inter"/>
                <a:sym typeface="Inter"/>
              </a:rPr>
              <a:t>2022</a:t>
            </a:r>
            <a:endParaRPr/>
          </a:p>
        </p:txBody>
      </p:sp>
      <p:sp>
        <p:nvSpPr>
          <p:cNvPr id="317" name="Google Shape;317;p28"/>
          <p:cNvSpPr/>
          <p:nvPr/>
        </p:nvSpPr>
        <p:spPr>
          <a:xfrm>
            <a:off x="5212080" y="3941064"/>
            <a:ext cx="960120" cy="493776"/>
          </a:xfrm>
          <a:prstGeom prst="rect">
            <a:avLst/>
          </a:prstGeom>
          <a:solidFill>
            <a:srgbClr val="FFFFFF"/>
          </a:solidFill>
          <a:ln cap="flat" cmpd="sng" w="12700">
            <a:solidFill>
              <a:srgbClr val="D6E0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28"/>
          <p:cNvSpPr txBox="1"/>
          <p:nvPr/>
        </p:nvSpPr>
        <p:spPr>
          <a:xfrm>
            <a:off x="5230368" y="4032504"/>
            <a:ext cx="923544" cy="301752"/>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rPr b="0" i="0" lang="en-US" sz="880" u="none" cap="none" strike="noStrike">
                <a:solidFill>
                  <a:srgbClr val="141414"/>
                </a:solidFill>
                <a:latin typeface="Inter"/>
                <a:ea typeface="Inter"/>
                <a:cs typeface="Inter"/>
                <a:sym typeface="Inter"/>
              </a:rPr>
              <a:t>Low</a:t>
            </a:r>
            <a:endParaRPr/>
          </a:p>
        </p:txBody>
      </p:sp>
      <p:sp>
        <p:nvSpPr>
          <p:cNvPr id="319" name="Google Shape;319;p28"/>
          <p:cNvSpPr/>
          <p:nvPr/>
        </p:nvSpPr>
        <p:spPr>
          <a:xfrm>
            <a:off x="6172200" y="3941064"/>
            <a:ext cx="868680" cy="493776"/>
          </a:xfrm>
          <a:prstGeom prst="rect">
            <a:avLst/>
          </a:prstGeom>
          <a:solidFill>
            <a:srgbClr val="FFFFFF"/>
          </a:solidFill>
          <a:ln cap="flat" cmpd="sng" w="12700">
            <a:solidFill>
              <a:srgbClr val="D6E0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0" name="Google Shape;320;p28"/>
          <p:cNvSpPr txBox="1"/>
          <p:nvPr/>
        </p:nvSpPr>
        <p:spPr>
          <a:xfrm>
            <a:off x="6190488" y="4032504"/>
            <a:ext cx="832103" cy="301752"/>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rPr b="0" i="0" lang="en-US" sz="880" u="none" cap="none" strike="noStrike">
                <a:solidFill>
                  <a:srgbClr val="141414"/>
                </a:solidFill>
                <a:latin typeface="Inter"/>
                <a:ea typeface="Inter"/>
                <a:cs typeface="Inter"/>
                <a:sym typeface="Inter"/>
              </a:rPr>
              <a:t>V.High</a:t>
            </a:r>
            <a:endParaRPr/>
          </a:p>
        </p:txBody>
      </p:sp>
      <p:sp>
        <p:nvSpPr>
          <p:cNvPr id="321" name="Google Shape;321;p28"/>
          <p:cNvSpPr txBox="1"/>
          <p:nvPr/>
        </p:nvSpPr>
        <p:spPr>
          <a:xfrm>
            <a:off x="548640" y="4663440"/>
            <a:ext cx="640080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141414"/>
                </a:solidFill>
                <a:latin typeface="Inter"/>
                <a:ea typeface="Inter"/>
                <a:cs typeface="Inter"/>
                <a:sym typeface="Inter"/>
              </a:rPr>
              <a:t>Evaluation plan</a:t>
            </a:r>
            <a:endParaRPr/>
          </a:p>
        </p:txBody>
      </p:sp>
      <p:sp>
        <p:nvSpPr>
          <p:cNvPr id="322" name="Google Shape;322;p28"/>
          <p:cNvSpPr txBox="1"/>
          <p:nvPr/>
        </p:nvSpPr>
        <p:spPr>
          <a:xfrm>
            <a:off x="548640" y="5010912"/>
            <a:ext cx="6400800" cy="141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270" u="none" cap="none" strike="noStrike">
                <a:solidFill>
                  <a:srgbClr val="141414"/>
                </a:solidFill>
                <a:latin typeface="Inter"/>
                <a:ea typeface="Inter"/>
                <a:cs typeface="Inter"/>
                <a:sym typeface="Inter"/>
              </a:rPr>
              <a:t>• Datasets: MedQA + </a:t>
            </a:r>
            <a:r>
              <a:rPr b="0" i="0" lang="en-US" sz="1270" u="none" cap="none" strike="noStrike">
                <a:solidFill>
                  <a:srgbClr val="141414"/>
                </a:solidFill>
                <a:latin typeface="Inter"/>
                <a:ea typeface="Inter"/>
                <a:cs typeface="Inter"/>
                <a:sym typeface="Inter"/>
              </a:rPr>
              <a:t>PubMedQA</a:t>
            </a:r>
            <a:r>
              <a:rPr b="0" i="0" lang="en-US" sz="1270" u="none" cap="none" strike="noStrike">
                <a:solidFill>
                  <a:srgbClr val="141414"/>
                </a:solidFill>
                <a:latin typeface="Inter"/>
                <a:ea typeface="Inter"/>
                <a:cs typeface="Inter"/>
                <a:sym typeface="Inter"/>
              </a:rPr>
              <a:t> first; expand after reproduction.</a:t>
            </a:r>
            <a:endParaRPr/>
          </a:p>
          <a:p>
            <a:pPr indent="0" lvl="0" marL="0" marR="0" rtl="0" algn="l">
              <a:lnSpc>
                <a:spcPct val="100000"/>
              </a:lnSpc>
              <a:spcBef>
                <a:spcPts val="500"/>
              </a:spcBef>
              <a:spcAft>
                <a:spcPts val="0"/>
              </a:spcAft>
              <a:buNone/>
            </a:pPr>
            <a:r>
              <a:rPr b="0" i="0" lang="en-US" sz="1270" u="none" cap="none" strike="noStrike">
                <a:solidFill>
                  <a:srgbClr val="141414"/>
                </a:solidFill>
                <a:latin typeface="Inter"/>
                <a:ea typeface="Inter"/>
                <a:cs typeface="Inter"/>
                <a:sym typeface="Inter"/>
              </a:rPr>
              <a:t>• Metrics: Accuracy / F1 / EM, claim faithfulness, contradiction rate, evidence coverage.</a:t>
            </a:r>
            <a:endParaRPr/>
          </a:p>
          <a:p>
            <a:pPr indent="0" lvl="0" marL="0" marR="0" rtl="0" algn="l">
              <a:lnSpc>
                <a:spcPct val="100000"/>
              </a:lnSpc>
              <a:spcBef>
                <a:spcPts val="500"/>
              </a:spcBef>
              <a:spcAft>
                <a:spcPts val="0"/>
              </a:spcAft>
              <a:buNone/>
            </a:pPr>
            <a:r>
              <a:rPr b="0" i="0" lang="en-US" sz="1270" u="none" cap="none" strike="noStrike">
                <a:solidFill>
                  <a:srgbClr val="141414"/>
                </a:solidFill>
                <a:latin typeface="Inter"/>
                <a:ea typeface="Inter"/>
                <a:cs typeface="Inter"/>
                <a:sym typeface="Inter"/>
              </a:rPr>
              <a:t>• Efficiency: latency, token usage, retrieval rounds, abstention quality.</a:t>
            </a:r>
            <a:endParaRPr/>
          </a:p>
        </p:txBody>
      </p:sp>
      <p:sp>
        <p:nvSpPr>
          <p:cNvPr id="323" name="Google Shape;323;p28"/>
          <p:cNvSpPr txBox="1"/>
          <p:nvPr/>
        </p:nvSpPr>
        <p:spPr>
          <a:xfrm>
            <a:off x="7452360" y="2029968"/>
            <a:ext cx="6126480" cy="3017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141414"/>
                </a:solidFill>
                <a:latin typeface="Inter"/>
                <a:ea typeface="Inter"/>
                <a:cs typeface="Inter"/>
                <a:sym typeface="Inter"/>
              </a:rPr>
              <a:t>Controlled comparisons</a:t>
            </a:r>
            <a:endParaRPr/>
          </a:p>
        </p:txBody>
      </p:sp>
      <p:sp>
        <p:nvSpPr>
          <p:cNvPr id="324" name="Google Shape;324;p28"/>
          <p:cNvSpPr/>
          <p:nvPr/>
        </p:nvSpPr>
        <p:spPr>
          <a:xfrm>
            <a:off x="7452360" y="2578608"/>
            <a:ext cx="1280160" cy="576072"/>
          </a:xfrm>
          <a:prstGeom prst="roundRect">
            <a:avLst>
              <a:gd fmla="val 16667" name="adj"/>
            </a:avLst>
          </a:prstGeom>
          <a:solidFill>
            <a:srgbClr val="EFF6FF"/>
          </a:solidFill>
          <a:ln cap="flat" cmpd="sng" w="12700">
            <a:solidFill>
              <a:srgbClr val="6E9D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28"/>
          <p:cNvSpPr txBox="1"/>
          <p:nvPr/>
        </p:nvSpPr>
        <p:spPr>
          <a:xfrm>
            <a:off x="7498079" y="2715768"/>
            <a:ext cx="1188720" cy="2560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030" u="none" cap="none" strike="noStrike">
                <a:solidFill>
                  <a:srgbClr val="2B3D5B"/>
                </a:solidFill>
                <a:latin typeface="Inter"/>
                <a:ea typeface="Inter"/>
                <a:cs typeface="Inter"/>
                <a:sym typeface="Inter"/>
              </a:rPr>
              <a:t>Baseline</a:t>
            </a:r>
            <a:endParaRPr/>
          </a:p>
        </p:txBody>
      </p:sp>
      <p:sp>
        <p:nvSpPr>
          <p:cNvPr id="326" name="Google Shape;326;p28"/>
          <p:cNvSpPr txBox="1"/>
          <p:nvPr/>
        </p:nvSpPr>
        <p:spPr>
          <a:xfrm>
            <a:off x="8887968" y="2633472"/>
            <a:ext cx="2697480" cy="4389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130" u="none" cap="none" strike="noStrike">
                <a:solidFill>
                  <a:srgbClr val="141414"/>
                </a:solidFill>
                <a:latin typeface="Inter"/>
                <a:ea typeface="Inter"/>
                <a:cs typeface="Inter"/>
                <a:sym typeface="Inter"/>
              </a:rPr>
              <a:t>Hybrid RAG / Self-MedRAG</a:t>
            </a:r>
            <a:endParaRPr/>
          </a:p>
        </p:txBody>
      </p:sp>
      <p:sp>
        <p:nvSpPr>
          <p:cNvPr id="327" name="Google Shape;327;p28"/>
          <p:cNvSpPr txBox="1"/>
          <p:nvPr/>
        </p:nvSpPr>
        <p:spPr>
          <a:xfrm>
            <a:off x="11667744" y="2633472"/>
            <a:ext cx="1783080" cy="4389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50" u="none" cap="none" strike="noStrike">
                <a:solidFill>
                  <a:srgbClr val="5F5F5F"/>
                </a:solidFill>
                <a:latin typeface="Inter"/>
                <a:ea typeface="Inter"/>
                <a:cs typeface="Inter"/>
                <a:sym typeface="Inter"/>
              </a:rPr>
              <a:t>Current pipeline</a:t>
            </a:r>
            <a:endParaRPr/>
          </a:p>
        </p:txBody>
      </p:sp>
      <p:sp>
        <p:nvSpPr>
          <p:cNvPr id="328" name="Google Shape;328;p28"/>
          <p:cNvSpPr/>
          <p:nvPr/>
        </p:nvSpPr>
        <p:spPr>
          <a:xfrm>
            <a:off x="7452360" y="3474720"/>
            <a:ext cx="1280160" cy="576072"/>
          </a:xfrm>
          <a:prstGeom prst="roundRect">
            <a:avLst>
              <a:gd fmla="val 16667" name="adj"/>
            </a:avLst>
          </a:prstGeom>
          <a:solidFill>
            <a:srgbClr val="EFF6FF"/>
          </a:solidFill>
          <a:ln cap="flat" cmpd="sng" w="12700">
            <a:solidFill>
              <a:srgbClr val="6E9D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9" name="Google Shape;329;p28"/>
          <p:cNvSpPr txBox="1"/>
          <p:nvPr/>
        </p:nvSpPr>
        <p:spPr>
          <a:xfrm>
            <a:off x="7498079" y="3611879"/>
            <a:ext cx="1188720" cy="2560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030" u="none" cap="none" strike="noStrike">
                <a:solidFill>
                  <a:srgbClr val="2B3D5B"/>
                </a:solidFill>
                <a:latin typeface="Inter"/>
                <a:ea typeface="Inter"/>
                <a:cs typeface="Inter"/>
                <a:sym typeface="Inter"/>
              </a:rPr>
              <a:t>Ablation 1</a:t>
            </a:r>
            <a:endParaRPr/>
          </a:p>
        </p:txBody>
      </p:sp>
      <p:sp>
        <p:nvSpPr>
          <p:cNvPr id="330" name="Google Shape;330;p28"/>
          <p:cNvSpPr txBox="1"/>
          <p:nvPr/>
        </p:nvSpPr>
        <p:spPr>
          <a:xfrm>
            <a:off x="8887968" y="3529584"/>
            <a:ext cx="2697480" cy="4389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130" u="none" cap="none" strike="noStrike">
                <a:solidFill>
                  <a:srgbClr val="141414"/>
                </a:solidFill>
                <a:latin typeface="Inter"/>
                <a:ea typeface="Inter"/>
                <a:cs typeface="Inter"/>
                <a:sym typeface="Inter"/>
              </a:rPr>
              <a:t>Evidence state OFF vs ON</a:t>
            </a:r>
            <a:endParaRPr/>
          </a:p>
        </p:txBody>
      </p:sp>
      <p:sp>
        <p:nvSpPr>
          <p:cNvPr id="331" name="Google Shape;331;p28"/>
          <p:cNvSpPr txBox="1"/>
          <p:nvPr/>
        </p:nvSpPr>
        <p:spPr>
          <a:xfrm>
            <a:off x="11667744" y="3529584"/>
            <a:ext cx="1783080" cy="4389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50" u="none" cap="none" strike="noStrike">
                <a:solidFill>
                  <a:srgbClr val="5F5F5F"/>
                </a:solidFill>
                <a:latin typeface="Inter"/>
                <a:ea typeface="Inter"/>
                <a:cs typeface="Inter"/>
                <a:sym typeface="Inter"/>
              </a:rPr>
              <a:t>Does structure help?</a:t>
            </a:r>
            <a:endParaRPr/>
          </a:p>
        </p:txBody>
      </p:sp>
      <p:sp>
        <p:nvSpPr>
          <p:cNvPr id="332" name="Google Shape;332;p28"/>
          <p:cNvSpPr/>
          <p:nvPr/>
        </p:nvSpPr>
        <p:spPr>
          <a:xfrm>
            <a:off x="7452360" y="4370831"/>
            <a:ext cx="1280160" cy="576072"/>
          </a:xfrm>
          <a:prstGeom prst="roundRect">
            <a:avLst>
              <a:gd fmla="val 16667" name="adj"/>
            </a:avLst>
          </a:prstGeom>
          <a:solidFill>
            <a:srgbClr val="EFF6FF"/>
          </a:solidFill>
          <a:ln cap="flat" cmpd="sng" w="12700">
            <a:solidFill>
              <a:srgbClr val="6E9D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3" name="Google Shape;333;p28"/>
          <p:cNvSpPr txBox="1"/>
          <p:nvPr/>
        </p:nvSpPr>
        <p:spPr>
          <a:xfrm>
            <a:off x="7498079" y="4507992"/>
            <a:ext cx="1188720" cy="2560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030" u="none" cap="none" strike="noStrike">
                <a:solidFill>
                  <a:srgbClr val="2B3D5B"/>
                </a:solidFill>
                <a:latin typeface="Inter"/>
                <a:ea typeface="Inter"/>
                <a:cs typeface="Inter"/>
                <a:sym typeface="Inter"/>
              </a:rPr>
              <a:t>Ablation 2</a:t>
            </a:r>
            <a:endParaRPr/>
          </a:p>
        </p:txBody>
      </p:sp>
      <p:sp>
        <p:nvSpPr>
          <p:cNvPr id="334" name="Google Shape;334;p28"/>
          <p:cNvSpPr txBox="1"/>
          <p:nvPr/>
        </p:nvSpPr>
        <p:spPr>
          <a:xfrm>
            <a:off x="8887968" y="4425695"/>
            <a:ext cx="2697480" cy="4389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130" u="none" cap="none" strike="noStrike">
                <a:solidFill>
                  <a:srgbClr val="141414"/>
                </a:solidFill>
                <a:latin typeface="Inter"/>
                <a:ea typeface="Inter"/>
                <a:cs typeface="Inter"/>
                <a:sym typeface="Inter"/>
              </a:rPr>
              <a:t>Generic vs targeted query</a:t>
            </a:r>
            <a:endParaRPr/>
          </a:p>
        </p:txBody>
      </p:sp>
      <p:sp>
        <p:nvSpPr>
          <p:cNvPr id="335" name="Google Shape;335;p28"/>
          <p:cNvSpPr txBox="1"/>
          <p:nvPr/>
        </p:nvSpPr>
        <p:spPr>
          <a:xfrm>
            <a:off x="11667744" y="4425695"/>
            <a:ext cx="1783080" cy="4389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50" u="none" cap="none" strike="noStrike">
                <a:solidFill>
                  <a:srgbClr val="5F5F5F"/>
                </a:solidFill>
                <a:latin typeface="Inter"/>
                <a:ea typeface="Inter"/>
                <a:cs typeface="Inter"/>
                <a:sym typeface="Inter"/>
              </a:rPr>
              <a:t>Does gap-directed search help?</a:t>
            </a:r>
            <a:endParaRPr/>
          </a:p>
        </p:txBody>
      </p:sp>
      <p:sp>
        <p:nvSpPr>
          <p:cNvPr id="336" name="Google Shape;336;p28"/>
          <p:cNvSpPr/>
          <p:nvPr/>
        </p:nvSpPr>
        <p:spPr>
          <a:xfrm>
            <a:off x="7452360" y="5266944"/>
            <a:ext cx="1280160" cy="576072"/>
          </a:xfrm>
          <a:prstGeom prst="roundRect">
            <a:avLst>
              <a:gd fmla="val 16667" name="adj"/>
            </a:avLst>
          </a:prstGeom>
          <a:solidFill>
            <a:srgbClr val="EFF6FF"/>
          </a:solidFill>
          <a:ln cap="flat" cmpd="sng" w="12700">
            <a:solidFill>
              <a:srgbClr val="6E9D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7" name="Google Shape;337;p28"/>
          <p:cNvSpPr txBox="1"/>
          <p:nvPr/>
        </p:nvSpPr>
        <p:spPr>
          <a:xfrm>
            <a:off x="7498079" y="5404104"/>
            <a:ext cx="1188720" cy="2560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030" u="none" cap="none" strike="noStrike">
                <a:solidFill>
                  <a:srgbClr val="2B3D5B"/>
                </a:solidFill>
                <a:latin typeface="Inter"/>
                <a:ea typeface="Inter"/>
                <a:cs typeface="Inter"/>
                <a:sym typeface="Inter"/>
              </a:rPr>
              <a:t>Ablation 3</a:t>
            </a:r>
            <a:endParaRPr/>
          </a:p>
        </p:txBody>
      </p:sp>
      <p:sp>
        <p:nvSpPr>
          <p:cNvPr id="338" name="Google Shape;338;p28"/>
          <p:cNvSpPr txBox="1"/>
          <p:nvPr/>
        </p:nvSpPr>
        <p:spPr>
          <a:xfrm>
            <a:off x="8887968" y="5321807"/>
            <a:ext cx="2697480" cy="4389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130" u="none" cap="none" strike="noStrike">
                <a:solidFill>
                  <a:srgbClr val="141414"/>
                </a:solidFill>
                <a:latin typeface="Inter"/>
                <a:ea typeface="Inter"/>
                <a:cs typeface="Inter"/>
                <a:sym typeface="Inter"/>
              </a:rPr>
              <a:t>Fixed vs adaptive policy</a:t>
            </a:r>
            <a:endParaRPr/>
          </a:p>
        </p:txBody>
      </p:sp>
      <p:sp>
        <p:nvSpPr>
          <p:cNvPr id="339" name="Google Shape;339;p28"/>
          <p:cNvSpPr txBox="1"/>
          <p:nvPr/>
        </p:nvSpPr>
        <p:spPr>
          <a:xfrm>
            <a:off x="11667744" y="5321807"/>
            <a:ext cx="1783080" cy="4389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50" u="none" cap="none" strike="noStrike">
                <a:solidFill>
                  <a:srgbClr val="5F5F5F"/>
                </a:solidFill>
                <a:latin typeface="Inter"/>
                <a:ea typeface="Inter"/>
                <a:cs typeface="Inter"/>
                <a:sym typeface="Inter"/>
              </a:rPr>
              <a:t>Does it reduce cost?</a:t>
            </a:r>
            <a:endParaRPr/>
          </a:p>
        </p:txBody>
      </p:sp>
      <p:sp>
        <p:nvSpPr>
          <p:cNvPr id="340" name="Google Shape;340;p28"/>
          <p:cNvSpPr/>
          <p:nvPr/>
        </p:nvSpPr>
        <p:spPr>
          <a:xfrm>
            <a:off x="7479792" y="6199632"/>
            <a:ext cx="6172200" cy="566928"/>
          </a:xfrm>
          <a:prstGeom prst="roundRect">
            <a:avLst>
              <a:gd fmla="val 16667" name="adj"/>
            </a:avLst>
          </a:prstGeom>
          <a:solidFill>
            <a:srgbClr val="EFF9F4"/>
          </a:solidFill>
          <a:ln cap="flat" cmpd="sng" w="12700">
            <a:solidFill>
              <a:srgbClr val="23915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1" name="Google Shape;341;p28"/>
          <p:cNvSpPr txBox="1"/>
          <p:nvPr/>
        </p:nvSpPr>
        <p:spPr>
          <a:xfrm>
            <a:off x="7699248" y="6309360"/>
            <a:ext cx="5715000" cy="31089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320" u="none" cap="none" strike="noStrike">
                <a:solidFill>
                  <a:srgbClr val="23915B"/>
                </a:solidFill>
                <a:latin typeface="Inter"/>
                <a:ea typeface="Inter"/>
                <a:cs typeface="Inter"/>
                <a:sym typeface="Inter"/>
              </a:rPr>
              <a:t>Success = better reliability without simply adding more retrieval rounds.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29"/>
          <p:cNvSpPr/>
          <p:nvPr/>
        </p:nvSpPr>
        <p:spPr>
          <a:xfrm>
            <a:off x="0" y="0"/>
            <a:ext cx="14630400" cy="1810512"/>
          </a:xfrm>
          <a:prstGeom prst="rect">
            <a:avLst/>
          </a:prstGeom>
          <a:solidFill>
            <a:srgbClr val="6E9DE1"/>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7" name="Google Shape;347;p29"/>
          <p:cNvSpPr txBox="1"/>
          <p:nvPr/>
        </p:nvSpPr>
        <p:spPr>
          <a:xfrm>
            <a:off x="146304" y="228600"/>
            <a:ext cx="13944600" cy="132588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0" i="0" lang="en-US" sz="3400" u="none" cap="none" strike="noStrike">
                <a:solidFill>
                  <a:srgbClr val="FFFFFF"/>
                </a:solidFill>
                <a:latin typeface="Inter"/>
                <a:ea typeface="Inter"/>
                <a:cs typeface="Inter"/>
                <a:sym typeface="Inter"/>
              </a:rPr>
              <a:t>Future Scope</a:t>
            </a:r>
            <a:endParaRPr/>
          </a:p>
        </p:txBody>
      </p:sp>
      <p:sp>
        <p:nvSpPr>
          <p:cNvPr id="348" name="Google Shape;348;p29"/>
          <p:cNvSpPr txBox="1"/>
          <p:nvPr/>
        </p:nvSpPr>
        <p:spPr>
          <a:xfrm>
            <a:off x="594360" y="2075688"/>
            <a:ext cx="6400800" cy="53595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lang="en-US" sz="1600">
                <a:solidFill>
                  <a:schemeClr val="dk1"/>
                </a:solidFill>
              </a:rPr>
              <a:t>• </a:t>
            </a:r>
            <a:r>
              <a:rPr b="1" lang="en-US" sz="1600">
                <a:solidFill>
                  <a:schemeClr val="dk1"/>
                </a:solidFill>
              </a:rPr>
              <a:t>Learned Adaptive Retrieval Policy</a:t>
            </a:r>
            <a:br>
              <a:rPr b="1" lang="en-US" sz="1600">
                <a:solidFill>
                  <a:schemeClr val="dk1"/>
                </a:solidFill>
              </a:rPr>
            </a:br>
            <a:r>
              <a:rPr lang="en-US" sz="1600">
                <a:solidFill>
                  <a:schemeClr val="dk1"/>
                </a:solidFill>
              </a:rPr>
              <a:t>Learn optimal SEARCH / STOP / ABSTAIN decisions from evidence states.</a:t>
            </a: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600">
                <a:solidFill>
                  <a:schemeClr val="dk1"/>
                </a:solidFill>
              </a:rPr>
              <a:t>• </a:t>
            </a:r>
            <a:r>
              <a:rPr b="1" lang="en-US" sz="1600">
                <a:solidFill>
                  <a:schemeClr val="dk1"/>
                </a:solidFill>
              </a:rPr>
              <a:t>Human-in-the-Loop Verification</a:t>
            </a:r>
            <a:br>
              <a:rPr b="1" lang="en-US" sz="1600">
                <a:solidFill>
                  <a:schemeClr val="dk1"/>
                </a:solidFill>
              </a:rPr>
            </a:br>
            <a:r>
              <a:rPr lang="en-US" sz="1600">
                <a:solidFill>
                  <a:schemeClr val="dk1"/>
                </a:solidFill>
              </a:rPr>
              <a:t>Use expert review for high-risk, conflicting, and uncertain medical claims.</a:t>
            </a: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600">
                <a:solidFill>
                  <a:schemeClr val="dk1"/>
                </a:solidFill>
              </a:rPr>
              <a:t>• </a:t>
            </a:r>
            <a:r>
              <a:rPr b="1" lang="en-US" sz="1600">
                <a:solidFill>
                  <a:schemeClr val="dk1"/>
                </a:solidFill>
              </a:rPr>
              <a:t>Multi-Hop Evidence Reasoning</a:t>
            </a:r>
            <a:br>
              <a:rPr b="1" lang="en-US" sz="1600">
                <a:solidFill>
                  <a:schemeClr val="dk1"/>
                </a:solidFill>
              </a:rPr>
            </a:br>
            <a:r>
              <a:rPr lang="en-US" sz="1600">
                <a:solidFill>
                  <a:schemeClr val="dk1"/>
                </a:solidFill>
              </a:rPr>
              <a:t>Extend claim verification to reasoning across multiple studies, guidelines, and interconnected evidence.</a:t>
            </a: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600">
                <a:solidFill>
                  <a:schemeClr val="dk1"/>
                </a:solidFill>
              </a:rPr>
              <a:t>• </a:t>
            </a:r>
            <a:r>
              <a:rPr b="1" lang="en-US" sz="1600">
                <a:solidFill>
                  <a:schemeClr val="dk1"/>
                </a:solidFill>
              </a:rPr>
              <a:t>Personalized Clinical Context</a:t>
            </a:r>
            <a:br>
              <a:rPr b="1" lang="en-US" sz="1600">
                <a:solidFill>
                  <a:schemeClr val="dk1"/>
                </a:solidFill>
              </a:rPr>
            </a:br>
            <a:r>
              <a:rPr lang="en-US" sz="1600">
                <a:solidFill>
                  <a:schemeClr val="dk1"/>
                </a:solidFill>
              </a:rPr>
              <a:t>Incorporate patient-specific context to make evidence retrieval and verification more clinically relevant.</a:t>
            </a: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600">
                <a:solidFill>
                  <a:schemeClr val="dk1"/>
                </a:solidFill>
              </a:rPr>
              <a:t>• </a:t>
            </a:r>
            <a:r>
              <a:rPr b="1" lang="en-US" sz="1600">
                <a:solidFill>
                  <a:schemeClr val="dk1"/>
                </a:solidFill>
              </a:rPr>
              <a:t>Real-World Clinical Evaluation</a:t>
            </a:r>
            <a:br>
              <a:rPr b="1" lang="en-US" sz="1600">
                <a:solidFill>
                  <a:schemeClr val="dk1"/>
                </a:solidFill>
              </a:rPr>
            </a:br>
            <a:r>
              <a:rPr lang="en-US" sz="1600">
                <a:solidFill>
                  <a:schemeClr val="dk1"/>
                </a:solidFill>
              </a:rPr>
              <a:t>Extend beyond benchmark datasets to realistic clinical evidence-seeking workflows and safety evaluation.</a:t>
            </a:r>
            <a:endParaRPr sz="1600">
              <a:solidFill>
                <a:schemeClr val="dk1"/>
              </a:solidFill>
            </a:endParaRPr>
          </a:p>
          <a:p>
            <a:pPr indent="0" lvl="0" marL="0" marR="0" rtl="0" algn="l">
              <a:lnSpc>
                <a:spcPct val="100000"/>
              </a:lnSpc>
              <a:spcBef>
                <a:spcPts val="1200"/>
              </a:spcBef>
              <a:spcAft>
                <a:spcPts val="0"/>
              </a:spcAft>
              <a:buNone/>
            </a:pPr>
            <a:r>
              <a:t/>
            </a:r>
            <a:endParaRPr sz="1620">
              <a:solidFill>
                <a:srgbClr val="141414"/>
              </a:solidFill>
              <a:latin typeface="Inter"/>
              <a:ea typeface="Inter"/>
              <a:cs typeface="Inter"/>
              <a:sym typeface="Inter"/>
            </a:endParaRPr>
          </a:p>
        </p:txBody>
      </p:sp>
      <p:sp>
        <p:nvSpPr>
          <p:cNvPr id="349" name="Google Shape;349;p29"/>
          <p:cNvSpPr/>
          <p:nvPr/>
        </p:nvSpPr>
        <p:spPr>
          <a:xfrm>
            <a:off x="7452360" y="2148840"/>
            <a:ext cx="5989320" cy="3520440"/>
          </a:xfrm>
          <a:prstGeom prst="roundRect">
            <a:avLst>
              <a:gd fmla="val 16667" name="adj"/>
            </a:avLst>
          </a:prstGeom>
          <a:solidFill>
            <a:srgbClr val="FFFFFF"/>
          </a:solidFill>
          <a:ln cap="flat" cmpd="sng" w="12700">
            <a:solidFill>
              <a:srgbClr val="D6E0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0" name="Google Shape;350;p29"/>
          <p:cNvSpPr txBox="1"/>
          <p:nvPr/>
        </p:nvSpPr>
        <p:spPr>
          <a:xfrm>
            <a:off x="7726679" y="2423160"/>
            <a:ext cx="5440680" cy="34747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2100" u="none" cap="none" strike="noStrike">
                <a:solidFill>
                  <a:srgbClr val="2B3D5B"/>
                </a:solidFill>
                <a:latin typeface="Inter"/>
                <a:ea typeface="Inter"/>
                <a:cs typeface="Inter"/>
                <a:sym typeface="Inter"/>
              </a:rPr>
              <a:t>Research Vision</a:t>
            </a:r>
            <a:endParaRPr/>
          </a:p>
        </p:txBody>
      </p:sp>
      <p:sp>
        <p:nvSpPr>
          <p:cNvPr id="351" name="Google Shape;351;p29"/>
          <p:cNvSpPr/>
          <p:nvPr/>
        </p:nvSpPr>
        <p:spPr>
          <a:xfrm>
            <a:off x="8001000" y="3108960"/>
            <a:ext cx="1828800" cy="566928"/>
          </a:xfrm>
          <a:prstGeom prst="roundRect">
            <a:avLst>
              <a:gd fmla="val 16667" name="adj"/>
            </a:avLst>
          </a:prstGeom>
          <a:solidFill>
            <a:srgbClr val="EFF6FF"/>
          </a:solidFill>
          <a:ln cap="flat" cmpd="sng" w="12700">
            <a:solidFill>
              <a:srgbClr val="6E9D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2" name="Google Shape;352;p29"/>
          <p:cNvSpPr txBox="1"/>
          <p:nvPr/>
        </p:nvSpPr>
        <p:spPr>
          <a:xfrm>
            <a:off x="8046720" y="3154679"/>
            <a:ext cx="1737360" cy="475488"/>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rPr b="1" i="0" lang="en-US" sz="1200" u="none" cap="none" strike="noStrike">
                <a:solidFill>
                  <a:srgbClr val="2B3D5B"/>
                </a:solidFill>
                <a:latin typeface="Inter"/>
                <a:ea typeface="Inter"/>
                <a:cs typeface="Inter"/>
                <a:sym typeface="Inter"/>
              </a:rPr>
              <a:t>Self-MedRAG</a:t>
            </a:r>
            <a:endParaRPr/>
          </a:p>
        </p:txBody>
      </p:sp>
      <p:cxnSp>
        <p:nvCxnSpPr>
          <p:cNvPr id="353" name="Google Shape;353;p29"/>
          <p:cNvCxnSpPr/>
          <p:nvPr/>
        </p:nvCxnSpPr>
        <p:spPr>
          <a:xfrm>
            <a:off x="9829800" y="3392424"/>
            <a:ext cx="429768" cy="0"/>
          </a:xfrm>
          <a:prstGeom prst="straightConnector1">
            <a:avLst/>
          </a:prstGeom>
          <a:noFill/>
          <a:ln cap="flat" cmpd="sng" w="25400">
            <a:solidFill>
              <a:srgbClr val="CD454C"/>
            </a:solidFill>
            <a:prstDash val="solid"/>
            <a:round/>
            <a:headEnd len="sm" w="sm" type="none"/>
            <a:tailEnd len="sm" w="sm" type="none"/>
          </a:ln>
          <a:effectLst>
            <a:outerShdw blurRad="40000" rotWithShape="0" dir="5400000" dist="20000">
              <a:srgbClr val="000000">
                <a:alpha val="38039"/>
              </a:srgbClr>
            </a:outerShdw>
          </a:effectLst>
        </p:spPr>
      </p:cxnSp>
      <p:sp>
        <p:nvSpPr>
          <p:cNvPr id="354" name="Google Shape;354;p29"/>
          <p:cNvSpPr/>
          <p:nvPr/>
        </p:nvSpPr>
        <p:spPr>
          <a:xfrm>
            <a:off x="10259568" y="3108960"/>
            <a:ext cx="2240280" cy="566928"/>
          </a:xfrm>
          <a:prstGeom prst="roundRect">
            <a:avLst>
              <a:gd fmla="val 16667" name="adj"/>
            </a:avLst>
          </a:prstGeom>
          <a:solidFill>
            <a:srgbClr val="F6F2FD"/>
          </a:solidFill>
          <a:ln cap="flat" cmpd="sng" w="12700">
            <a:solidFill>
              <a:srgbClr val="6F56A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5" name="Google Shape;355;p29"/>
          <p:cNvSpPr txBox="1"/>
          <p:nvPr/>
        </p:nvSpPr>
        <p:spPr>
          <a:xfrm>
            <a:off x="10305288" y="3154679"/>
            <a:ext cx="2148840" cy="475488"/>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rPr b="1" i="0" lang="en-US" sz="1120" u="none" cap="none" strike="noStrike">
                <a:solidFill>
                  <a:srgbClr val="2B3D5B"/>
                </a:solidFill>
                <a:latin typeface="Inter"/>
                <a:ea typeface="Inter"/>
                <a:cs typeface="Inter"/>
                <a:sym typeface="Inter"/>
              </a:rPr>
              <a:t>Structured Evidence State</a:t>
            </a:r>
            <a:endParaRPr/>
          </a:p>
        </p:txBody>
      </p:sp>
      <p:cxnSp>
        <p:nvCxnSpPr>
          <p:cNvPr id="356" name="Google Shape;356;p29"/>
          <p:cNvCxnSpPr/>
          <p:nvPr/>
        </p:nvCxnSpPr>
        <p:spPr>
          <a:xfrm>
            <a:off x="11375136" y="3685032"/>
            <a:ext cx="0" cy="429768"/>
          </a:xfrm>
          <a:prstGeom prst="straightConnector1">
            <a:avLst/>
          </a:prstGeom>
          <a:noFill/>
          <a:ln cap="flat" cmpd="sng" w="25400">
            <a:solidFill>
              <a:srgbClr val="CD454C"/>
            </a:solidFill>
            <a:prstDash val="solid"/>
            <a:round/>
            <a:headEnd len="sm" w="sm" type="none"/>
            <a:tailEnd len="sm" w="sm" type="none"/>
          </a:ln>
          <a:effectLst>
            <a:outerShdw blurRad="40000" rotWithShape="0" dir="5400000" dist="20000">
              <a:srgbClr val="000000">
                <a:alpha val="38039"/>
              </a:srgbClr>
            </a:outerShdw>
          </a:effectLst>
        </p:spPr>
      </p:cxnSp>
      <p:sp>
        <p:nvSpPr>
          <p:cNvPr id="357" name="Google Shape;357;p29"/>
          <p:cNvSpPr/>
          <p:nvPr/>
        </p:nvSpPr>
        <p:spPr>
          <a:xfrm>
            <a:off x="10259568" y="4114800"/>
            <a:ext cx="2240280" cy="566928"/>
          </a:xfrm>
          <a:prstGeom prst="roundRect">
            <a:avLst>
              <a:gd fmla="val 16667" name="adj"/>
            </a:avLst>
          </a:prstGeom>
          <a:solidFill>
            <a:srgbClr val="FFF7EE"/>
          </a:solidFill>
          <a:ln cap="flat" cmpd="sng" w="12700">
            <a:solidFill>
              <a:srgbClr val="E28C35"/>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8" name="Google Shape;358;p29"/>
          <p:cNvSpPr txBox="1"/>
          <p:nvPr/>
        </p:nvSpPr>
        <p:spPr>
          <a:xfrm>
            <a:off x="10305288" y="4160520"/>
            <a:ext cx="2148840" cy="475488"/>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rPr b="1" i="0" lang="en-US" sz="1120" u="none" cap="none" strike="noStrike">
                <a:solidFill>
                  <a:srgbClr val="2B3D5B"/>
                </a:solidFill>
                <a:latin typeface="Inter"/>
                <a:ea typeface="Inter"/>
                <a:cs typeface="Inter"/>
                <a:sym typeface="Inter"/>
              </a:rPr>
              <a:t>Adaptive Acquisition</a:t>
            </a:r>
            <a:endParaRPr/>
          </a:p>
        </p:txBody>
      </p:sp>
      <p:cxnSp>
        <p:nvCxnSpPr>
          <p:cNvPr id="359" name="Google Shape;359;p29"/>
          <p:cNvCxnSpPr/>
          <p:nvPr/>
        </p:nvCxnSpPr>
        <p:spPr>
          <a:xfrm rot="10800000">
            <a:off x="9829800" y="4398264"/>
            <a:ext cx="429768" cy="0"/>
          </a:xfrm>
          <a:prstGeom prst="straightConnector1">
            <a:avLst/>
          </a:prstGeom>
          <a:noFill/>
          <a:ln cap="flat" cmpd="sng" w="25400">
            <a:solidFill>
              <a:srgbClr val="CD454C"/>
            </a:solidFill>
            <a:prstDash val="solid"/>
            <a:round/>
            <a:headEnd len="sm" w="sm" type="none"/>
            <a:tailEnd len="sm" w="sm" type="none"/>
          </a:ln>
          <a:effectLst>
            <a:outerShdw blurRad="40000" rotWithShape="0" dir="5400000" dist="20000">
              <a:srgbClr val="000000">
                <a:alpha val="38039"/>
              </a:srgbClr>
            </a:outerShdw>
          </a:effectLst>
        </p:spPr>
      </p:cxnSp>
      <p:sp>
        <p:nvSpPr>
          <p:cNvPr id="360" name="Google Shape;360;p29"/>
          <p:cNvSpPr/>
          <p:nvPr/>
        </p:nvSpPr>
        <p:spPr>
          <a:xfrm>
            <a:off x="8001000" y="4114800"/>
            <a:ext cx="1828800" cy="566928"/>
          </a:xfrm>
          <a:prstGeom prst="roundRect">
            <a:avLst>
              <a:gd fmla="val 16667" name="adj"/>
            </a:avLst>
          </a:prstGeom>
          <a:solidFill>
            <a:srgbClr val="EFF9F4"/>
          </a:solidFill>
          <a:ln cap="flat" cmpd="sng" w="12700">
            <a:solidFill>
              <a:srgbClr val="23915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1" name="Google Shape;361;p29"/>
          <p:cNvSpPr txBox="1"/>
          <p:nvPr/>
        </p:nvSpPr>
        <p:spPr>
          <a:xfrm>
            <a:off x="8046720" y="4160520"/>
            <a:ext cx="1737360" cy="475488"/>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rPr b="1" i="0" lang="en-US" sz="1200" u="none" cap="none" strike="noStrike">
                <a:solidFill>
                  <a:srgbClr val="2B3D5B"/>
                </a:solidFill>
                <a:latin typeface="Inter"/>
                <a:ea typeface="Inter"/>
                <a:cs typeface="Inter"/>
                <a:sym typeface="Inter"/>
              </a:rPr>
              <a:t>Safer Answer</a:t>
            </a:r>
            <a:endParaRPr/>
          </a:p>
        </p:txBody>
      </p:sp>
      <p:sp>
        <p:nvSpPr>
          <p:cNvPr id="362" name="Google Shape;362;p29"/>
          <p:cNvSpPr txBox="1"/>
          <p:nvPr/>
        </p:nvSpPr>
        <p:spPr>
          <a:xfrm>
            <a:off x="7818120" y="5074920"/>
            <a:ext cx="5303520" cy="3200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400" u="none" cap="none" strike="noStrike">
                <a:solidFill>
                  <a:srgbClr val="CD454C"/>
                </a:solidFill>
                <a:latin typeface="Inter"/>
                <a:ea typeface="Inter"/>
                <a:cs typeface="Inter"/>
                <a:sym typeface="Inter"/>
              </a:rPr>
              <a:t>Goal: more reliable medical QA with explicit evidence reasoning.</a:t>
            </a:r>
            <a:endParaRPr/>
          </a:p>
        </p:txBody>
      </p:sp>
      <p:sp>
        <p:nvSpPr>
          <p:cNvPr id="363" name="Google Shape;363;p29"/>
          <p:cNvSpPr/>
          <p:nvPr/>
        </p:nvSpPr>
        <p:spPr>
          <a:xfrm>
            <a:off x="3759400" y="7242050"/>
            <a:ext cx="6858000" cy="567000"/>
          </a:xfrm>
          <a:prstGeom prst="roundRect">
            <a:avLst>
              <a:gd fmla="val 16667" name="adj"/>
            </a:avLst>
          </a:prstGeom>
          <a:solidFill>
            <a:srgbClr val="6E9DE1"/>
          </a:solidFill>
          <a:ln cap="flat" cmpd="sng" w="12700">
            <a:solidFill>
              <a:srgbClr val="6E9DE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4" name="Google Shape;364;p29"/>
          <p:cNvSpPr txBox="1"/>
          <p:nvPr/>
        </p:nvSpPr>
        <p:spPr>
          <a:xfrm>
            <a:off x="3689600" y="7360096"/>
            <a:ext cx="6858000" cy="330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550" u="none" cap="none" strike="noStrike">
                <a:solidFill>
                  <a:srgbClr val="FFFFFF"/>
                </a:solidFill>
                <a:latin typeface="Inter"/>
                <a:ea typeface="Inter"/>
                <a:cs typeface="Inter"/>
                <a:sym typeface="Inter"/>
              </a:rPr>
              <a:t>From self-reflection → to adaptive clinical evidence acquisition</a:t>
            </a:r>
            <a:endParaRPr/>
          </a:p>
        </p:txBody>
      </p:sp>
      <p:sp>
        <p:nvSpPr>
          <p:cNvPr id="365" name="Google Shape;365;p29"/>
          <p:cNvSpPr txBox="1"/>
          <p:nvPr/>
        </p:nvSpPr>
        <p:spPr>
          <a:xfrm>
            <a:off x="13853577" y="7726675"/>
            <a:ext cx="548400" cy="2463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lang="en-US" sz="1000">
                <a:solidFill>
                  <a:srgbClr val="141414"/>
                </a:solidFill>
                <a:latin typeface="Inter"/>
                <a:ea typeface="Inter"/>
                <a:cs typeface="Inter"/>
                <a:sym typeface="Inter"/>
              </a:rPr>
              <a:t>10</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0" name="Shape 370"/>
        <p:cNvGrpSpPr/>
        <p:nvPr/>
      </p:nvGrpSpPr>
      <p:grpSpPr>
        <a:xfrm>
          <a:off x="0" y="0"/>
          <a:ext cx="0" cy="0"/>
          <a:chOff x="0" y="0"/>
          <a:chExt cx="0" cy="0"/>
        </a:xfrm>
      </p:grpSpPr>
      <p:sp>
        <p:nvSpPr>
          <p:cNvPr id="371" name="Google Shape;371;p30"/>
          <p:cNvSpPr/>
          <p:nvPr/>
        </p:nvSpPr>
        <p:spPr>
          <a:xfrm>
            <a:off x="0" y="0"/>
            <a:ext cx="14630034" cy="1810512"/>
          </a:xfrm>
          <a:prstGeom prst="rect">
            <a:avLst/>
          </a:prstGeom>
          <a:solidFill>
            <a:srgbClr val="6D9EEB"/>
          </a:solidFill>
          <a:ln>
            <a:noFill/>
          </a:ln>
        </p:spPr>
        <p:txBody>
          <a:bodyPr anchorCtr="0" anchor="ctr" bIns="109700" lIns="109700" spcFirstLastPara="1" rIns="109700" wrap="square" tIns="109700">
            <a:noAutofit/>
          </a:bodyPr>
          <a:lstStyle/>
          <a:p>
            <a:pPr indent="0" lvl="0" marL="0" rtl="0" algn="l">
              <a:spcBef>
                <a:spcPts val="0"/>
              </a:spcBef>
              <a:spcAft>
                <a:spcPts val="0"/>
              </a:spcAft>
              <a:buNone/>
            </a:pPr>
            <a:r>
              <a:t/>
            </a:r>
            <a:endParaRPr/>
          </a:p>
        </p:txBody>
      </p:sp>
      <p:sp>
        <p:nvSpPr>
          <p:cNvPr id="372" name="Google Shape;372;p30"/>
          <p:cNvSpPr/>
          <p:nvPr/>
        </p:nvSpPr>
        <p:spPr>
          <a:xfrm>
            <a:off x="0" y="1810512"/>
            <a:ext cx="14630034" cy="38405"/>
          </a:xfrm>
          <a:prstGeom prst="rect">
            <a:avLst/>
          </a:prstGeom>
          <a:solidFill>
            <a:srgbClr val="C9C9C9"/>
          </a:solidFill>
          <a:ln>
            <a:noFill/>
          </a:ln>
        </p:spPr>
        <p:txBody>
          <a:bodyPr anchorCtr="0" anchor="ctr" bIns="109700" lIns="109700" spcFirstLastPara="1" rIns="109700" wrap="square" tIns="109700">
            <a:noAutofit/>
          </a:bodyPr>
          <a:lstStyle/>
          <a:p>
            <a:pPr indent="0" lvl="0" marL="0" rtl="0" algn="l">
              <a:spcBef>
                <a:spcPts val="0"/>
              </a:spcBef>
              <a:spcAft>
                <a:spcPts val="0"/>
              </a:spcAft>
              <a:buNone/>
            </a:pPr>
            <a:r>
              <a:t/>
            </a:r>
            <a:endParaRPr/>
          </a:p>
        </p:txBody>
      </p:sp>
      <p:sp>
        <p:nvSpPr>
          <p:cNvPr id="373" name="Google Shape;373;p30"/>
          <p:cNvSpPr txBox="1"/>
          <p:nvPr/>
        </p:nvSpPr>
        <p:spPr>
          <a:xfrm>
            <a:off x="438912" y="603504"/>
            <a:ext cx="8778240" cy="7680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600"/>
              <a:buFont typeface="Calibri"/>
              <a:buNone/>
            </a:pPr>
            <a:r>
              <a:rPr b="1" i="0" lang="en-US" sz="3600" u="none" cap="none" strike="noStrike">
                <a:solidFill>
                  <a:srgbClr val="FFFFFF"/>
                </a:solidFill>
                <a:latin typeface="Calibri"/>
                <a:ea typeface="Calibri"/>
                <a:cs typeface="Calibri"/>
                <a:sym typeface="Calibri"/>
              </a:rPr>
              <a:t>References</a:t>
            </a:r>
            <a:endParaRPr b="0" i="0" sz="3600" u="none" cap="none" strike="noStrike">
              <a:solidFill>
                <a:schemeClr val="dk1"/>
              </a:solidFill>
              <a:latin typeface="Calibri"/>
              <a:ea typeface="Calibri"/>
              <a:cs typeface="Calibri"/>
              <a:sym typeface="Calibri"/>
            </a:endParaRPr>
          </a:p>
        </p:txBody>
      </p:sp>
      <p:sp>
        <p:nvSpPr>
          <p:cNvPr id="374" name="Google Shape;374;p30"/>
          <p:cNvSpPr txBox="1"/>
          <p:nvPr/>
        </p:nvSpPr>
        <p:spPr>
          <a:xfrm>
            <a:off x="691286" y="2194560"/>
            <a:ext cx="6254496"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1600"/>
              <a:buFont typeface="Calibri"/>
              <a:buNone/>
            </a:pPr>
            <a:r>
              <a:rPr b="1" i="0" lang="en-US" sz="1600" u="none" cap="none" strike="noStrike">
                <a:solidFill>
                  <a:srgbClr val="1F3864"/>
                </a:solidFill>
                <a:latin typeface="Calibri"/>
                <a:ea typeface="Calibri"/>
                <a:cs typeface="Calibri"/>
                <a:sym typeface="Calibri"/>
              </a:rPr>
              <a:t>Core / recent literature</a:t>
            </a:r>
            <a:endParaRPr b="0" i="0" sz="1600" u="none" cap="none" strike="noStrike">
              <a:solidFill>
                <a:schemeClr val="dk1"/>
              </a:solidFill>
              <a:latin typeface="Calibri"/>
              <a:ea typeface="Calibri"/>
              <a:cs typeface="Calibri"/>
              <a:sym typeface="Calibri"/>
            </a:endParaRPr>
          </a:p>
        </p:txBody>
      </p:sp>
      <p:sp>
        <p:nvSpPr>
          <p:cNvPr id="375" name="Google Shape;375;p30"/>
          <p:cNvSpPr txBox="1"/>
          <p:nvPr/>
        </p:nvSpPr>
        <p:spPr>
          <a:xfrm>
            <a:off x="7516368" y="2194560"/>
            <a:ext cx="6254496"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1600"/>
              <a:buFont typeface="Calibri"/>
              <a:buNone/>
            </a:pPr>
            <a:r>
              <a:rPr b="1" i="0" lang="en-US" sz="1600" u="none" cap="none" strike="noStrike">
                <a:solidFill>
                  <a:srgbClr val="1F3864"/>
                </a:solidFill>
                <a:latin typeface="Calibri"/>
                <a:ea typeface="Calibri"/>
                <a:cs typeface="Calibri"/>
                <a:sym typeface="Calibri"/>
              </a:rPr>
              <a:t>Supporting literature</a:t>
            </a:r>
            <a:endParaRPr b="0" i="0" sz="1600" u="none" cap="none" strike="noStrike">
              <a:solidFill>
                <a:schemeClr val="dk1"/>
              </a:solidFill>
              <a:latin typeface="Calibri"/>
              <a:ea typeface="Calibri"/>
              <a:cs typeface="Calibri"/>
              <a:sym typeface="Calibri"/>
            </a:endParaRPr>
          </a:p>
        </p:txBody>
      </p:sp>
      <p:sp>
        <p:nvSpPr>
          <p:cNvPr id="376" name="Google Shape;376;p30"/>
          <p:cNvSpPr txBox="1"/>
          <p:nvPr/>
        </p:nvSpPr>
        <p:spPr>
          <a:xfrm>
            <a:off x="691286" y="2578608"/>
            <a:ext cx="6254496" cy="329184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62626"/>
              </a:buClr>
              <a:buSzPts val="1300"/>
              <a:buFont typeface="Calibri"/>
              <a:buNone/>
            </a:pPr>
            <a:r>
              <a:rPr b="1" i="0" lang="en-US" sz="1300" u="none" cap="none" strike="noStrike">
                <a:solidFill>
                  <a:srgbClr val="262626"/>
                </a:solidFill>
                <a:latin typeface="Calibri"/>
                <a:ea typeface="Calibri"/>
                <a:cs typeface="Calibri"/>
                <a:sym typeface="Calibri"/>
              </a:rPr>
              <a:t>1. </a:t>
            </a:r>
            <a:r>
              <a:rPr b="0" i="0" lang="en-US" sz="1300" u="none" cap="none" strike="noStrike">
                <a:solidFill>
                  <a:srgbClr val="262626"/>
                </a:solidFill>
                <a:latin typeface="Calibri"/>
                <a:ea typeface="Calibri"/>
                <a:cs typeface="Calibri"/>
                <a:sym typeface="Calibri"/>
              </a:rPr>
              <a:t>Ryan, J.; Gumilang, A. I.; William, R.; Suhartono, D. (2026). Self-MedRAG: A Self-Reflective Hybrid Retrieval Augmented Generation Framework for Reliable Medical Question Answering.</a:t>
            </a:r>
            <a:endParaRPr b="0" i="0" sz="1300" u="none" cap="none" strike="noStrike">
              <a:solidFill>
                <a:schemeClr val="dk1"/>
              </a:solidFill>
              <a:latin typeface="Calibri"/>
              <a:ea typeface="Calibri"/>
              <a:cs typeface="Calibri"/>
              <a:sym typeface="Calibri"/>
            </a:endParaRPr>
          </a:p>
          <a:p>
            <a:pPr indent="0" lvl="0" marL="0" marR="0" rtl="0" algn="l">
              <a:lnSpc>
                <a:spcPct val="115000"/>
              </a:lnSpc>
              <a:spcBef>
                <a:spcPts val="1700"/>
              </a:spcBef>
              <a:spcAft>
                <a:spcPts val="0"/>
              </a:spcAft>
              <a:buClr>
                <a:srgbClr val="262626"/>
              </a:buClr>
              <a:buSzPts val="1300"/>
              <a:buFont typeface="Calibri"/>
              <a:buNone/>
            </a:pPr>
            <a:r>
              <a:rPr b="1" i="0" lang="en-US" sz="1300" u="none" cap="none" strike="noStrike">
                <a:solidFill>
                  <a:srgbClr val="262626"/>
                </a:solidFill>
                <a:latin typeface="Calibri"/>
                <a:ea typeface="Calibri"/>
                <a:cs typeface="Calibri"/>
                <a:sym typeface="Calibri"/>
              </a:rPr>
              <a:t>2. </a:t>
            </a:r>
            <a:r>
              <a:rPr b="0" i="0" lang="en-US" sz="1300" u="none" cap="none" strike="noStrike">
                <a:solidFill>
                  <a:srgbClr val="262626"/>
                </a:solidFill>
                <a:latin typeface="Calibri"/>
                <a:ea typeface="Calibri"/>
                <a:cs typeface="Calibri"/>
                <a:sym typeface="Calibri"/>
              </a:rPr>
              <a:t>Yang, D.; Zeng, L.; Rao, J.; Zhang, Y. (2025). Knowing You Don’t Know: Learning When to Continue Search in Multi-round RAG through Self-Practicing. SIGIR 2025.</a:t>
            </a:r>
            <a:endParaRPr b="0" i="0" sz="1300" u="none" cap="none" strike="noStrike">
              <a:solidFill>
                <a:schemeClr val="dk1"/>
              </a:solidFill>
              <a:latin typeface="Calibri"/>
              <a:ea typeface="Calibri"/>
              <a:cs typeface="Calibri"/>
              <a:sym typeface="Calibri"/>
            </a:endParaRPr>
          </a:p>
          <a:p>
            <a:pPr indent="0" lvl="0" marL="0" marR="0" rtl="0" algn="l">
              <a:lnSpc>
                <a:spcPct val="115000"/>
              </a:lnSpc>
              <a:spcBef>
                <a:spcPts val="1700"/>
              </a:spcBef>
              <a:spcAft>
                <a:spcPts val="0"/>
              </a:spcAft>
              <a:buClr>
                <a:srgbClr val="262626"/>
              </a:buClr>
              <a:buSzPts val="1300"/>
              <a:buFont typeface="Calibri"/>
              <a:buNone/>
            </a:pPr>
            <a:r>
              <a:rPr b="1" i="0" lang="en-US" sz="1300" u="none" cap="none" strike="noStrike">
                <a:solidFill>
                  <a:srgbClr val="262626"/>
                </a:solidFill>
                <a:latin typeface="Calibri"/>
                <a:ea typeface="Calibri"/>
                <a:cs typeface="Calibri"/>
                <a:sym typeface="Calibri"/>
              </a:rPr>
              <a:t>3. </a:t>
            </a:r>
            <a:r>
              <a:rPr b="0" i="0" lang="en-US" sz="1300" u="none" cap="none" strike="noStrike">
                <a:solidFill>
                  <a:srgbClr val="262626"/>
                </a:solidFill>
                <a:latin typeface="Calibri"/>
                <a:ea typeface="Calibri"/>
                <a:cs typeface="Calibri"/>
                <a:sym typeface="Calibri"/>
              </a:rPr>
              <a:t>Huang, Y.; Chen, R.; Cheng, J. (2026). SEMA-RAG: A Self-Evolving Multi-Agent Retrieval-Augmented Generation Framework for Medical Reasoning. Findings of ACL 2026.</a:t>
            </a:r>
            <a:endParaRPr b="0" i="0" sz="1300" u="none" cap="none" strike="noStrike">
              <a:solidFill>
                <a:schemeClr val="dk1"/>
              </a:solidFill>
              <a:latin typeface="Calibri"/>
              <a:ea typeface="Calibri"/>
              <a:cs typeface="Calibri"/>
              <a:sym typeface="Calibri"/>
            </a:endParaRPr>
          </a:p>
          <a:p>
            <a:pPr indent="0" lvl="0" marL="0" marR="0" rtl="0" algn="l">
              <a:lnSpc>
                <a:spcPct val="115000"/>
              </a:lnSpc>
              <a:spcBef>
                <a:spcPts val="1700"/>
              </a:spcBef>
              <a:spcAft>
                <a:spcPts val="0"/>
              </a:spcAft>
              <a:buClr>
                <a:srgbClr val="262626"/>
              </a:buClr>
              <a:buSzPts val="1300"/>
              <a:buFont typeface="Calibri"/>
              <a:buNone/>
            </a:pPr>
            <a:r>
              <a:rPr b="1" i="0" lang="en-US" sz="1300" u="none" cap="none" strike="noStrike">
                <a:solidFill>
                  <a:srgbClr val="262626"/>
                </a:solidFill>
                <a:latin typeface="Calibri"/>
                <a:ea typeface="Calibri"/>
                <a:cs typeface="Calibri"/>
                <a:sym typeface="Calibri"/>
              </a:rPr>
              <a:t>4. </a:t>
            </a:r>
            <a:r>
              <a:rPr b="0" i="0" lang="en-US" sz="1300" u="none" cap="none" strike="noStrike">
                <a:solidFill>
                  <a:srgbClr val="262626"/>
                </a:solidFill>
                <a:latin typeface="Calibri"/>
                <a:ea typeface="Calibri"/>
                <a:cs typeface="Calibri"/>
                <a:sym typeface="Calibri"/>
              </a:rPr>
              <a:t>Li, X. et al. (2026). Med-SRAF: A Multi-Agent Framework for Medical Reasoning via Semantic Routing and Agentic Fusion. Findings of ACL 2026.</a:t>
            </a:r>
            <a:endParaRPr b="0" i="0" sz="1300" u="none" cap="none" strike="noStrike">
              <a:solidFill>
                <a:schemeClr val="dk1"/>
              </a:solidFill>
              <a:latin typeface="Calibri"/>
              <a:ea typeface="Calibri"/>
              <a:cs typeface="Calibri"/>
              <a:sym typeface="Calibri"/>
            </a:endParaRPr>
          </a:p>
        </p:txBody>
      </p:sp>
      <p:sp>
        <p:nvSpPr>
          <p:cNvPr id="377" name="Google Shape;377;p30"/>
          <p:cNvSpPr txBox="1"/>
          <p:nvPr/>
        </p:nvSpPr>
        <p:spPr>
          <a:xfrm>
            <a:off x="7516368" y="2578608"/>
            <a:ext cx="6254496" cy="329184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62626"/>
              </a:buClr>
              <a:buSzPts val="1300"/>
              <a:buFont typeface="Calibri"/>
              <a:buNone/>
            </a:pPr>
            <a:r>
              <a:rPr b="1" i="0" lang="en-US" sz="1300" u="none" cap="none" strike="noStrike">
                <a:solidFill>
                  <a:srgbClr val="262626"/>
                </a:solidFill>
                <a:latin typeface="Calibri"/>
                <a:ea typeface="Calibri"/>
                <a:cs typeface="Calibri"/>
                <a:sym typeface="Calibri"/>
              </a:rPr>
              <a:t>5. </a:t>
            </a:r>
            <a:r>
              <a:rPr b="0" i="0" lang="en-US" sz="1300" u="none" cap="none" strike="noStrike">
                <a:solidFill>
                  <a:srgbClr val="262626"/>
                </a:solidFill>
                <a:latin typeface="Calibri"/>
                <a:ea typeface="Calibri"/>
                <a:cs typeface="Calibri"/>
                <a:sym typeface="Calibri"/>
              </a:rPr>
              <a:t>Ji, Y. et al. (2026). MedRAGChecker: Claim-Level Verification for Biomedical Retrieval-Augmented Generation.</a:t>
            </a:r>
            <a:endParaRPr b="0" i="0" sz="1300" u="none" cap="none" strike="noStrike">
              <a:solidFill>
                <a:schemeClr val="dk1"/>
              </a:solidFill>
              <a:latin typeface="Calibri"/>
              <a:ea typeface="Calibri"/>
              <a:cs typeface="Calibri"/>
              <a:sym typeface="Calibri"/>
            </a:endParaRPr>
          </a:p>
          <a:p>
            <a:pPr indent="0" lvl="0" marL="0" marR="0" rtl="0" algn="l">
              <a:lnSpc>
                <a:spcPct val="115000"/>
              </a:lnSpc>
              <a:spcBef>
                <a:spcPts val="1700"/>
              </a:spcBef>
              <a:spcAft>
                <a:spcPts val="0"/>
              </a:spcAft>
              <a:buClr>
                <a:srgbClr val="262626"/>
              </a:buClr>
              <a:buSzPts val="1300"/>
              <a:buFont typeface="Calibri"/>
              <a:buNone/>
            </a:pPr>
            <a:r>
              <a:rPr b="1" i="0" lang="en-US" sz="1300" u="none" cap="none" strike="noStrike">
                <a:solidFill>
                  <a:srgbClr val="262626"/>
                </a:solidFill>
                <a:latin typeface="Calibri"/>
                <a:ea typeface="Calibri"/>
                <a:cs typeface="Calibri"/>
                <a:sym typeface="Calibri"/>
              </a:rPr>
              <a:t>6. </a:t>
            </a:r>
            <a:r>
              <a:rPr b="0" i="0" lang="en-US" sz="1300" u="none" cap="none" strike="noStrike">
                <a:solidFill>
                  <a:srgbClr val="262626"/>
                </a:solidFill>
                <a:latin typeface="Calibri"/>
                <a:ea typeface="Calibri"/>
                <a:cs typeface="Calibri"/>
                <a:sym typeface="Calibri"/>
              </a:rPr>
              <a:t>Li, J. et al. (2026). CRITIC-RAG: Knowledge-Augmented Large Language Models With Verified Retrieval for Improved Medical Reasoning.</a:t>
            </a:r>
            <a:endParaRPr b="0" i="0" sz="1300" u="none" cap="none" strike="noStrike">
              <a:solidFill>
                <a:schemeClr val="dk1"/>
              </a:solidFill>
              <a:latin typeface="Calibri"/>
              <a:ea typeface="Calibri"/>
              <a:cs typeface="Calibri"/>
              <a:sym typeface="Calibri"/>
            </a:endParaRPr>
          </a:p>
          <a:p>
            <a:pPr indent="0" lvl="0" marL="0" marR="0" rtl="0" algn="l">
              <a:lnSpc>
                <a:spcPct val="115000"/>
              </a:lnSpc>
              <a:spcBef>
                <a:spcPts val="1700"/>
              </a:spcBef>
              <a:spcAft>
                <a:spcPts val="0"/>
              </a:spcAft>
              <a:buClr>
                <a:srgbClr val="262626"/>
              </a:buClr>
              <a:buSzPts val="1300"/>
              <a:buFont typeface="Calibri"/>
              <a:buNone/>
            </a:pPr>
            <a:r>
              <a:rPr b="1" i="0" lang="en-US" sz="1300" u="none" cap="none" strike="noStrike">
                <a:solidFill>
                  <a:srgbClr val="262626"/>
                </a:solidFill>
                <a:latin typeface="Calibri"/>
                <a:ea typeface="Calibri"/>
                <a:cs typeface="Calibri"/>
                <a:sym typeface="Calibri"/>
              </a:rPr>
              <a:t>7. </a:t>
            </a:r>
            <a:r>
              <a:rPr b="0" i="0" lang="en-US" sz="1300" u="none" cap="none" strike="noStrike">
                <a:solidFill>
                  <a:srgbClr val="262626"/>
                </a:solidFill>
                <a:latin typeface="Calibri"/>
                <a:ea typeface="Calibri"/>
                <a:cs typeface="Calibri"/>
                <a:sym typeface="Calibri"/>
              </a:rPr>
              <a:t>Xiong, G.; Jin, Q.; Lu, Z.; Zhang, A. (2024). Benchmarking Retrieval-Augmented Generation for Medicine. Findings of ACL 2024.</a:t>
            </a:r>
            <a:endParaRPr b="0" i="0" sz="1300" u="none" cap="none" strike="noStrike">
              <a:solidFill>
                <a:schemeClr val="dk1"/>
              </a:solidFill>
              <a:latin typeface="Calibri"/>
              <a:ea typeface="Calibri"/>
              <a:cs typeface="Calibri"/>
              <a:sym typeface="Calibri"/>
            </a:endParaRPr>
          </a:p>
          <a:p>
            <a:pPr indent="0" lvl="0" marL="0" marR="0" rtl="0" algn="l">
              <a:lnSpc>
                <a:spcPct val="115000"/>
              </a:lnSpc>
              <a:spcBef>
                <a:spcPts val="1700"/>
              </a:spcBef>
              <a:spcAft>
                <a:spcPts val="0"/>
              </a:spcAft>
              <a:buClr>
                <a:srgbClr val="262626"/>
              </a:buClr>
              <a:buSzPts val="1300"/>
              <a:buFont typeface="Calibri"/>
              <a:buNone/>
            </a:pPr>
            <a:r>
              <a:rPr b="1" i="0" lang="en-US" sz="1300" u="none" cap="none" strike="noStrike">
                <a:solidFill>
                  <a:srgbClr val="262626"/>
                </a:solidFill>
                <a:latin typeface="Calibri"/>
                <a:ea typeface="Calibri"/>
                <a:cs typeface="Calibri"/>
                <a:sym typeface="Calibri"/>
              </a:rPr>
              <a:t>8. </a:t>
            </a:r>
            <a:r>
              <a:rPr b="0" i="0" lang="en-US" sz="1300" u="none" cap="none" strike="noStrike">
                <a:solidFill>
                  <a:srgbClr val="262626"/>
                </a:solidFill>
                <a:latin typeface="Calibri"/>
                <a:ea typeface="Calibri"/>
                <a:cs typeface="Calibri"/>
                <a:sym typeface="Calibri"/>
              </a:rPr>
              <a:t>Asai, A. et al. (2023). Self-RAG: Learning to Retrieve, Generate, and Critique through Self-Reflection.</a:t>
            </a:r>
            <a:endParaRPr b="0" i="0" sz="1300" u="none" cap="none" strike="noStrike">
              <a:solidFill>
                <a:schemeClr val="dk1"/>
              </a:solidFill>
              <a:latin typeface="Calibri"/>
              <a:ea typeface="Calibri"/>
              <a:cs typeface="Calibri"/>
              <a:sym typeface="Calibri"/>
            </a:endParaRPr>
          </a:p>
        </p:txBody>
      </p:sp>
      <p:sp>
        <p:nvSpPr>
          <p:cNvPr id="378" name="Google Shape;378;p30"/>
          <p:cNvSpPr txBox="1"/>
          <p:nvPr/>
        </p:nvSpPr>
        <p:spPr>
          <a:xfrm>
            <a:off x="13853577" y="7726675"/>
            <a:ext cx="548400" cy="2463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lang="en-US" sz="1000">
                <a:solidFill>
                  <a:srgbClr val="141414"/>
                </a:solidFill>
                <a:latin typeface="Inter"/>
                <a:ea typeface="Inter"/>
                <a:cs typeface="Inter"/>
                <a:sym typeface="Inter"/>
              </a:rPr>
              <a:t>11</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31"/>
          <p:cNvSpPr/>
          <p:nvPr/>
        </p:nvSpPr>
        <p:spPr>
          <a:xfrm>
            <a:off x="150" y="3209550"/>
            <a:ext cx="14630100" cy="1810500"/>
          </a:xfrm>
          <a:prstGeom prst="rect">
            <a:avLst/>
          </a:prstGeom>
          <a:solidFill>
            <a:srgbClr val="6D9EEB"/>
          </a:solidFill>
          <a:ln>
            <a:noFill/>
          </a:ln>
        </p:spPr>
        <p:txBody>
          <a:bodyPr anchorCtr="0" anchor="ctr" bIns="109700" lIns="109700" spcFirstLastPara="1" rIns="109700" wrap="square" tIns="109700">
            <a:noAutofit/>
          </a:bodyPr>
          <a:lstStyle/>
          <a:p>
            <a:pPr indent="0" lvl="0" marL="0" rtl="0" algn="l">
              <a:spcBef>
                <a:spcPts val="0"/>
              </a:spcBef>
              <a:spcAft>
                <a:spcPts val="0"/>
              </a:spcAft>
              <a:buNone/>
            </a:pPr>
            <a:r>
              <a:t/>
            </a:r>
            <a:endParaRPr/>
          </a:p>
        </p:txBody>
      </p:sp>
      <p:sp>
        <p:nvSpPr>
          <p:cNvPr id="385" name="Google Shape;385;p31"/>
          <p:cNvSpPr txBox="1"/>
          <p:nvPr/>
        </p:nvSpPr>
        <p:spPr>
          <a:xfrm>
            <a:off x="1905000" y="3505200"/>
            <a:ext cx="8979000" cy="1219200"/>
          </a:xfrm>
          <a:prstGeom prst="rect">
            <a:avLst/>
          </a:prstGeom>
          <a:noFill/>
          <a:ln>
            <a:noFill/>
          </a:ln>
        </p:spPr>
        <p:txBody>
          <a:bodyPr anchorCtr="0" anchor="t" bIns="91425" lIns="91425" spcFirstLastPara="1" rIns="91425" wrap="square" tIns="91425">
            <a:noAutofit/>
          </a:bodyPr>
          <a:lstStyle/>
          <a:p>
            <a:pPr indent="0" lvl="0" marL="3200400" rtl="0" algn="l">
              <a:spcBef>
                <a:spcPts val="0"/>
              </a:spcBef>
              <a:spcAft>
                <a:spcPts val="0"/>
              </a:spcAft>
              <a:buNone/>
            </a:pPr>
            <a:r>
              <a:rPr b="1" lang="en-US" sz="6500">
                <a:solidFill>
                  <a:schemeClr val="lt1"/>
                </a:solidFill>
              </a:rPr>
              <a:t>Thank You</a:t>
            </a:r>
            <a:endParaRPr b="1" sz="6500">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